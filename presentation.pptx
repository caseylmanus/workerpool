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openxmlformats.org/package/2006/relationships/metadata/extended-properties" Target="docProps/app0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1" r:id="rId5"/>
    <p:sldId id="262" r:id="rId6"/>
    <p:sldId id="274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8D4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409DEB-6BD4-DD4B-3F2E-AA0F34EB36DB}" v="2" dt="2026-07-23T16:35:51.665"/>
    <p1510:client id="{760D3E99-36C9-BE1B-AEE5-1BEE57899657}" v="903" dt="2026-07-23T15:31:52.247"/>
    <p1510:client id="{BF28C403-0C1A-6B47-9EFE-2BC5743DF296}" v="1" dt="2026-07-23T16:38:32.8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52" autoAdjust="0"/>
    <p:restoredTop sz="94741" autoAdjust="0"/>
  </p:normalViewPr>
  <p:slideViewPr>
    <p:cSldViewPr snapToGrid="0" snapToObjects="1">
      <p:cViewPr varScale="1">
        <p:scale>
          <a:sx n="146" d="100"/>
          <a:sy n="146" d="100"/>
        </p:scale>
        <p:origin x="672" y="16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A292AEA-2528-46C0-B426-95822B6141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8B7B198-E4DF-43CD-AD8C-199884323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BE67753-EA0E-4819-8D22-0B6600CF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2700" y="2988"/>
            <a:ext cx="7032474" cy="5143500"/>
          </a:xfrm>
          <a:custGeom>
            <a:avLst/>
            <a:gdLst>
              <a:gd name="connsiteX0" fmla="*/ 1691615 w 9376632"/>
              <a:gd name="connsiteY0" fmla="*/ 0 h 6858000"/>
              <a:gd name="connsiteX1" fmla="*/ 7685017 w 9376632"/>
              <a:gd name="connsiteY1" fmla="*/ 0 h 6858000"/>
              <a:gd name="connsiteX2" fmla="*/ 7840634 w 9376632"/>
              <a:gd name="connsiteY2" fmla="*/ 134799 h 6858000"/>
              <a:gd name="connsiteX3" fmla="*/ 9376632 w 9376632"/>
              <a:gd name="connsiteY3" fmla="*/ 3605175 h 6858000"/>
              <a:gd name="connsiteX4" fmla="*/ 8158692 w 9376632"/>
              <a:gd name="connsiteY4" fmla="*/ 6757493 h 6858000"/>
              <a:gd name="connsiteX5" fmla="*/ 8062868 w 9376632"/>
              <a:gd name="connsiteY5" fmla="*/ 6858000 h 6858000"/>
              <a:gd name="connsiteX6" fmla="*/ 1313765 w 9376632"/>
              <a:gd name="connsiteY6" fmla="*/ 6858000 h 6858000"/>
              <a:gd name="connsiteX7" fmla="*/ 1217940 w 9376632"/>
              <a:gd name="connsiteY7" fmla="*/ 6757493 h 6858000"/>
              <a:gd name="connsiteX8" fmla="*/ 0 w 9376632"/>
              <a:gd name="connsiteY8" fmla="*/ 3605175 h 6858000"/>
              <a:gd name="connsiteX9" fmla="*/ 1535999 w 9376632"/>
              <a:gd name="connsiteY9" fmla="*/ 1347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376632" h="6858000">
                <a:moveTo>
                  <a:pt x="1691615" y="0"/>
                </a:moveTo>
                <a:lnTo>
                  <a:pt x="7685017" y="0"/>
                </a:lnTo>
                <a:lnTo>
                  <a:pt x="7840634" y="134799"/>
                </a:lnTo>
                <a:cubicBezTo>
                  <a:pt x="8784230" y="992423"/>
                  <a:pt x="9376632" y="2229618"/>
                  <a:pt x="9376632" y="3605175"/>
                </a:cubicBezTo>
                <a:cubicBezTo>
                  <a:pt x="9376632" y="4818903"/>
                  <a:pt x="8915419" y="5924908"/>
                  <a:pt x="8158692" y="6757493"/>
                </a:cubicBezTo>
                <a:lnTo>
                  <a:pt x="8062868" y="6858000"/>
                </a:lnTo>
                <a:lnTo>
                  <a:pt x="1313765" y="6858000"/>
                </a:lnTo>
                <a:lnTo>
                  <a:pt x="1217940" y="6757493"/>
                </a:lnTo>
                <a:cubicBezTo>
                  <a:pt x="461213" y="5924908"/>
                  <a:pt x="0" y="4818903"/>
                  <a:pt x="0" y="3605175"/>
                </a:cubicBezTo>
                <a:cubicBezTo>
                  <a:pt x="0" y="2229618"/>
                  <a:pt x="592403" y="992423"/>
                  <a:pt x="1535999" y="134799"/>
                </a:cubicBezTo>
                <a:close/>
              </a:path>
            </a:pathLst>
          </a:cu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76D63AC-0421-45EC-B383-E79A61A78C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77550" y="2988"/>
            <a:ext cx="7329573" cy="5143500"/>
            <a:chOff x="1303402" y="36937"/>
            <a:chExt cx="9772765" cy="6858000"/>
          </a:xfrm>
          <a:solidFill>
            <a:schemeClr val="bg1">
              <a:alpha val="30000"/>
            </a:schemeClr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997A32E-7032-4107-9C8B-99DB59EDD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43BB27F-1470-42CA-91FF-D94BC691C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997B002-17FD-47B3-A06A-76802FE15C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401EA35-9D2E-43B7-860F-EBB8A6C3E0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C44827-3D81-4FF9-B4A5-5650D1B20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613D97F-F6DF-4D32-AD91-209A80E7A2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82B0ED5C-927D-4C5F-8F27-1B403820B9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27048" y="1156801"/>
            <a:ext cx="3890131" cy="1790939"/>
          </a:xfrm>
        </p:spPr>
        <p:txBody>
          <a:bodyPr vert="horz" lIns="91440" tIns="45720" rIns="91440" bIns="45720" rtlCol="0" anchor="b">
            <a:normAutofit/>
          </a:bodyPr>
          <a:lstStyle/>
          <a:p>
            <a:pPr marL="0" lvl="0" indent="0" algn="ctr" defTabSz="914400">
              <a:lnSpc>
                <a:spcPct val="90000"/>
              </a:lnSpc>
            </a:pPr>
            <a:r>
              <a:rPr lang="en-US" sz="33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A Self-Optimizing Workerpool in Go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7F87F1B-42BA-4AC7-A4E2-41544DDB2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28" y="-3116"/>
            <a:ext cx="1886210" cy="1630749"/>
            <a:chOff x="-305" y="-4155"/>
            <a:chExt cx="2514948" cy="2174333"/>
          </a:xfrm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8B53067-4E48-4E71-A6A9-A8CAABAFBF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06D1A0D3-4BB8-41D9-9CE7-2884C83F44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81E20F06-3B09-4B89-A36B-AB8BFBCCA5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DAE6C3D7-7D5B-4926-877D-45F117BB6B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67346A5-7569-4F15-AB5D-BE3DADF192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7264295" y="3512749"/>
            <a:ext cx="1886211" cy="1630750"/>
            <a:chOff x="-305" y="-4155"/>
            <a:chExt cx="2514948" cy="2174333"/>
          </a:xfrm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E1951533-A568-4765-AB1F-F71D9AFDEA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7214F52-4F3F-4C96-A62E-F1401D6C04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23146A1-291C-4FA0-AB5B-EB04D4239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62977932-2B03-4899-8306-5002CEE68E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561AEE4-4E38-4BAC-976D-E0DE523FC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0BC676B-D19A-44DB-910A-0C0E6D433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68323" y="2988"/>
            <a:ext cx="7329573" cy="5143500"/>
            <a:chOff x="1303402" y="3985"/>
            <a:chExt cx="9772765" cy="6858000"/>
          </a:xfrm>
        </p:grpSpPr>
        <p:sp>
          <p:nvSpPr>
            <p:cNvPr id="27" name="Freeform: Shape 12">
              <a:extLst>
                <a:ext uri="{FF2B5EF4-FFF2-40B4-BE49-F238E27FC236}">
                  <a16:creationId xmlns:a16="http://schemas.microsoft.com/office/drawing/2014/main" id="{999AA485-A13F-4455-814E-C116AD7E0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8" name="Freeform: Shape 13">
              <a:extLst>
                <a:ext uri="{FF2B5EF4-FFF2-40B4-BE49-F238E27FC236}">
                  <a16:creationId xmlns:a16="http://schemas.microsoft.com/office/drawing/2014/main" id="{9C90D55F-0AFB-45E5-8815-A4701774CE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9" name="Freeform: Shape 14">
              <a:extLst>
                <a:ext uri="{FF2B5EF4-FFF2-40B4-BE49-F238E27FC236}">
                  <a16:creationId xmlns:a16="http://schemas.microsoft.com/office/drawing/2014/main" id="{D476B6C1-4A41-48E6-8540-FC48FCD76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" name="Freeform: Shape 15">
              <a:extLst>
                <a:ext uri="{FF2B5EF4-FFF2-40B4-BE49-F238E27FC236}">
                  <a16:creationId xmlns:a16="http://schemas.microsoft.com/office/drawing/2014/main" id="{3347F445-D2CA-4FEB-AB8E-7A47AB57CD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2F1B3D8-301E-4A54-9284-EB14E9056B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31" name="Freeform: Shape 17">
              <a:extLst>
                <a:ext uri="{FF2B5EF4-FFF2-40B4-BE49-F238E27FC236}">
                  <a16:creationId xmlns:a16="http://schemas.microsoft.com/office/drawing/2014/main" id="{CE4B9C67-860A-4569-AC84-3ADE433D1C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2" name="Freeform: Shape 18">
              <a:extLst>
                <a:ext uri="{FF2B5EF4-FFF2-40B4-BE49-F238E27FC236}">
                  <a16:creationId xmlns:a16="http://schemas.microsoft.com/office/drawing/2014/main" id="{1175B763-A6E6-4AD1-9138-9B1164A7A8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32737" y="1653205"/>
            <a:ext cx="5281599" cy="2531808"/>
          </a:xfrm>
        </p:spPr>
        <p:txBody>
          <a:bodyPr anchor="t">
            <a:normAutofit/>
          </a:bodyPr>
          <a:lstStyle/>
          <a:p>
            <a:pPr marL="0" lvl="0" indent="0">
              <a:lnSpc>
                <a:spcPct val="150000"/>
              </a:lnSpc>
              <a:buNone/>
            </a:pPr>
            <a:r>
              <a:rPr lang="en-US" sz="1500">
                <a:solidFill>
                  <a:schemeClr val="tx2"/>
                </a:solidFill>
              </a:rPr>
              <a:t>Borrowing Concepts from Biology And Mechanical Engineering</a:t>
            </a:r>
            <a:endParaRPr lang="en-US"/>
          </a:p>
          <a:p>
            <a:pPr marL="0" lvl="0" indent="0">
              <a:lnSpc>
                <a:spcPct val="150000"/>
              </a:lnSpc>
              <a:buNone/>
            </a:pPr>
            <a:r>
              <a:rPr lang="en-US" sz="1500" dirty="0" err="1">
                <a:solidFill>
                  <a:schemeClr val="tx2"/>
                </a:solidFill>
              </a:rPr>
              <a:t>Gophercon</a:t>
            </a:r>
            <a:r>
              <a:rPr lang="en-US" sz="1500" dirty="0">
                <a:solidFill>
                  <a:schemeClr val="tx2"/>
                </a:solidFill>
              </a:rPr>
              <a:t> 2026</a:t>
            </a:r>
            <a:endParaRPr lang="en-US" sz="1500" dirty="0">
              <a:solidFill>
                <a:schemeClr val="tx2"/>
              </a:solidFill>
              <a:ea typeface="Calibri"/>
              <a:cs typeface="Calibri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500">
                <a:solidFill>
                  <a:schemeClr val="tx2"/>
                </a:solidFill>
              </a:rPr>
              <a:t>Casey Manus Principal Software Engineer - Bayer Crop Science </a:t>
            </a:r>
            <a:endParaRPr lang="en-US" sz="1500" dirty="0">
              <a:solidFill>
                <a:schemeClr val="tx2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500">
                <a:solidFill>
                  <a:schemeClr val="tx2"/>
                </a:solidFill>
              </a:rPr>
              <a:t>caseylmanus@gmail.com </a:t>
            </a:r>
          </a:p>
          <a:p>
            <a:pPr marL="0" lvl="0" indent="0">
              <a:lnSpc>
                <a:spcPct val="150000"/>
              </a:lnSpc>
              <a:buNone/>
            </a:pPr>
            <a:r>
              <a:rPr lang="en-US" sz="1500">
                <a:solidFill>
                  <a:schemeClr val="tx2"/>
                </a:solidFill>
              </a:rPr>
              <a:t>casey.manus@bayer.com </a:t>
            </a:r>
            <a:r>
              <a:rPr lang="en-US" sz="1500" dirty="0">
                <a:solidFill>
                  <a:schemeClr val="tx2"/>
                </a:solidFill>
              </a:rPr>
              <a:t>https://github.com/caseylmanus/workerpool</a:t>
            </a:r>
            <a:endParaRPr lang="en-US" sz="1500">
              <a:solidFill>
                <a:schemeClr val="tx2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245A9F99-D9B1-4094-A2E2-B90AC1DB7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7FAF607-473A-4A43-A23D-BBFF5C411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0578" y="602216"/>
            <a:ext cx="3733482" cy="1090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2700">
                <a:solidFill>
                  <a:schemeClr val="tx2"/>
                </a:solidFill>
              </a:rPr>
              <a:t>Introduction to Genetic Algorithms</a:t>
            </a:r>
          </a:p>
        </p:txBody>
      </p:sp>
      <p:pic>
        <p:nvPicPr>
          <p:cNvPr id="23" name="Graphic 22" descr="DNA">
            <a:extLst>
              <a:ext uri="{FF2B5EF4-FFF2-40B4-BE49-F238E27FC236}">
                <a16:creationId xmlns:a16="http://schemas.microsoft.com/office/drawing/2014/main" id="{0D3DA1D8-BAEB-A7B7-057D-7DD9F52629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5212" y="1345384"/>
            <a:ext cx="2715016" cy="2715016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67930" y="1816261"/>
            <a:ext cx="3733184" cy="2729467"/>
          </a:xfrm>
        </p:spPr>
        <p:txBody>
          <a:bodyPr anchor="ctr">
            <a:normAutofit/>
          </a:bodyPr>
          <a:lstStyle/>
          <a:p>
            <a:pPr marL="0" lvl="0" indent="0">
              <a:lnSpc>
                <a:spcPct val="90000"/>
              </a:lnSpc>
              <a:buNone/>
            </a:pPr>
            <a:r>
              <a:rPr lang="en-US" sz="1000">
                <a:solidFill>
                  <a:schemeClr val="tx2"/>
                </a:solidFill>
              </a:rPr>
              <a:t>Gophercon 2023 Overview</a:t>
            </a:r>
            <a:endParaRPr lang="en-US" sz="1000">
              <a:solidFill>
                <a:schemeClr val="tx2"/>
              </a:solidFill>
              <a:ea typeface="Calibri"/>
              <a:cs typeface="Calibri"/>
            </a:endParaRPr>
          </a:p>
          <a:p>
            <a:pPr marL="0" lvl="0" indent="0">
              <a:lnSpc>
                <a:spcPct val="90000"/>
              </a:lnSpc>
              <a:buNone/>
            </a:pPr>
            <a:r>
              <a:rPr lang="en-US" sz="1000">
                <a:solidFill>
                  <a:schemeClr val="tx2"/>
                </a:solidFill>
              </a:rPr>
              <a:t>Genetic Algorithms (GAs) are a powerful tool used to find </a:t>
            </a:r>
            <a:r>
              <a:rPr lang="en-US" sz="1000" b="1">
                <a:solidFill>
                  <a:schemeClr val="tx2"/>
                </a:solidFill>
              </a:rPr>
              <a:t>approximate solutions to difficult-to-solve problems</a:t>
            </a:r>
            <a:r>
              <a:rPr lang="en-US" sz="1000">
                <a:solidFill>
                  <a:schemeClr val="tx2"/>
                </a:solidFill>
              </a:rPr>
              <a:t>. They achieve this by applying the principles of </a:t>
            </a:r>
            <a:r>
              <a:rPr lang="en-US" sz="1000" b="1">
                <a:solidFill>
                  <a:schemeClr val="tx2"/>
                </a:solidFill>
              </a:rPr>
              <a:t>evolutionary biology to computer science</a:t>
            </a:r>
            <a:r>
              <a:rPr lang="en-US" sz="1000">
                <a:solidFill>
                  <a:schemeClr val="tx2"/>
                </a:solidFill>
              </a:rPr>
              <a:t>, specifically by </a:t>
            </a:r>
            <a:r>
              <a:rPr lang="en-US" sz="1000" b="1">
                <a:solidFill>
                  <a:schemeClr val="tx2"/>
                </a:solidFill>
              </a:rPr>
              <a:t>mimicking the biological process of natural selection</a:t>
            </a:r>
            <a:r>
              <a:rPr lang="en-US" sz="1000">
                <a:solidFill>
                  <a:schemeClr val="tx2"/>
                </a:solidFill>
              </a:rPr>
              <a:t>.</a:t>
            </a:r>
            <a:endParaRPr lang="en-US" sz="1000">
              <a:solidFill>
                <a:schemeClr val="tx2"/>
              </a:solidFill>
              <a:ea typeface="Calibri"/>
              <a:cs typeface="Calibri"/>
            </a:endParaRPr>
          </a:p>
          <a:p>
            <a:pPr marL="0" lvl="0" indent="0">
              <a:lnSpc>
                <a:spcPct val="90000"/>
              </a:lnSpc>
              <a:buNone/>
            </a:pPr>
            <a:r>
              <a:rPr lang="en-US" sz="1000">
                <a:solidFill>
                  <a:schemeClr val="tx2"/>
                </a:solidFill>
              </a:rPr>
              <a:t>The core problem-solving process of a GA involves several key steps: </a:t>
            </a:r>
            <a:endParaRPr lang="en-US" sz="1000">
              <a:solidFill>
                <a:schemeClr val="tx2"/>
              </a:solidFill>
              <a:ea typeface="Calibri"/>
              <a:cs typeface="Calibri"/>
            </a:endParaRPr>
          </a:p>
          <a:p>
            <a:pPr>
              <a:lnSpc>
                <a:spcPct val="90000"/>
              </a:lnSpc>
            </a:pPr>
            <a:r>
              <a:rPr lang="en-US" sz="1000" b="1">
                <a:solidFill>
                  <a:schemeClr val="tx2"/>
                </a:solidFill>
              </a:rPr>
              <a:t>Define Genome</a:t>
            </a:r>
            <a:r>
              <a:rPr lang="en-US" sz="1000">
                <a:solidFill>
                  <a:schemeClr val="tx2"/>
                </a:solidFill>
              </a:rPr>
              <a:t>: This establishes the dataset that describes your problem, composed of individual genes. </a:t>
            </a:r>
            <a:endParaRPr lang="en-US" sz="1000">
              <a:solidFill>
                <a:schemeClr val="tx2"/>
              </a:solidFill>
              <a:ea typeface="Calibri"/>
              <a:cs typeface="Calibri"/>
            </a:endParaRPr>
          </a:p>
          <a:p>
            <a:pPr>
              <a:lnSpc>
                <a:spcPct val="90000"/>
              </a:lnSpc>
            </a:pPr>
            <a:r>
              <a:rPr lang="en-US" sz="1000" b="1">
                <a:solidFill>
                  <a:schemeClr val="tx2"/>
                </a:solidFill>
              </a:rPr>
              <a:t>Random Population</a:t>
            </a:r>
            <a:r>
              <a:rPr lang="en-US" sz="1000">
                <a:solidFill>
                  <a:schemeClr val="tx2"/>
                </a:solidFill>
              </a:rPr>
              <a:t>: The algorithm starts with a set of these genomes. </a:t>
            </a:r>
            <a:endParaRPr lang="en-US" sz="1000">
              <a:solidFill>
                <a:schemeClr val="tx2"/>
              </a:solidFill>
              <a:ea typeface="Calibri"/>
              <a:cs typeface="Calibri"/>
            </a:endParaRPr>
          </a:p>
          <a:p>
            <a:pPr>
              <a:lnSpc>
                <a:spcPct val="90000"/>
              </a:lnSpc>
            </a:pPr>
            <a:r>
              <a:rPr lang="en-US" sz="1000" b="1">
                <a:solidFill>
                  <a:schemeClr val="tx2"/>
                </a:solidFill>
              </a:rPr>
              <a:t>Determine Fitness</a:t>
            </a:r>
            <a:r>
              <a:rPr lang="en-US" sz="1000">
                <a:solidFill>
                  <a:schemeClr val="tx2"/>
                </a:solidFill>
              </a:rPr>
              <a:t>: A fitness function “grades” each genome to assess its suitability for continued evolution</a:t>
            </a:r>
            <a:endParaRPr lang="en-US" sz="1000">
              <a:solidFill>
                <a:schemeClr val="tx2"/>
              </a:solidFill>
              <a:ea typeface="Calibri"/>
              <a:cs typeface="Calibri"/>
            </a:endParaRPr>
          </a:p>
          <a:p>
            <a:pPr>
              <a:lnSpc>
                <a:spcPct val="90000"/>
              </a:lnSpc>
            </a:pPr>
            <a:r>
              <a:rPr lang="en-US" sz="1000" b="1">
                <a:solidFill>
                  <a:schemeClr val="tx2"/>
                </a:solidFill>
              </a:rPr>
              <a:t>Next Population / Generation</a:t>
            </a:r>
            <a:r>
              <a:rPr lang="en-US" sz="1000">
                <a:solidFill>
                  <a:schemeClr val="tx2"/>
                </a:solidFill>
              </a:rPr>
              <a:t>: Each cycle creates a new “generation” of solutions. </a:t>
            </a:r>
            <a:r>
              <a:rPr lang="en-US" sz="1000" b="1">
                <a:solidFill>
                  <a:schemeClr val="tx2"/>
                </a:solidFill>
              </a:rPr>
              <a:t>Selection</a:t>
            </a:r>
            <a:r>
              <a:rPr lang="en-US" sz="1000">
                <a:solidFill>
                  <a:schemeClr val="tx2"/>
                </a:solidFill>
              </a:rPr>
              <a:t>: Members are chosen from the current population to contribute to the next generation.</a:t>
            </a:r>
            <a:endParaRPr lang="en-US" sz="1000">
              <a:solidFill>
                <a:schemeClr val="tx2"/>
              </a:solidFill>
              <a:ea typeface="Calibri"/>
              <a:cs typeface="Calibri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5F6476F-D303-44D3-B30F-1BA348F0F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976" y="39747"/>
            <a:ext cx="4446455" cy="5103753"/>
            <a:chOff x="6095999" y="52996"/>
            <a:chExt cx="6093363" cy="6805005"/>
          </a:xfrm>
          <a:solidFill>
            <a:schemeClr val="accent5">
              <a:alpha val="10000"/>
            </a:schemeClr>
          </a:solidFill>
        </p:grpSpPr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C972EB4B-0539-4430-9340-8117B9D7C3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1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ACA5348F-9FF6-485F-898D-1BED7EC72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5999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33B89F41-1D91-447A-88C5-8A917809F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0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342900"/>
            <a:ext cx="7934706" cy="89154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3000">
                <a:solidFill>
                  <a:schemeClr val="tx2"/>
                </a:solidFill>
              </a:rPr>
              <a:t>The Example Problem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6566969-F813-4CC5-B3E9-363D85B55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660949" y="-3837"/>
            <a:ext cx="2488985" cy="1867698"/>
            <a:chOff x="-305" y="-1"/>
            <a:chExt cx="3832880" cy="2876136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F8CF66C-45E2-456B-92B0-9E97A331D1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D65D590E-D70D-4D25-B853-D5208F2AA3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6231501E-3F84-4705-A001-13995FA688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552617E4-47FD-4C38-8F70-93BF9B1257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217D733-97B6-4C43-AF0C-5E3CB0EA1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3455915"/>
            <a:ext cx="1954321" cy="1689635"/>
            <a:chOff x="-305" y="-4155"/>
            <a:chExt cx="2514948" cy="2174333"/>
          </a:xfrm>
        </p:grpSpPr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FD288266-7E76-4D4A-BAAC-E233FA013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697F88A-8624-4BA2-AF06-E6C3A52F03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8CA77163-C052-481C-9DCF-68C23ACAB3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02B425B5-0A0E-4B85-B718-E5DA73431A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D150468F-060C-A44A-4CAA-9013E2C18B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3834257"/>
              </p:ext>
            </p:extLst>
          </p:nvPr>
        </p:nvGraphicFramePr>
        <p:xfrm>
          <a:off x="1538844" y="2770535"/>
          <a:ext cx="636831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2226">
                  <a:extLst>
                    <a:ext uri="{9D8B030D-6E8A-4147-A177-3AD203B41FA5}">
                      <a16:colId xmlns:a16="http://schemas.microsoft.com/office/drawing/2014/main" val="1396818213"/>
                    </a:ext>
                  </a:extLst>
                </a:gridCol>
                <a:gridCol w="2287212">
                  <a:extLst>
                    <a:ext uri="{9D8B030D-6E8A-4147-A177-3AD203B41FA5}">
                      <a16:colId xmlns:a16="http://schemas.microsoft.com/office/drawing/2014/main" val="1503059491"/>
                    </a:ext>
                  </a:extLst>
                </a:gridCol>
                <a:gridCol w="1938879">
                  <a:extLst>
                    <a:ext uri="{9D8B030D-6E8A-4147-A177-3AD203B41FA5}">
                      <a16:colId xmlns:a16="http://schemas.microsoft.com/office/drawing/2014/main" val="4083166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1" i="0" u="none" strike="noStrike" noProof="0">
                          <a:solidFill>
                            <a:schemeClr val="tx2"/>
                          </a:solidFill>
                          <a:latin typeface="Calibri"/>
                          <a:ea typeface="Calibri"/>
                          <a:cs typeface="Calibri"/>
                        </a:rPr>
                        <a:t>We want to train an LLM on all data from Wikipedia </a:t>
                      </a: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chemeClr val="tx2"/>
                          </a:solidFill>
                        </a:rPr>
                        <a:t>Wikipedia has constrained output and rate limiting to prevent scraping</a:t>
                      </a:r>
                      <a:endParaRPr lang="en-US" sz="1400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We want to build a </a:t>
                      </a:r>
                      <a:r>
                        <a:rPr lang="en-US" sz="1400" dirty="0" err="1">
                          <a:solidFill>
                            <a:schemeClr val="tx2"/>
                          </a:solidFill>
                        </a:rPr>
                        <a:t>workerpool</a:t>
                      </a: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 that adapts to upstream responses</a:t>
                      </a: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1454258"/>
                  </a:ext>
                </a:extLst>
              </a:tr>
            </a:tbl>
          </a:graphicData>
        </a:graphic>
      </p:graphicFrame>
      <p:pic>
        <p:nvPicPr>
          <p:cNvPr id="52" name="Graphic 51">
            <a:extLst>
              <a:ext uri="{FF2B5EF4-FFF2-40B4-BE49-F238E27FC236}">
                <a16:creationId xmlns:a16="http://schemas.microsoft.com/office/drawing/2014/main" id="{78A07754-5C0D-82B2-6D2B-758A14E0A0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954975" y="1858489"/>
            <a:ext cx="914400" cy="914400"/>
          </a:xfrm>
          <a:prstGeom prst="rect">
            <a:avLst/>
          </a:prstGeom>
        </p:spPr>
      </p:pic>
      <p:pic>
        <p:nvPicPr>
          <p:cNvPr id="53" name="Graphic 52">
            <a:extLst>
              <a:ext uri="{FF2B5EF4-FFF2-40B4-BE49-F238E27FC236}">
                <a16:creationId xmlns:a16="http://schemas.microsoft.com/office/drawing/2014/main" id="{B6E1EF5A-C099-27CF-A994-452A437513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0" y="1858489"/>
            <a:ext cx="914400" cy="914400"/>
          </a:xfrm>
          <a:prstGeom prst="rect">
            <a:avLst/>
          </a:pr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E0554391-027D-934D-B163-9C27EC604D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41423" y="1869622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61AEE4-4E38-4BAC-976D-E0DE523FC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0BC676B-D19A-44DB-910A-0C0E6D433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68323" y="2988"/>
            <a:ext cx="7329573" cy="51435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99AA485-A13F-4455-814E-C116AD7E0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C90D55F-0AFB-45E5-8815-A4701774CE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476B6C1-4A41-48E6-8540-FC48FCD76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347F445-D2CA-4FEB-AB8E-7A47AB57CD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2F1B3D8-301E-4A54-9284-EB14E9056B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E4B9C67-860A-4569-AC84-3ADE433D1C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175B763-A6E6-4AD1-9138-9B1164A7A8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75099" y="743445"/>
            <a:ext cx="4316022" cy="1378012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2700">
                <a:solidFill>
                  <a:schemeClr val="tx2"/>
                </a:solidFill>
              </a:rPr>
              <a:t>The Problem with Static Tuning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39219" y="2026684"/>
            <a:ext cx="5952257" cy="2669264"/>
          </a:xfrm>
        </p:spPr>
        <p:txBody>
          <a:bodyPr anchor="t"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1500">
                <a:solidFill>
                  <a:schemeClr val="tx2"/>
                </a:solidFill>
              </a:rPr>
              <a:t>Most concurrent architectures use hardcoded worker limits and sleep cycles. </a:t>
            </a:r>
            <a:endParaRPr lang="en-US">
              <a:solidFill>
                <a:schemeClr val="tx2"/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endParaRPr lang="en-US" sz="1500" dirty="0">
              <a:solidFill>
                <a:schemeClr val="tx2"/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en-US" sz="1500">
                <a:solidFill>
                  <a:schemeClr val="tx2"/>
                </a:solidFill>
              </a:rPr>
              <a:t>- Fine-tuned for local machine networks. </a:t>
            </a:r>
            <a:endParaRPr lang="en-US">
              <a:solidFill>
                <a:schemeClr val="tx2"/>
              </a:solidFill>
              <a:ea typeface="Calibri"/>
              <a:cs typeface="Calibri"/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en-US" sz="1500">
                <a:solidFill>
                  <a:schemeClr val="tx2"/>
                </a:solidFill>
              </a:rPr>
              <a:t>- Fractures instantly when exposed to changing upstream rate limits. </a:t>
            </a:r>
            <a:endParaRPr lang="en-US">
              <a:solidFill>
                <a:schemeClr val="tx2"/>
              </a:solidFill>
            </a:endParaRPr>
          </a:p>
          <a:p>
            <a:pPr marL="0" lvl="0" indent="0">
              <a:lnSpc>
                <a:spcPct val="90000"/>
              </a:lnSpc>
              <a:buNone/>
            </a:pPr>
            <a:r>
              <a:rPr lang="en-US" sz="1500">
                <a:solidFill>
                  <a:schemeClr val="tx2"/>
                </a:solidFill>
              </a:rPr>
              <a:t>- Leads to either </a:t>
            </a:r>
            <a:r>
              <a:rPr lang="en-US" sz="1500" b="1">
                <a:solidFill>
                  <a:schemeClr val="tx2"/>
                </a:solidFill>
              </a:rPr>
              <a:t>over-throttling</a:t>
            </a:r>
            <a:r>
              <a:rPr lang="en-US" sz="1500">
                <a:solidFill>
                  <a:schemeClr val="tx2"/>
                </a:solidFill>
              </a:rPr>
              <a:t> (wasting resources) or </a:t>
            </a:r>
            <a:r>
              <a:rPr lang="en-US" sz="1500" b="1">
                <a:solidFill>
                  <a:schemeClr val="tx2"/>
                </a:solidFill>
              </a:rPr>
              <a:t>under-throttling</a:t>
            </a:r>
            <a:r>
              <a:rPr lang="en-US" sz="1500" dirty="0">
                <a:solidFill>
                  <a:schemeClr val="tx2"/>
                </a:solidFill>
              </a:rPr>
              <a:t> </a:t>
            </a:r>
            <a:r>
              <a:rPr lang="en-US" sz="1500">
                <a:solidFill>
                  <a:schemeClr val="tx2"/>
                </a:solidFill>
              </a:rPr>
              <a:t>(getting banned).</a:t>
            </a:r>
            <a:endParaRPr lang="en-US">
              <a:solidFill>
                <a:schemeClr val="tx2"/>
              </a:solidFill>
              <a:ea typeface="Calibri"/>
              <a:cs typeface="Calibri"/>
            </a:endParaRPr>
          </a:p>
          <a:p>
            <a:pPr marL="0" indent="0">
              <a:lnSpc>
                <a:spcPct val="90000"/>
              </a:lnSpc>
              <a:buNone/>
            </a:pPr>
            <a:endParaRPr lang="en-US" sz="1500" dirty="0">
              <a:solidFill>
                <a:schemeClr val="tx2"/>
              </a:solidFill>
            </a:endParaRPr>
          </a:p>
          <a:p>
            <a:pPr marL="0" lvl="0" indent="0">
              <a:lnSpc>
                <a:spcPct val="90000"/>
              </a:lnSpc>
              <a:buNone/>
            </a:pPr>
            <a:r>
              <a:rPr lang="en-US" sz="1500">
                <a:solidFill>
                  <a:schemeClr val="tx2"/>
                </a:solidFill>
              </a:rPr>
              <a:t>I built an autonomous crawler that dynamically matches the environment’s pressure.</a:t>
            </a:r>
            <a:endParaRPr lang="en-US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D75592-2ADD-13F6-0227-1D824CE58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CF2D0-E3A1-8BC3-FAE8-1A7D984F67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342900"/>
            <a:ext cx="7934706" cy="891540"/>
          </a:xfrm>
        </p:spPr>
        <p:txBody>
          <a:bodyPr>
            <a:normAutofit fontScale="90000"/>
          </a:bodyPr>
          <a:lstStyle/>
          <a:p>
            <a:r>
              <a:rPr lang="en-US" sz="1900">
                <a:solidFill>
                  <a:schemeClr val="tx2"/>
                </a:solidFill>
              </a:rPr>
              <a:t>Transitioning Genetic Algorithms </a:t>
            </a:r>
            <a:br>
              <a:rPr lang="en-US" sz="1900" dirty="0">
                <a:solidFill>
                  <a:schemeClr val="tx2"/>
                </a:solidFill>
              </a:rPr>
            </a:br>
            <a:r>
              <a:rPr lang="en-US" sz="1900">
                <a:solidFill>
                  <a:schemeClr val="tx2"/>
                </a:solidFill>
              </a:rPr>
              <a:t>to </a:t>
            </a:r>
            <a:br>
              <a:rPr lang="en-US" sz="1900" dirty="0">
                <a:solidFill>
                  <a:schemeClr val="tx2"/>
                </a:solidFill>
              </a:rPr>
            </a:br>
            <a:r>
              <a:rPr lang="en-US" sz="1900">
                <a:solidFill>
                  <a:schemeClr val="tx2"/>
                </a:solidFill>
              </a:rPr>
              <a:t>Real-Time Control Theory</a:t>
            </a:r>
            <a:endParaRPr lang="en-US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8BE45F2-7C7A-E7E3-B621-4EA1A133C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660949" y="-3837"/>
            <a:ext cx="2488985" cy="1867698"/>
            <a:chOff x="-305" y="-1"/>
            <a:chExt cx="3832880" cy="2876136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B5563D4B-F300-4D67-4F35-B9BE6BDD13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A54F99AD-0399-84F2-67CC-3AE8051EC9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718D8D43-83D2-64D5-7367-8CDE0D91F9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20B880CE-EEC7-73D0-BCBE-D065B1A217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7D4C3E96-28B8-3EF9-2D05-E1BE85C035B9}"/>
              </a:ext>
            </a:extLst>
          </p:cNvPr>
          <p:cNvSpPr txBox="1"/>
          <p:nvPr/>
        </p:nvSpPr>
        <p:spPr>
          <a:xfrm>
            <a:off x="2286000" y="2989613"/>
            <a:ext cx="5321629" cy="144655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/>
            <a:r>
              <a:rPr lang="en-US" sz="1400" b="0" i="0" u="none" strike="noStrike" baseline="0">
                <a:solidFill>
                  <a:srgbClr val="1F497D"/>
                </a:solidFill>
                <a:latin typeface="Calibri"/>
                <a:ea typeface="Segoe UI"/>
                <a:cs typeface="Segoe UI"/>
              </a:rPr>
              <a:t>Traditionally, fitness will increase with evolution given static environment and objective fitness functions.</a:t>
            </a:r>
            <a:r>
              <a:rPr lang="en-US" sz="1400" b="0" i="0">
                <a:solidFill>
                  <a:srgbClr val="000000"/>
                </a:solidFill>
                <a:latin typeface="Calibri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n-US" sz="1400" b="0" i="0">
                <a:solidFill>
                  <a:srgbClr val="000000"/>
                </a:solidFill>
                <a:latin typeface="Calibri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n-US" sz="1400" b="0" i="0" u="none" strike="noStrike" baseline="0">
                <a:solidFill>
                  <a:srgbClr val="1F497D"/>
                </a:solidFill>
                <a:latin typeface="Calibri"/>
                <a:ea typeface="Segoe UI"/>
                <a:cs typeface="Segoe UI"/>
              </a:rPr>
              <a:t>Environment Pressure and Dynamic Baselines means optimal fitness is a changing target.</a:t>
            </a:r>
          </a:p>
          <a:p>
            <a:pPr algn="ctr"/>
            <a:endParaRPr lang="en-US"/>
          </a:p>
        </p:txBody>
      </p:sp>
      <p:grpSp>
        <p:nvGrpSpPr>
          <p:cNvPr id="40" name="GA to Control Diagram"/>
          <p:cNvGrpSpPr/>
          <p:nvPr/>
        </p:nvGrpSpPr>
        <p:grpSpPr>
          <a:xfrm>
            <a:off x="2010266" y="1526048"/>
            <a:ext cx="5600000" cy="1180000"/>
            <a:chOff x="100000" y="300000"/>
            <a:chExt cx="5600000" cy="1180000"/>
          </a:xfrm>
        </p:grpSpPr>
        <p:cxnSp>
          <p:nvCxnSpPr>
            <p:cNvPr id="41" name="conn AB"/>
            <p:cNvCxnSpPr/>
            <p:nvPr/>
          </p:nvCxnSpPr>
          <p:spPr>
            <a:xfrm>
              <a:off x="450000" y="430000"/>
              <a:ext cx="1" cy="620000"/>
            </a:xfrm>
            <a:prstGeom prst="straightConnector1">
              <a:avLst/>
            </a:prstGeom>
            <a:ln w="22225" cap="rnd">
              <a:solidFill>
                <a:srgbClr val="A6A6A6"/>
              </a:solidFill>
            </a:ln>
          </p:spPr>
        </p:cxnSp>
        <p:cxnSp>
          <p:nvCxnSpPr>
            <p:cNvPr id="42" name="conn AC"/>
            <p:cNvCxnSpPr/>
            <p:nvPr/>
          </p:nvCxnSpPr>
          <p:spPr>
            <a:xfrm>
              <a:off x="450000" y="430000"/>
              <a:ext cx="600000" cy="310000"/>
            </a:xfrm>
            <a:prstGeom prst="straightConnector1">
              <a:avLst/>
            </a:prstGeom>
            <a:ln w="22225" cap="rnd">
              <a:solidFill>
                <a:srgbClr val="A6A6A6"/>
              </a:solidFill>
            </a:ln>
          </p:spPr>
        </p:cxnSp>
        <p:cxnSp>
          <p:nvCxnSpPr>
            <p:cNvPr id="43" name="conn BC"/>
            <p:cNvCxnSpPr/>
            <p:nvPr/>
          </p:nvCxnSpPr>
          <p:spPr>
            <a:xfrm flipV="1">
              <a:off x="450000" y="740000"/>
              <a:ext cx="600000" cy="310000"/>
            </a:xfrm>
            <a:prstGeom prst="straightConnector1">
              <a:avLst/>
            </a:prstGeom>
            <a:ln w="22225" cap="rnd">
              <a:solidFill>
                <a:srgbClr val="A6A6A6"/>
              </a:solidFill>
            </a:ln>
          </p:spPr>
        </p:cxnSp>
        <p:sp>
          <p:nvSpPr>
            <p:cNvPr id="44" name="node A"/>
            <p:cNvSpPr/>
            <p:nvPr/>
          </p:nvSpPr>
          <p:spPr>
            <a:xfrm>
              <a:off x="320000" y="300000"/>
              <a:ext cx="260000" cy="26000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node B"/>
            <p:cNvSpPr/>
            <p:nvPr/>
          </p:nvSpPr>
          <p:spPr>
            <a:xfrm>
              <a:off x="320000" y="920000"/>
              <a:ext cx="260000" cy="260000"/>
            </a:xfrm>
            <a:prstGeom prst="ellipse">
              <a:avLst/>
            </a:prstGeom>
            <a:solidFill>
              <a:srgbClr val="4F81BD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node C"/>
            <p:cNvSpPr/>
            <p:nvPr/>
          </p:nvSpPr>
          <p:spPr>
            <a:xfrm>
              <a:off x="920000" y="610000"/>
              <a:ext cx="260000" cy="260000"/>
            </a:xfrm>
            <a:prstGeom prst="ellipse">
              <a:avLst/>
            </a:prstGeom>
            <a:solidFill>
              <a:srgbClr val="4F81BD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Transition Arrow"/>
            <p:cNvSpPr/>
            <p:nvPr/>
          </p:nvSpPr>
          <p:spPr>
            <a:xfrm>
              <a:off x="1620000" y="600000"/>
              <a:ext cx="1230000" cy="280000"/>
            </a:xfrm>
            <a:prstGeom prst="rightArrow">
              <a:avLst>
                <a:gd name="adj1" fmla="val 55000"/>
                <a:gd name="adj2" fmla="val 55000"/>
              </a:avLst>
            </a:prstGeom>
            <a:solidFill>
              <a:srgbClr val="F79646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cxnSp>
          <p:nvCxnSpPr>
            <p:cNvPr id="48" name="y axis"/>
            <p:cNvCxnSpPr/>
            <p:nvPr/>
          </p:nvCxnSpPr>
          <p:spPr>
            <a:xfrm>
              <a:off x="3200000" y="300000"/>
              <a:ext cx="1" cy="900000"/>
            </a:xfrm>
            <a:prstGeom prst="straightConnector1">
              <a:avLst/>
            </a:prstGeom>
            <a:ln w="12700" cap="rnd">
              <a:solidFill>
                <a:srgbClr val="C9C9C9"/>
              </a:solidFill>
            </a:ln>
          </p:spPr>
        </p:cxnSp>
        <p:cxnSp>
          <p:nvCxnSpPr>
            <p:cNvPr id="49" name="x axis"/>
            <p:cNvCxnSpPr/>
            <p:nvPr/>
          </p:nvCxnSpPr>
          <p:spPr>
            <a:xfrm>
              <a:off x="3200000" y="1200000"/>
              <a:ext cx="2450000" cy="1"/>
            </a:xfrm>
            <a:prstGeom prst="straightConnector1">
              <a:avLst/>
            </a:prstGeom>
            <a:ln w="12700" cap="rnd">
              <a:solidFill>
                <a:srgbClr val="C9C9C9"/>
              </a:solidFill>
            </a:ln>
          </p:spPr>
        </p:cxnSp>
        <p:cxnSp>
          <p:nvCxnSpPr>
            <p:cNvPr id="50" name="setpoint"/>
            <p:cNvCxnSpPr/>
            <p:nvPr/>
          </p:nvCxnSpPr>
          <p:spPr>
            <a:xfrm>
              <a:off x="3250000" y="520000"/>
              <a:ext cx="2350000" cy="1"/>
            </a:xfrm>
            <a:prstGeom prst="straightConnector1">
              <a:avLst/>
            </a:prstGeom>
            <a:ln w="15875" cap="rnd">
              <a:solidFill>
                <a:srgbClr val="F79646"/>
              </a:solidFill>
              <a:prstDash val="dash"/>
            </a:ln>
          </p:spPr>
        </p:cxnSp>
        <p:sp>
          <p:nvSpPr>
            <p:cNvPr id="51" name="Response Curve"/>
            <p:cNvSpPr/>
            <p:nvPr/>
          </p:nvSpPr>
          <p:spPr>
            <a:xfrm>
              <a:off x="3200000" y="300000"/>
              <a:ext cx="2450000" cy="900000"/>
            </a:xfrm>
            <a:custGeom>
              <a:avLst/>
              <a:gdLst/>
              <a:ahLst/>
              <a:cxnLst/>
              <a:rect l="l" t="t" r="r" b="b"/>
              <a:pathLst>
                <a:path w="2450000" h="900000">
                  <a:moveTo>
                    <a:pt x="50000" y="850000"/>
                  </a:moveTo>
                  <a:cubicBezTo>
                    <a:pt x="300000" y="850000"/>
                    <a:pt x="520000" y="150000"/>
                    <a:pt x="850000" y="120000"/>
                  </a:cubicBezTo>
                  <a:cubicBezTo>
                    <a:pt x="1060000" y="100000"/>
                    <a:pt x="1160000" y="300000"/>
                    <a:pt x="1360000" y="300000"/>
                  </a:cubicBezTo>
                  <a:cubicBezTo>
                    <a:pt x="1610000" y="300000"/>
                    <a:pt x="1760000" y="220000"/>
                    <a:pt x="2100000" y="220000"/>
                  </a:cubicBezTo>
                  <a:lnTo>
                    <a:pt x="2400000" y="220000"/>
                  </a:lnTo>
                </a:path>
              </a:pathLst>
            </a:custGeom>
            <a:noFill/>
            <a:ln w="28575" cap="rnd">
              <a:solidFill>
                <a:srgbClr val="4F81BD"/>
              </a:solidFill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settle marker"/>
            <p:cNvSpPr/>
            <p:nvPr/>
          </p:nvSpPr>
          <p:spPr>
            <a:xfrm>
              <a:off x="5555000" y="475000"/>
              <a:ext cx="90000" cy="90000"/>
            </a:xfrm>
            <a:prstGeom prst="ellipse">
              <a:avLst/>
            </a:prstGeom>
            <a:solidFill>
              <a:srgbClr val="4F81BD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caption left"/>
            <p:cNvSpPr txBox="1"/>
            <p:nvPr/>
          </p:nvSpPr>
          <p:spPr>
            <a:xfrm>
              <a:off x="100000" y="1210000"/>
              <a:ext cx="1300000" cy="24000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ctr"/>
              <a:r>
                <a:rPr lang="en-US" sz="1050" b="1">
                  <a:solidFill>
                    <a:srgbClr val="1F497D"/>
                  </a:solidFill>
                  <a:latin typeface="Calibri"/>
                </a:rPr>
                <a:t>Genetic Algorithms</a:t>
              </a:r>
            </a:p>
          </p:txBody>
        </p:sp>
        <p:sp>
          <p:nvSpPr>
            <p:cNvPr id="54" name="caption right"/>
            <p:cNvSpPr txBox="1"/>
            <p:nvPr/>
          </p:nvSpPr>
          <p:spPr>
            <a:xfrm>
              <a:off x="3150000" y="1240000"/>
              <a:ext cx="2550000" cy="24000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ctr"/>
              <a:r>
                <a:rPr lang="en-US" sz="1050" b="1">
                  <a:solidFill>
                    <a:srgbClr val="1F497D"/>
                  </a:solidFill>
                  <a:latin typeface="Calibri"/>
                </a:rPr>
                <a:t>Real-Time Control Theory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379314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EDDBB197-D710-4A4F-A9CA-FD2177498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75D1CFA-2CDB-4B64-BD9F-85744E8DA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602216"/>
            <a:ext cx="3733482" cy="1090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2700">
                <a:solidFill>
                  <a:schemeClr val="tx2"/>
                </a:solidFill>
              </a:rPr>
              <a:t>Understanding PID Controllers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504" y="1693797"/>
            <a:ext cx="3733183" cy="2729467"/>
          </a:xfrm>
        </p:spPr>
        <p:txBody>
          <a:bodyPr anchor="ctr">
            <a:normAutofit/>
          </a:bodyPr>
          <a:lstStyle/>
          <a:p>
            <a:pPr marL="0" lvl="0" indent="0">
              <a:lnSpc>
                <a:spcPct val="90000"/>
              </a:lnSpc>
              <a:buNone/>
            </a:pPr>
            <a:r>
              <a:rPr lang="en-US" sz="1300">
                <a:solidFill>
                  <a:schemeClr val="tx2"/>
                </a:solidFill>
              </a:rPr>
              <a:t>A PID controller is a control loop feedback mechanism that automatically corrects errors and variances in mechanical systems.</a:t>
            </a:r>
          </a:p>
          <a:p>
            <a:pPr marL="0" indent="0">
              <a:lnSpc>
                <a:spcPct val="90000"/>
              </a:lnSpc>
              <a:buNone/>
            </a:pPr>
            <a:endParaRPr lang="en-US" sz="1300" dirty="0">
              <a:solidFill>
                <a:schemeClr val="tx2"/>
              </a:solidFill>
            </a:endParaRPr>
          </a:p>
          <a:p>
            <a:pPr marL="0" lvl="0" indent="0">
              <a:lnSpc>
                <a:spcPct val="90000"/>
              </a:lnSpc>
              <a:buNone/>
            </a:pPr>
            <a:r>
              <a:rPr lang="en-US" sz="1300">
                <a:solidFill>
                  <a:schemeClr val="tx2"/>
                </a:solidFill>
              </a:rPr>
              <a:t>It continuously calculates an </a:t>
            </a:r>
            <a:r>
              <a:rPr lang="en-US" sz="1300" b="1">
                <a:solidFill>
                  <a:schemeClr val="tx2"/>
                </a:solidFill>
              </a:rPr>
              <a:t>error value</a:t>
            </a:r>
            <a:r>
              <a:rPr lang="en-US" sz="1300">
                <a:solidFill>
                  <a:schemeClr val="tx2"/>
                </a:solidFill>
              </a:rPr>
              <a:t> as the difference between a desired setpoint and a measured process variable.</a:t>
            </a:r>
          </a:p>
          <a:p>
            <a:pPr marL="0" lvl="0" indent="0">
              <a:lnSpc>
                <a:spcPct val="90000"/>
              </a:lnSpc>
              <a:buNone/>
            </a:pPr>
            <a:endParaRPr lang="en-US" sz="1300" dirty="0">
              <a:solidFill>
                <a:schemeClr val="tx2"/>
              </a:solidFill>
              <a:ea typeface="Calibri"/>
              <a:cs typeface="Calibri"/>
            </a:endParaRPr>
          </a:p>
          <a:p>
            <a:pPr marL="0" lvl="0" indent="0">
              <a:lnSpc>
                <a:spcPct val="90000"/>
              </a:lnSpc>
              <a:buNone/>
            </a:pPr>
            <a:r>
              <a:rPr lang="en-US" sz="1300">
                <a:solidFill>
                  <a:schemeClr val="tx2"/>
                </a:solidFill>
              </a:rPr>
              <a:t>Common uses include automobile </a:t>
            </a:r>
            <a:r>
              <a:rPr lang="en-US" sz="1300" b="1">
                <a:solidFill>
                  <a:schemeClr val="tx2"/>
                </a:solidFill>
              </a:rPr>
              <a:t>cruise control</a:t>
            </a:r>
            <a:r>
              <a:rPr lang="en-US" sz="1300">
                <a:solidFill>
                  <a:schemeClr val="tx2"/>
                </a:solidFill>
              </a:rPr>
              <a:t>, drone </a:t>
            </a:r>
            <a:r>
              <a:rPr lang="en-US" sz="1300" b="1">
                <a:solidFill>
                  <a:schemeClr val="tx2"/>
                </a:solidFill>
              </a:rPr>
              <a:t>flight stabilization</a:t>
            </a:r>
            <a:r>
              <a:rPr lang="en-US" sz="1300">
                <a:solidFill>
                  <a:schemeClr val="tx2"/>
                </a:solidFill>
              </a:rPr>
              <a:t> and </a:t>
            </a:r>
            <a:r>
              <a:rPr lang="en-US" sz="1300" b="1">
                <a:solidFill>
                  <a:schemeClr val="tx2"/>
                </a:solidFill>
              </a:rPr>
              <a:t>thermostats</a:t>
            </a:r>
            <a:r>
              <a:rPr lang="en-US" sz="1300">
                <a:solidFill>
                  <a:schemeClr val="tx2"/>
                </a:solidFill>
              </a:rPr>
              <a:t>.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5EE5136-01F1-466C-962D-BA9B4C675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777422" y="0"/>
            <a:ext cx="4366578" cy="5013950"/>
            <a:chOff x="6357228" y="0"/>
            <a:chExt cx="5822103" cy="6685267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E11D3AD4-AF9B-4EB5-8C7B-C45D173B4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57228" y="0"/>
              <a:ext cx="5822102" cy="6685267"/>
            </a:xfrm>
            <a:custGeom>
              <a:avLst/>
              <a:gdLst>
                <a:gd name="connsiteX0" fmla="*/ 2605444 w 5822102"/>
                <a:gd name="connsiteY0" fmla="*/ 0 h 6685267"/>
                <a:gd name="connsiteX1" fmla="*/ 4757391 w 5822102"/>
                <a:gd name="connsiteY1" fmla="*/ 0 h 6685267"/>
                <a:gd name="connsiteX2" fmla="*/ 4913680 w 5822102"/>
                <a:gd name="connsiteY2" fmla="*/ 56274 h 6685267"/>
                <a:gd name="connsiteX3" fmla="*/ 5376238 w 5822102"/>
                <a:gd name="connsiteY3" fmla="*/ 282027 h 6685267"/>
                <a:gd name="connsiteX4" fmla="*/ 5658024 w 5822102"/>
                <a:gd name="connsiteY4" fmla="*/ 471014 h 6685267"/>
                <a:gd name="connsiteX5" fmla="*/ 5822102 w 5822102"/>
                <a:gd name="connsiteY5" fmla="*/ 609109 h 6685267"/>
                <a:gd name="connsiteX6" fmla="*/ 5822102 w 5822102"/>
                <a:gd name="connsiteY6" fmla="*/ 760697 h 6685267"/>
                <a:gd name="connsiteX7" fmla="*/ 5707785 w 5822102"/>
                <a:gd name="connsiteY7" fmla="*/ 666601 h 6685267"/>
                <a:gd name="connsiteX8" fmla="*/ 5577306 w 5822102"/>
                <a:gd name="connsiteY8" fmla="*/ 571666 h 6685267"/>
                <a:gd name="connsiteX9" fmla="*/ 5298630 w 5822102"/>
                <a:gd name="connsiteY9" fmla="*/ 407449 h 6685267"/>
                <a:gd name="connsiteX10" fmla="*/ 4690768 w 5822102"/>
                <a:gd name="connsiteY10" fmla="*/ 184979 h 6685267"/>
                <a:gd name="connsiteX11" fmla="*/ 4048577 w 5822102"/>
                <a:gd name="connsiteY11" fmla="*/ 99280 h 6685267"/>
                <a:gd name="connsiteX12" fmla="*/ 3405404 w 5822102"/>
                <a:gd name="connsiteY12" fmla="*/ 131937 h 6685267"/>
                <a:gd name="connsiteX13" fmla="*/ 3089702 w 5822102"/>
                <a:gd name="connsiteY13" fmla="*/ 190190 h 6685267"/>
                <a:gd name="connsiteX14" fmla="*/ 2780132 w 5822102"/>
                <a:gd name="connsiteY14" fmla="*/ 273457 h 6685267"/>
                <a:gd name="connsiteX15" fmla="*/ 2478040 w 5822102"/>
                <a:gd name="connsiteY15" fmla="*/ 379654 h 6685267"/>
                <a:gd name="connsiteX16" fmla="*/ 2184897 w 5822102"/>
                <a:gd name="connsiteY16" fmla="*/ 507972 h 6685267"/>
                <a:gd name="connsiteX17" fmla="*/ 1629141 w 5822102"/>
                <a:gd name="connsiteY17" fmla="*/ 823205 h 6685267"/>
                <a:gd name="connsiteX18" fmla="*/ 1497711 w 5822102"/>
                <a:gd name="connsiteY18" fmla="*/ 914000 h 6685267"/>
                <a:gd name="connsiteX19" fmla="*/ 1433099 w 5822102"/>
                <a:gd name="connsiteY19" fmla="*/ 960903 h 6685267"/>
                <a:gd name="connsiteX20" fmla="*/ 1369346 w 5822102"/>
                <a:gd name="connsiteY20" fmla="*/ 1008963 h 6685267"/>
                <a:gd name="connsiteX21" fmla="*/ 1123406 w 5822102"/>
                <a:gd name="connsiteY21" fmla="*/ 1212905 h 6685267"/>
                <a:gd name="connsiteX22" fmla="*/ 684367 w 5822102"/>
                <a:gd name="connsiteY22" fmla="*/ 1675564 h 6685267"/>
                <a:gd name="connsiteX23" fmla="*/ 497153 w 5822102"/>
                <a:gd name="connsiteY23" fmla="*/ 1933588 h 6685267"/>
                <a:gd name="connsiteX24" fmla="*/ 337770 w 5822102"/>
                <a:gd name="connsiteY24" fmla="*/ 2208983 h 6685267"/>
                <a:gd name="connsiteX25" fmla="*/ 302461 w 5822102"/>
                <a:gd name="connsiteY25" fmla="*/ 2280207 h 6685267"/>
                <a:gd name="connsiteX26" fmla="*/ 285296 w 5822102"/>
                <a:gd name="connsiteY26" fmla="*/ 2316107 h 6685267"/>
                <a:gd name="connsiteX27" fmla="*/ 268991 w 5822102"/>
                <a:gd name="connsiteY27" fmla="*/ 2352355 h 6685267"/>
                <a:gd name="connsiteX28" fmla="*/ 237849 w 5822102"/>
                <a:gd name="connsiteY28" fmla="*/ 2425432 h 6685267"/>
                <a:gd name="connsiteX29" fmla="*/ 208670 w 5822102"/>
                <a:gd name="connsiteY29" fmla="*/ 2499319 h 6685267"/>
                <a:gd name="connsiteX30" fmla="*/ 113775 w 5822102"/>
                <a:gd name="connsiteY30" fmla="*/ 2801929 h 6685267"/>
                <a:gd name="connsiteX31" fmla="*/ 36781 w 5822102"/>
                <a:gd name="connsiteY31" fmla="*/ 3428922 h 6685267"/>
                <a:gd name="connsiteX32" fmla="*/ 69148 w 5822102"/>
                <a:gd name="connsiteY32" fmla="*/ 3741955 h 6685267"/>
                <a:gd name="connsiteX33" fmla="*/ 167966 w 5822102"/>
                <a:gd name="connsiteY33" fmla="*/ 4041323 h 6685267"/>
                <a:gd name="connsiteX34" fmla="*/ 202049 w 5822102"/>
                <a:gd name="connsiteY34" fmla="*/ 4112894 h 6685267"/>
                <a:gd name="connsiteX35" fmla="*/ 239933 w 5822102"/>
                <a:gd name="connsiteY35" fmla="*/ 4182843 h 6685267"/>
                <a:gd name="connsiteX36" fmla="*/ 323916 w 5822102"/>
                <a:gd name="connsiteY36" fmla="*/ 4318456 h 6685267"/>
                <a:gd name="connsiteX37" fmla="*/ 416604 w 5822102"/>
                <a:gd name="connsiteY37" fmla="*/ 4449436 h 6685267"/>
                <a:gd name="connsiteX38" fmla="*/ 515911 w 5822102"/>
                <a:gd name="connsiteY38" fmla="*/ 4576711 h 6685267"/>
                <a:gd name="connsiteX39" fmla="*/ 722619 w 5822102"/>
                <a:gd name="connsiteY39" fmla="*/ 4828482 h 6685267"/>
                <a:gd name="connsiteX40" fmla="*/ 825972 w 5822102"/>
                <a:gd name="connsiteY40" fmla="*/ 4956104 h 6685267"/>
                <a:gd name="connsiteX41" fmla="*/ 926506 w 5822102"/>
                <a:gd name="connsiteY41" fmla="*/ 5085347 h 6685267"/>
                <a:gd name="connsiteX42" fmla="*/ 1027040 w 5822102"/>
                <a:gd name="connsiteY42" fmla="*/ 5210191 h 6685267"/>
                <a:gd name="connsiteX43" fmla="*/ 1132110 w 5822102"/>
                <a:gd name="connsiteY43" fmla="*/ 5330748 h 6685267"/>
                <a:gd name="connsiteX44" fmla="*/ 1354880 w 5822102"/>
                <a:gd name="connsiteY44" fmla="*/ 5558083 h 6685267"/>
                <a:gd name="connsiteX45" fmla="*/ 1855220 w 5822102"/>
                <a:gd name="connsiteY45" fmla="*/ 5937591 h 6685267"/>
                <a:gd name="connsiteX46" fmla="*/ 2131810 w 5822102"/>
                <a:gd name="connsiteY46" fmla="*/ 6080268 h 6685267"/>
                <a:gd name="connsiteX47" fmla="*/ 2423726 w 5822102"/>
                <a:gd name="connsiteY47" fmla="*/ 6188087 h 6685267"/>
                <a:gd name="connsiteX48" fmla="*/ 2727780 w 5822102"/>
                <a:gd name="connsiteY48" fmla="*/ 6262552 h 6685267"/>
                <a:gd name="connsiteX49" fmla="*/ 3041276 w 5822102"/>
                <a:gd name="connsiteY49" fmla="*/ 6304245 h 6685267"/>
                <a:gd name="connsiteX50" fmla="*/ 3360532 w 5822102"/>
                <a:gd name="connsiteY50" fmla="*/ 6317331 h 6685267"/>
                <a:gd name="connsiteX51" fmla="*/ 3439855 w 5822102"/>
                <a:gd name="connsiteY51" fmla="*/ 6316751 h 6685267"/>
                <a:gd name="connsiteX52" fmla="*/ 3478721 w 5822102"/>
                <a:gd name="connsiteY52" fmla="*/ 6315826 h 6685267"/>
                <a:gd name="connsiteX53" fmla="*/ 3517463 w 5822102"/>
                <a:gd name="connsiteY53" fmla="*/ 6313971 h 6685267"/>
                <a:gd name="connsiteX54" fmla="*/ 3671452 w 5822102"/>
                <a:gd name="connsiteY54" fmla="*/ 6301233 h 6685267"/>
                <a:gd name="connsiteX55" fmla="*/ 4265460 w 5822102"/>
                <a:gd name="connsiteY55" fmla="*/ 6149638 h 6685267"/>
                <a:gd name="connsiteX56" fmla="*/ 4546587 w 5822102"/>
                <a:gd name="connsiteY56" fmla="*/ 6018079 h 6685267"/>
                <a:gd name="connsiteX57" fmla="*/ 4818030 w 5822102"/>
                <a:gd name="connsiteY57" fmla="*/ 5858029 h 6685267"/>
                <a:gd name="connsiteX58" fmla="*/ 5081870 w 5822102"/>
                <a:gd name="connsiteY58" fmla="*/ 5676903 h 6685267"/>
                <a:gd name="connsiteX59" fmla="*/ 5212073 w 5822102"/>
                <a:gd name="connsiteY59" fmla="*/ 5581013 h 6685267"/>
                <a:gd name="connsiteX60" fmla="*/ 5343625 w 5822102"/>
                <a:gd name="connsiteY60" fmla="*/ 5481533 h 6685267"/>
                <a:gd name="connsiteX61" fmla="*/ 5610378 w 5822102"/>
                <a:gd name="connsiteY61" fmla="*/ 5284425 h 6685267"/>
                <a:gd name="connsiteX62" fmla="*/ 5822102 w 5822102"/>
                <a:gd name="connsiteY62" fmla="*/ 5126414 h 6685267"/>
                <a:gd name="connsiteX63" fmla="*/ 5822102 w 5822102"/>
                <a:gd name="connsiteY63" fmla="*/ 5556641 h 6685267"/>
                <a:gd name="connsiteX64" fmla="*/ 5576325 w 5822102"/>
                <a:gd name="connsiteY64" fmla="*/ 5749979 h 6685267"/>
                <a:gd name="connsiteX65" fmla="*/ 5447715 w 5822102"/>
                <a:gd name="connsiteY65" fmla="*/ 5852818 h 6685267"/>
                <a:gd name="connsiteX66" fmla="*/ 5315059 w 5822102"/>
                <a:gd name="connsiteY66" fmla="*/ 5956236 h 6685267"/>
                <a:gd name="connsiteX67" fmla="*/ 5038468 w 5822102"/>
                <a:gd name="connsiteY67" fmla="*/ 6155776 h 6685267"/>
                <a:gd name="connsiteX68" fmla="*/ 4741892 w 5822102"/>
                <a:gd name="connsiteY68" fmla="*/ 6338292 h 6685267"/>
                <a:gd name="connsiteX69" fmla="*/ 4420920 w 5822102"/>
                <a:gd name="connsiteY69" fmla="*/ 6492203 h 6685267"/>
                <a:gd name="connsiteX70" fmla="*/ 3717672 w 5822102"/>
                <a:gd name="connsiteY70" fmla="*/ 6670434 h 6685267"/>
                <a:gd name="connsiteX71" fmla="*/ 3535853 w 5822102"/>
                <a:gd name="connsiteY71" fmla="*/ 6683289 h 6685267"/>
                <a:gd name="connsiteX72" fmla="*/ 3490367 w 5822102"/>
                <a:gd name="connsiteY72" fmla="*/ 6684910 h 6685267"/>
                <a:gd name="connsiteX73" fmla="*/ 3445005 w 5822102"/>
                <a:gd name="connsiteY73" fmla="*/ 6685142 h 6685267"/>
                <a:gd name="connsiteX74" fmla="*/ 3355872 w 5822102"/>
                <a:gd name="connsiteY74" fmla="*/ 6684100 h 6685267"/>
                <a:gd name="connsiteX75" fmla="*/ 3179203 w 5822102"/>
                <a:gd name="connsiteY75" fmla="*/ 6677150 h 6685267"/>
                <a:gd name="connsiteX76" fmla="*/ 3002410 w 5822102"/>
                <a:gd name="connsiteY76" fmla="*/ 6661169 h 6685267"/>
                <a:gd name="connsiteX77" fmla="*/ 2650296 w 5822102"/>
                <a:gd name="connsiteY77" fmla="*/ 6604191 h 6685267"/>
                <a:gd name="connsiteX78" fmla="*/ 2306028 w 5822102"/>
                <a:gd name="connsiteY78" fmla="*/ 6505869 h 6685267"/>
                <a:gd name="connsiteX79" fmla="*/ 1978803 w 5822102"/>
                <a:gd name="connsiteY79" fmla="*/ 6363307 h 6685267"/>
                <a:gd name="connsiteX80" fmla="*/ 1678428 w 5822102"/>
                <a:gd name="connsiteY80" fmla="*/ 6177779 h 6685267"/>
                <a:gd name="connsiteX81" fmla="*/ 1175880 w 5822102"/>
                <a:gd name="connsiteY81" fmla="*/ 5710373 h 6685267"/>
                <a:gd name="connsiteX82" fmla="*/ 971502 w 5822102"/>
                <a:gd name="connsiteY82" fmla="*/ 5445399 h 6685267"/>
                <a:gd name="connsiteX83" fmla="*/ 790909 w 5822102"/>
                <a:gd name="connsiteY83" fmla="*/ 5169078 h 6685267"/>
                <a:gd name="connsiteX84" fmla="*/ 706680 w 5822102"/>
                <a:gd name="connsiteY84" fmla="*/ 5031959 h 6685267"/>
                <a:gd name="connsiteX85" fmla="*/ 619143 w 5822102"/>
                <a:gd name="connsiteY85" fmla="*/ 4897157 h 6685267"/>
                <a:gd name="connsiteX86" fmla="*/ 436465 w 5822102"/>
                <a:gd name="connsiteY86" fmla="*/ 4628710 h 6685267"/>
                <a:gd name="connsiteX87" fmla="*/ 347088 w 5822102"/>
                <a:gd name="connsiteY87" fmla="*/ 4492171 h 6685267"/>
                <a:gd name="connsiteX88" fmla="*/ 262001 w 5822102"/>
                <a:gd name="connsiteY88" fmla="*/ 4352619 h 6685267"/>
                <a:gd name="connsiteX89" fmla="*/ 118679 w 5822102"/>
                <a:gd name="connsiteY89" fmla="*/ 4059853 h 6685267"/>
                <a:gd name="connsiteX90" fmla="*/ 28322 w 5822102"/>
                <a:gd name="connsiteY90" fmla="*/ 3749136 h 6685267"/>
                <a:gd name="connsiteX91" fmla="*/ 0 w 5822102"/>
                <a:gd name="connsiteY91" fmla="*/ 3428922 h 6685267"/>
                <a:gd name="connsiteX92" fmla="*/ 253052 w 5822102"/>
                <a:gd name="connsiteY92" fmla="*/ 2174356 h 6685267"/>
                <a:gd name="connsiteX93" fmla="*/ 389141 w 5822102"/>
                <a:gd name="connsiteY93" fmla="*/ 1877652 h 6685267"/>
                <a:gd name="connsiteX94" fmla="*/ 552079 w 5822102"/>
                <a:gd name="connsiteY94" fmla="*/ 1591834 h 6685267"/>
                <a:gd name="connsiteX95" fmla="*/ 954950 w 5822102"/>
                <a:gd name="connsiteY95" fmla="*/ 1061773 h 6685267"/>
                <a:gd name="connsiteX96" fmla="*/ 1192922 w 5822102"/>
                <a:gd name="connsiteY96" fmla="*/ 822626 h 6685267"/>
                <a:gd name="connsiteX97" fmla="*/ 1255939 w 5822102"/>
                <a:gd name="connsiteY97" fmla="*/ 765880 h 6685267"/>
                <a:gd name="connsiteX98" fmla="*/ 1320183 w 5822102"/>
                <a:gd name="connsiteY98" fmla="*/ 710291 h 6685267"/>
                <a:gd name="connsiteX99" fmla="*/ 1452961 w 5822102"/>
                <a:gd name="connsiteY99" fmla="*/ 603514 h 6685267"/>
                <a:gd name="connsiteX100" fmla="*/ 2033360 w 5822102"/>
                <a:gd name="connsiteY100" fmla="*/ 235818 h 6685267"/>
                <a:gd name="connsiteX101" fmla="*/ 2512513 w 5822102"/>
                <a:gd name="connsiteY101" fmla="*/ 30012 h 668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822102" h="6685267">
                  <a:moveTo>
                    <a:pt x="2605444" y="0"/>
                  </a:moveTo>
                  <a:lnTo>
                    <a:pt x="4757391" y="0"/>
                  </a:lnTo>
                  <a:lnTo>
                    <a:pt x="4913680" y="56274"/>
                  </a:lnTo>
                  <a:cubicBezTo>
                    <a:pt x="5074659" y="119278"/>
                    <a:pt x="5229483" y="195083"/>
                    <a:pt x="5376238" y="282027"/>
                  </a:cubicBezTo>
                  <a:cubicBezTo>
                    <a:pt x="5474014" y="340105"/>
                    <a:pt x="5568080" y="403280"/>
                    <a:pt x="5658024" y="471014"/>
                  </a:cubicBezTo>
                  <a:lnTo>
                    <a:pt x="5822102" y="609109"/>
                  </a:lnTo>
                  <a:lnTo>
                    <a:pt x="5822102" y="760697"/>
                  </a:lnTo>
                  <a:lnTo>
                    <a:pt x="5707785" y="666601"/>
                  </a:lnTo>
                  <a:cubicBezTo>
                    <a:pt x="5665273" y="633682"/>
                    <a:pt x="5621749" y="602008"/>
                    <a:pt x="5577306" y="571666"/>
                  </a:cubicBezTo>
                  <a:cubicBezTo>
                    <a:pt x="5487929" y="511562"/>
                    <a:pt x="5395118" y="456089"/>
                    <a:pt x="5298630" y="407449"/>
                  </a:cubicBezTo>
                  <a:cubicBezTo>
                    <a:pt x="5106266" y="309010"/>
                    <a:pt x="4901153" y="235355"/>
                    <a:pt x="4690768" y="184979"/>
                  </a:cubicBezTo>
                  <a:cubicBezTo>
                    <a:pt x="4480382" y="134486"/>
                    <a:pt x="4264724" y="106807"/>
                    <a:pt x="4048577" y="99280"/>
                  </a:cubicBezTo>
                  <a:cubicBezTo>
                    <a:pt x="3832182" y="90709"/>
                    <a:pt x="3617997" y="102290"/>
                    <a:pt x="3405404" y="131937"/>
                  </a:cubicBezTo>
                  <a:cubicBezTo>
                    <a:pt x="3299353" y="147340"/>
                    <a:pt x="3193915" y="166449"/>
                    <a:pt x="3089702" y="190190"/>
                  </a:cubicBezTo>
                  <a:cubicBezTo>
                    <a:pt x="2985491" y="214278"/>
                    <a:pt x="2882137" y="241725"/>
                    <a:pt x="2780132" y="273457"/>
                  </a:cubicBezTo>
                  <a:cubicBezTo>
                    <a:pt x="2678126" y="305073"/>
                    <a:pt x="2577348" y="340510"/>
                    <a:pt x="2478040" y="379654"/>
                  </a:cubicBezTo>
                  <a:cubicBezTo>
                    <a:pt x="2378854" y="418914"/>
                    <a:pt x="2281017" y="461763"/>
                    <a:pt x="2184897" y="507972"/>
                  </a:cubicBezTo>
                  <a:cubicBezTo>
                    <a:pt x="1992657" y="600271"/>
                    <a:pt x="1806791" y="705542"/>
                    <a:pt x="1629141" y="823205"/>
                  </a:cubicBezTo>
                  <a:cubicBezTo>
                    <a:pt x="1584882" y="852736"/>
                    <a:pt x="1540745" y="882731"/>
                    <a:pt x="1497711" y="914000"/>
                  </a:cubicBezTo>
                  <a:cubicBezTo>
                    <a:pt x="1475888" y="929286"/>
                    <a:pt x="1454555" y="945153"/>
                    <a:pt x="1433099" y="960903"/>
                  </a:cubicBezTo>
                  <a:cubicBezTo>
                    <a:pt x="1411521" y="976537"/>
                    <a:pt x="1390311" y="992634"/>
                    <a:pt x="1369346" y="1008963"/>
                  </a:cubicBezTo>
                  <a:cubicBezTo>
                    <a:pt x="1285119" y="1074165"/>
                    <a:pt x="1202730" y="1141797"/>
                    <a:pt x="1123406" y="1212905"/>
                  </a:cubicBezTo>
                  <a:cubicBezTo>
                    <a:pt x="964391" y="1354656"/>
                    <a:pt x="816900" y="1509261"/>
                    <a:pt x="684367" y="1675564"/>
                  </a:cubicBezTo>
                  <a:cubicBezTo>
                    <a:pt x="618161" y="1758716"/>
                    <a:pt x="555512" y="1844763"/>
                    <a:pt x="497153" y="1933588"/>
                  </a:cubicBezTo>
                  <a:cubicBezTo>
                    <a:pt x="439775" y="2022877"/>
                    <a:pt x="385584" y="2114367"/>
                    <a:pt x="337770" y="2208983"/>
                  </a:cubicBezTo>
                  <a:cubicBezTo>
                    <a:pt x="325388" y="2232493"/>
                    <a:pt x="313862" y="2256349"/>
                    <a:pt x="302461" y="2280207"/>
                  </a:cubicBezTo>
                  <a:lnTo>
                    <a:pt x="285296" y="2316107"/>
                  </a:lnTo>
                  <a:lnTo>
                    <a:pt x="268991" y="2352355"/>
                  </a:lnTo>
                  <a:cubicBezTo>
                    <a:pt x="258324" y="2376560"/>
                    <a:pt x="247535" y="2400764"/>
                    <a:pt x="237849" y="2425432"/>
                  </a:cubicBezTo>
                  <a:cubicBezTo>
                    <a:pt x="228163" y="2450099"/>
                    <a:pt x="217498" y="2474419"/>
                    <a:pt x="208670" y="2499319"/>
                  </a:cubicBezTo>
                  <a:cubicBezTo>
                    <a:pt x="170909" y="2598219"/>
                    <a:pt x="138908" y="2699206"/>
                    <a:pt x="113775" y="2801929"/>
                  </a:cubicBezTo>
                  <a:cubicBezTo>
                    <a:pt x="62773" y="3006911"/>
                    <a:pt x="36659" y="3217917"/>
                    <a:pt x="36781" y="3428922"/>
                  </a:cubicBezTo>
                  <a:cubicBezTo>
                    <a:pt x="37394" y="3534078"/>
                    <a:pt x="47816" y="3639001"/>
                    <a:pt x="69148" y="3741955"/>
                  </a:cubicBezTo>
                  <a:cubicBezTo>
                    <a:pt x="91585" y="3844679"/>
                    <a:pt x="124074" y="3945202"/>
                    <a:pt x="167966" y="4041323"/>
                  </a:cubicBezTo>
                  <a:cubicBezTo>
                    <a:pt x="178387" y="4065528"/>
                    <a:pt x="190525" y="4089153"/>
                    <a:pt x="202049" y="4112894"/>
                  </a:cubicBezTo>
                  <a:cubicBezTo>
                    <a:pt x="214555" y="4136288"/>
                    <a:pt x="226447" y="4159912"/>
                    <a:pt x="239933" y="4182843"/>
                  </a:cubicBezTo>
                  <a:cubicBezTo>
                    <a:pt x="265680" y="4229167"/>
                    <a:pt x="294368" y="4274101"/>
                    <a:pt x="323916" y="4318456"/>
                  </a:cubicBezTo>
                  <a:cubicBezTo>
                    <a:pt x="353341" y="4362927"/>
                    <a:pt x="384849" y="4406240"/>
                    <a:pt x="416604" y="4449436"/>
                  </a:cubicBezTo>
                  <a:cubicBezTo>
                    <a:pt x="448847" y="4492286"/>
                    <a:pt x="482319" y="4534557"/>
                    <a:pt x="515911" y="4576711"/>
                  </a:cubicBezTo>
                  <a:cubicBezTo>
                    <a:pt x="583219" y="4661137"/>
                    <a:pt x="653594" y="4743825"/>
                    <a:pt x="722619" y="4828482"/>
                  </a:cubicBezTo>
                  <a:cubicBezTo>
                    <a:pt x="757315" y="4870637"/>
                    <a:pt x="791889" y="4913138"/>
                    <a:pt x="825972" y="4956104"/>
                  </a:cubicBezTo>
                  <a:cubicBezTo>
                    <a:pt x="859934" y="4998722"/>
                    <a:pt x="893649" y="5044004"/>
                    <a:pt x="926506" y="5085347"/>
                  </a:cubicBezTo>
                  <a:cubicBezTo>
                    <a:pt x="959119" y="5127734"/>
                    <a:pt x="993324" y="5168847"/>
                    <a:pt x="1027040" y="5210191"/>
                  </a:cubicBezTo>
                  <a:cubicBezTo>
                    <a:pt x="1061737" y="5250840"/>
                    <a:pt x="1096188" y="5291488"/>
                    <a:pt x="1132110" y="5330748"/>
                  </a:cubicBezTo>
                  <a:cubicBezTo>
                    <a:pt x="1203465" y="5409731"/>
                    <a:pt x="1277639" y="5485818"/>
                    <a:pt x="1354880" y="5558083"/>
                  </a:cubicBezTo>
                  <a:cubicBezTo>
                    <a:pt x="1509603" y="5702266"/>
                    <a:pt x="1676588" y="5830930"/>
                    <a:pt x="1855220" y="5937591"/>
                  </a:cubicBezTo>
                  <a:cubicBezTo>
                    <a:pt x="1944720" y="5990632"/>
                    <a:pt x="2036549" y="6039272"/>
                    <a:pt x="2131810" y="6080268"/>
                  </a:cubicBezTo>
                  <a:cubicBezTo>
                    <a:pt x="2226460" y="6122423"/>
                    <a:pt x="2324173" y="6157977"/>
                    <a:pt x="2423726" y="6188087"/>
                  </a:cubicBezTo>
                  <a:cubicBezTo>
                    <a:pt x="2523280" y="6218313"/>
                    <a:pt x="2624794" y="6242749"/>
                    <a:pt x="2727780" y="6262552"/>
                  </a:cubicBezTo>
                  <a:cubicBezTo>
                    <a:pt x="2830890" y="6282008"/>
                    <a:pt x="2935714" y="6295326"/>
                    <a:pt x="3041276" y="6304245"/>
                  </a:cubicBezTo>
                  <a:cubicBezTo>
                    <a:pt x="3146836" y="6313277"/>
                    <a:pt x="3253499" y="6317215"/>
                    <a:pt x="3360532" y="6317331"/>
                  </a:cubicBezTo>
                  <a:cubicBezTo>
                    <a:pt x="3387259" y="6317331"/>
                    <a:pt x="3414354" y="6317794"/>
                    <a:pt x="3439855" y="6316751"/>
                  </a:cubicBezTo>
                  <a:lnTo>
                    <a:pt x="3478721" y="6315826"/>
                  </a:lnTo>
                  <a:lnTo>
                    <a:pt x="3517463" y="6313971"/>
                  </a:lnTo>
                  <a:cubicBezTo>
                    <a:pt x="3569078" y="6311772"/>
                    <a:pt x="3620449" y="6306907"/>
                    <a:pt x="3671452" y="6301233"/>
                  </a:cubicBezTo>
                  <a:cubicBezTo>
                    <a:pt x="3875707" y="6277608"/>
                    <a:pt x="4074445" y="6225841"/>
                    <a:pt x="4265460" y="6149638"/>
                  </a:cubicBezTo>
                  <a:cubicBezTo>
                    <a:pt x="4361212" y="6111884"/>
                    <a:pt x="4454636" y="6067065"/>
                    <a:pt x="4546587" y="6018079"/>
                  </a:cubicBezTo>
                  <a:cubicBezTo>
                    <a:pt x="4638662" y="5969322"/>
                    <a:pt x="4729020" y="5915240"/>
                    <a:pt x="4818030" y="5858029"/>
                  </a:cubicBezTo>
                  <a:cubicBezTo>
                    <a:pt x="4907038" y="5800703"/>
                    <a:pt x="4994577" y="5739672"/>
                    <a:pt x="5081870" y="5676903"/>
                  </a:cubicBezTo>
                  <a:cubicBezTo>
                    <a:pt x="5125392" y="5645519"/>
                    <a:pt x="5168794" y="5613324"/>
                    <a:pt x="5212073" y="5581013"/>
                  </a:cubicBezTo>
                  <a:lnTo>
                    <a:pt x="5343625" y="5481533"/>
                  </a:lnTo>
                  <a:cubicBezTo>
                    <a:pt x="5432696" y="5414768"/>
                    <a:pt x="5521951" y="5349452"/>
                    <a:pt x="5610378" y="5284425"/>
                  </a:cubicBezTo>
                  <a:lnTo>
                    <a:pt x="5822102" y="5126414"/>
                  </a:lnTo>
                  <a:lnTo>
                    <a:pt x="5822102" y="5556641"/>
                  </a:lnTo>
                  <a:lnTo>
                    <a:pt x="5576325" y="5749979"/>
                  </a:lnTo>
                  <a:lnTo>
                    <a:pt x="5447715" y="5852818"/>
                  </a:lnTo>
                  <a:cubicBezTo>
                    <a:pt x="5403945" y="5887445"/>
                    <a:pt x="5359932" y="5922073"/>
                    <a:pt x="5315059" y="5956236"/>
                  </a:cubicBezTo>
                  <a:cubicBezTo>
                    <a:pt x="5225682" y="6024680"/>
                    <a:pt x="5133976" y="6091734"/>
                    <a:pt x="5038468" y="6155776"/>
                  </a:cubicBezTo>
                  <a:cubicBezTo>
                    <a:pt x="4943084" y="6219703"/>
                    <a:pt x="4845002" y="6281777"/>
                    <a:pt x="4741892" y="6338292"/>
                  </a:cubicBezTo>
                  <a:cubicBezTo>
                    <a:pt x="4638784" y="6394692"/>
                    <a:pt x="4532120" y="6447038"/>
                    <a:pt x="4420920" y="6492203"/>
                  </a:cubicBezTo>
                  <a:cubicBezTo>
                    <a:pt x="4199255" y="6583693"/>
                    <a:pt x="3959813" y="6644840"/>
                    <a:pt x="3717672" y="6670434"/>
                  </a:cubicBezTo>
                  <a:cubicBezTo>
                    <a:pt x="3657106" y="6676456"/>
                    <a:pt x="3596419" y="6681321"/>
                    <a:pt x="3535853" y="6683289"/>
                  </a:cubicBezTo>
                  <a:lnTo>
                    <a:pt x="3490367" y="6684910"/>
                  </a:lnTo>
                  <a:lnTo>
                    <a:pt x="3445005" y="6685142"/>
                  </a:lnTo>
                  <a:cubicBezTo>
                    <a:pt x="3414354" y="6685605"/>
                    <a:pt x="3385297" y="6684679"/>
                    <a:pt x="3355872" y="6684100"/>
                  </a:cubicBezTo>
                  <a:cubicBezTo>
                    <a:pt x="3297146" y="6683405"/>
                    <a:pt x="3238052" y="6680047"/>
                    <a:pt x="3179203" y="6677150"/>
                  </a:cubicBezTo>
                  <a:cubicBezTo>
                    <a:pt x="3120232" y="6672519"/>
                    <a:pt x="3061259" y="6668233"/>
                    <a:pt x="3002410" y="6661169"/>
                  </a:cubicBezTo>
                  <a:cubicBezTo>
                    <a:pt x="2884589" y="6647851"/>
                    <a:pt x="2766891" y="6629669"/>
                    <a:pt x="2650296" y="6604191"/>
                  </a:cubicBezTo>
                  <a:cubicBezTo>
                    <a:pt x="2533702" y="6578713"/>
                    <a:pt x="2418456" y="6545938"/>
                    <a:pt x="2306028" y="6505869"/>
                  </a:cubicBezTo>
                  <a:cubicBezTo>
                    <a:pt x="2193602" y="6465683"/>
                    <a:pt x="2084118" y="6417738"/>
                    <a:pt x="1978803" y="6363307"/>
                  </a:cubicBezTo>
                  <a:cubicBezTo>
                    <a:pt x="1873855" y="6308066"/>
                    <a:pt x="1773077" y="6246340"/>
                    <a:pt x="1678428" y="6177779"/>
                  </a:cubicBezTo>
                  <a:cubicBezTo>
                    <a:pt x="1488393" y="6041356"/>
                    <a:pt x="1321900" y="5881423"/>
                    <a:pt x="1175880" y="5710373"/>
                  </a:cubicBezTo>
                  <a:cubicBezTo>
                    <a:pt x="1103177" y="5624441"/>
                    <a:pt x="1035501" y="5535732"/>
                    <a:pt x="971502" y="5445399"/>
                  </a:cubicBezTo>
                  <a:cubicBezTo>
                    <a:pt x="907380" y="5355069"/>
                    <a:pt x="847550" y="5262768"/>
                    <a:pt x="790909" y="5169078"/>
                  </a:cubicBezTo>
                  <a:cubicBezTo>
                    <a:pt x="761974" y="5121712"/>
                    <a:pt x="735492" y="5077357"/>
                    <a:pt x="706680" y="5031959"/>
                  </a:cubicBezTo>
                  <a:cubicBezTo>
                    <a:pt x="678114" y="4986910"/>
                    <a:pt x="649058" y="4941860"/>
                    <a:pt x="619143" y="4897157"/>
                  </a:cubicBezTo>
                  <a:lnTo>
                    <a:pt x="436465" y="4628710"/>
                  </a:lnTo>
                  <a:cubicBezTo>
                    <a:pt x="406182" y="4583544"/>
                    <a:pt x="376267" y="4538147"/>
                    <a:pt x="347088" y="4492171"/>
                  </a:cubicBezTo>
                  <a:cubicBezTo>
                    <a:pt x="317908" y="4446194"/>
                    <a:pt x="288974" y="4400102"/>
                    <a:pt x="262001" y="4352619"/>
                  </a:cubicBezTo>
                  <a:cubicBezTo>
                    <a:pt x="207934" y="4258119"/>
                    <a:pt x="158280" y="4160840"/>
                    <a:pt x="118679" y="4059853"/>
                  </a:cubicBezTo>
                  <a:cubicBezTo>
                    <a:pt x="78343" y="3959214"/>
                    <a:pt x="48429" y="3854870"/>
                    <a:pt x="28322" y="3749136"/>
                  </a:cubicBezTo>
                  <a:cubicBezTo>
                    <a:pt x="9073" y="3643402"/>
                    <a:pt x="0" y="3536046"/>
                    <a:pt x="0" y="3428922"/>
                  </a:cubicBezTo>
                  <a:cubicBezTo>
                    <a:pt x="1594" y="3001816"/>
                    <a:pt x="89010" y="2575868"/>
                    <a:pt x="253052" y="2174356"/>
                  </a:cubicBezTo>
                  <a:cubicBezTo>
                    <a:pt x="294246" y="2074066"/>
                    <a:pt x="338873" y="1974700"/>
                    <a:pt x="389141" y="1877652"/>
                  </a:cubicBezTo>
                  <a:cubicBezTo>
                    <a:pt x="438672" y="1780256"/>
                    <a:pt x="493230" y="1684945"/>
                    <a:pt x="552079" y="1591834"/>
                  </a:cubicBezTo>
                  <a:cubicBezTo>
                    <a:pt x="669900" y="1405728"/>
                    <a:pt x="804394" y="1227729"/>
                    <a:pt x="954950" y="1061773"/>
                  </a:cubicBezTo>
                  <a:cubicBezTo>
                    <a:pt x="1030597" y="979085"/>
                    <a:pt x="1109552" y="898829"/>
                    <a:pt x="1192922" y="822626"/>
                  </a:cubicBezTo>
                  <a:cubicBezTo>
                    <a:pt x="1213642" y="803402"/>
                    <a:pt x="1234483" y="784409"/>
                    <a:pt x="1255939" y="765880"/>
                  </a:cubicBezTo>
                  <a:cubicBezTo>
                    <a:pt x="1277273" y="747234"/>
                    <a:pt x="1298237" y="728241"/>
                    <a:pt x="1320183" y="710291"/>
                  </a:cubicBezTo>
                  <a:cubicBezTo>
                    <a:pt x="1363585" y="673811"/>
                    <a:pt x="1408088" y="638489"/>
                    <a:pt x="1452961" y="603514"/>
                  </a:cubicBezTo>
                  <a:cubicBezTo>
                    <a:pt x="1633310" y="464543"/>
                    <a:pt x="1828125" y="341437"/>
                    <a:pt x="2033360" y="235818"/>
                  </a:cubicBezTo>
                  <a:cubicBezTo>
                    <a:pt x="2187242" y="156561"/>
                    <a:pt x="2347554" y="87597"/>
                    <a:pt x="2512513" y="3001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5102EBE-A80F-4CFF-B1DD-941EF9728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04998" y="98659"/>
              <a:ext cx="5774333" cy="6315453"/>
            </a:xfrm>
            <a:custGeom>
              <a:avLst/>
              <a:gdLst>
                <a:gd name="connsiteX0" fmla="*/ 3707237 w 5774333"/>
                <a:gd name="connsiteY0" fmla="*/ 1489 h 6315453"/>
                <a:gd name="connsiteX1" fmla="*/ 4037665 w 5774333"/>
                <a:gd name="connsiteY1" fmla="*/ 6121 h 6315453"/>
                <a:gd name="connsiteX2" fmla="*/ 4692239 w 5774333"/>
                <a:gd name="connsiteY2" fmla="*/ 102128 h 6315453"/>
                <a:gd name="connsiteX3" fmla="*/ 5315059 w 5774333"/>
                <a:gd name="connsiteY3" fmla="*/ 324945 h 6315453"/>
                <a:gd name="connsiteX4" fmla="*/ 5738325 w 5774333"/>
                <a:gd name="connsiteY4" fmla="*/ 578286 h 6315453"/>
                <a:gd name="connsiteX5" fmla="*/ 5774333 w 5774333"/>
                <a:gd name="connsiteY5" fmla="*/ 606551 h 6315453"/>
                <a:gd name="connsiteX6" fmla="*/ 5774333 w 5774333"/>
                <a:gd name="connsiteY6" fmla="*/ 975490 h 6315453"/>
                <a:gd name="connsiteX7" fmla="*/ 5676001 w 5774333"/>
                <a:gd name="connsiteY7" fmla="*/ 889749 h 6315453"/>
                <a:gd name="connsiteX8" fmla="*/ 5177132 w 5774333"/>
                <a:gd name="connsiteY8" fmla="*/ 581926 h 6315453"/>
                <a:gd name="connsiteX9" fmla="*/ 4615735 w 5774333"/>
                <a:gd name="connsiteY9" fmla="*/ 388640 h 6315453"/>
                <a:gd name="connsiteX10" fmla="*/ 4020010 w 5774333"/>
                <a:gd name="connsiteY10" fmla="*/ 308500 h 6315453"/>
                <a:gd name="connsiteX11" fmla="*/ 3416315 w 5774333"/>
                <a:gd name="connsiteY11" fmla="*/ 328882 h 6315453"/>
                <a:gd name="connsiteX12" fmla="*/ 2823779 w 5774333"/>
                <a:gd name="connsiteY12" fmla="*/ 446545 h 6315453"/>
                <a:gd name="connsiteX13" fmla="*/ 2256987 w 5774333"/>
                <a:gd name="connsiteY13" fmla="*/ 651296 h 6315453"/>
                <a:gd name="connsiteX14" fmla="*/ 1244169 w 5774333"/>
                <a:gd name="connsiteY14" fmla="*/ 1280374 h 6315453"/>
                <a:gd name="connsiteX15" fmla="*/ 830141 w 5774333"/>
                <a:gd name="connsiteY15" fmla="*/ 1700184 h 6315453"/>
                <a:gd name="connsiteX16" fmla="*/ 502792 w 5774333"/>
                <a:gd name="connsiteY16" fmla="*/ 2182300 h 6315453"/>
                <a:gd name="connsiteX17" fmla="*/ 280637 w 5774333"/>
                <a:gd name="connsiteY17" fmla="*/ 2715256 h 6315453"/>
                <a:gd name="connsiteX18" fmla="*/ 199843 w 5774333"/>
                <a:gd name="connsiteY18" fmla="*/ 3283418 h 6315453"/>
                <a:gd name="connsiteX19" fmla="*/ 233926 w 5774333"/>
                <a:gd name="connsiteY19" fmla="*/ 3561593 h 6315453"/>
                <a:gd name="connsiteX20" fmla="*/ 334582 w 5774333"/>
                <a:gd name="connsiteY20" fmla="*/ 3821816 h 6315453"/>
                <a:gd name="connsiteX21" fmla="*/ 404834 w 5774333"/>
                <a:gd name="connsiteY21" fmla="*/ 3944343 h 6315453"/>
                <a:gd name="connsiteX22" fmla="*/ 485506 w 5774333"/>
                <a:gd name="connsiteY22" fmla="*/ 4062932 h 6315453"/>
                <a:gd name="connsiteX23" fmla="*/ 671861 w 5774333"/>
                <a:gd name="connsiteY23" fmla="*/ 4292120 h 6315453"/>
                <a:gd name="connsiteX24" fmla="*/ 873542 w 5774333"/>
                <a:gd name="connsiteY24" fmla="*/ 4523044 h 6315453"/>
                <a:gd name="connsiteX25" fmla="*/ 973831 w 5774333"/>
                <a:gd name="connsiteY25" fmla="*/ 4643601 h 6315453"/>
                <a:gd name="connsiteX26" fmla="*/ 1022014 w 5774333"/>
                <a:gd name="connsiteY26" fmla="*/ 4702780 h 6315453"/>
                <a:gd name="connsiteX27" fmla="*/ 1069215 w 5774333"/>
                <a:gd name="connsiteY27" fmla="*/ 4759411 h 6315453"/>
                <a:gd name="connsiteX28" fmla="*/ 1474784 w 5774333"/>
                <a:gd name="connsiteY28" fmla="*/ 5177948 h 6315453"/>
                <a:gd name="connsiteX29" fmla="*/ 1690442 w 5774333"/>
                <a:gd name="connsiteY29" fmla="*/ 5366255 h 6315453"/>
                <a:gd name="connsiteX30" fmla="*/ 1916276 w 5774333"/>
                <a:gd name="connsiteY30" fmla="*/ 5539852 h 6315453"/>
                <a:gd name="connsiteX31" fmla="*/ 2420784 w 5774333"/>
                <a:gd name="connsiteY31" fmla="*/ 5814437 h 6315453"/>
                <a:gd name="connsiteX32" fmla="*/ 2703015 w 5774333"/>
                <a:gd name="connsiteY32" fmla="*/ 5892029 h 6315453"/>
                <a:gd name="connsiteX33" fmla="*/ 2775350 w 5774333"/>
                <a:gd name="connsiteY33" fmla="*/ 5905695 h 6315453"/>
                <a:gd name="connsiteX34" fmla="*/ 2848299 w 5774333"/>
                <a:gd name="connsiteY34" fmla="*/ 5917161 h 6315453"/>
                <a:gd name="connsiteX35" fmla="*/ 2995544 w 5774333"/>
                <a:gd name="connsiteY35" fmla="*/ 5933605 h 6315453"/>
                <a:gd name="connsiteX36" fmla="*/ 3069596 w 5774333"/>
                <a:gd name="connsiteY36" fmla="*/ 5938933 h 6315453"/>
                <a:gd name="connsiteX37" fmla="*/ 3143894 w 5774333"/>
                <a:gd name="connsiteY37" fmla="*/ 5942639 h 6315453"/>
                <a:gd name="connsiteX38" fmla="*/ 3218436 w 5774333"/>
                <a:gd name="connsiteY38" fmla="*/ 5944260 h 6315453"/>
                <a:gd name="connsiteX39" fmla="*/ 3293101 w 5774333"/>
                <a:gd name="connsiteY39" fmla="*/ 5943913 h 6315453"/>
                <a:gd name="connsiteX40" fmla="*/ 3330494 w 5774333"/>
                <a:gd name="connsiteY40" fmla="*/ 5943565 h 6315453"/>
                <a:gd name="connsiteX41" fmla="*/ 3366540 w 5774333"/>
                <a:gd name="connsiteY41" fmla="*/ 5942059 h 6315453"/>
                <a:gd name="connsiteX42" fmla="*/ 3402462 w 5774333"/>
                <a:gd name="connsiteY42" fmla="*/ 5940323 h 6315453"/>
                <a:gd name="connsiteX43" fmla="*/ 3438262 w 5774333"/>
                <a:gd name="connsiteY43" fmla="*/ 5937543 h 6315453"/>
                <a:gd name="connsiteX44" fmla="*/ 3580236 w 5774333"/>
                <a:gd name="connsiteY44" fmla="*/ 5920982 h 6315453"/>
                <a:gd name="connsiteX45" fmla="*/ 4121034 w 5774333"/>
                <a:gd name="connsiteY45" fmla="*/ 5753290 h 6315453"/>
                <a:gd name="connsiteX46" fmla="*/ 4620639 w 5774333"/>
                <a:gd name="connsiteY46" fmla="*/ 5459364 h 6315453"/>
                <a:gd name="connsiteX47" fmla="*/ 4741771 w 5774333"/>
                <a:gd name="connsiteY47" fmla="*/ 5372971 h 6315453"/>
                <a:gd name="connsiteX48" fmla="*/ 4862901 w 5774333"/>
                <a:gd name="connsiteY48" fmla="*/ 5283682 h 6315453"/>
                <a:gd name="connsiteX49" fmla="*/ 5108229 w 5774333"/>
                <a:gd name="connsiteY49" fmla="*/ 5098386 h 6315453"/>
                <a:gd name="connsiteX50" fmla="*/ 5612493 w 5774333"/>
                <a:gd name="connsiteY50" fmla="*/ 4739724 h 6315453"/>
                <a:gd name="connsiteX51" fmla="*/ 5774333 w 5774333"/>
                <a:gd name="connsiteY51" fmla="*/ 4623488 h 6315453"/>
                <a:gd name="connsiteX52" fmla="*/ 5774333 w 5774333"/>
                <a:gd name="connsiteY52" fmla="*/ 5232926 h 6315453"/>
                <a:gd name="connsiteX53" fmla="*/ 5676492 w 5774333"/>
                <a:gd name="connsiteY53" fmla="*/ 5306859 h 6315453"/>
                <a:gd name="connsiteX54" fmla="*/ 5426260 w 5774333"/>
                <a:gd name="connsiteY54" fmla="*/ 5486233 h 6315453"/>
                <a:gd name="connsiteX55" fmla="*/ 5300225 w 5774333"/>
                <a:gd name="connsiteY55" fmla="*/ 5576217 h 6315453"/>
                <a:gd name="connsiteX56" fmla="*/ 5170757 w 5774333"/>
                <a:gd name="connsiteY56" fmla="*/ 5666780 h 6315453"/>
                <a:gd name="connsiteX57" fmla="*/ 5038100 w 5774333"/>
                <a:gd name="connsiteY57" fmla="*/ 5756185 h 6315453"/>
                <a:gd name="connsiteX58" fmla="*/ 4901276 w 5774333"/>
                <a:gd name="connsiteY58" fmla="*/ 5843043 h 6315453"/>
                <a:gd name="connsiteX59" fmla="*/ 4614019 w 5774333"/>
                <a:gd name="connsiteY59" fmla="*/ 6006103 h 6315453"/>
                <a:gd name="connsiteX60" fmla="*/ 4305061 w 5774333"/>
                <a:gd name="connsiteY60" fmla="*/ 6144726 h 6315453"/>
                <a:gd name="connsiteX61" fmla="*/ 3632710 w 5774333"/>
                <a:gd name="connsiteY61" fmla="*/ 6304196 h 6315453"/>
                <a:gd name="connsiteX62" fmla="*/ 3459594 w 5774333"/>
                <a:gd name="connsiteY62" fmla="*/ 6314504 h 6315453"/>
                <a:gd name="connsiteX63" fmla="*/ 3416315 w 5774333"/>
                <a:gd name="connsiteY63" fmla="*/ 6315429 h 6315453"/>
                <a:gd name="connsiteX64" fmla="*/ 3373159 w 5774333"/>
                <a:gd name="connsiteY64" fmla="*/ 6315198 h 6315453"/>
                <a:gd name="connsiteX65" fmla="*/ 3330127 w 5774333"/>
                <a:gd name="connsiteY65" fmla="*/ 6314735 h 6315453"/>
                <a:gd name="connsiteX66" fmla="*/ 3288320 w 5774333"/>
                <a:gd name="connsiteY66" fmla="*/ 6313230 h 6315453"/>
                <a:gd name="connsiteX67" fmla="*/ 2954350 w 5774333"/>
                <a:gd name="connsiteY67" fmla="*/ 6288098 h 6315453"/>
                <a:gd name="connsiteX68" fmla="*/ 2622466 w 5774333"/>
                <a:gd name="connsiteY68" fmla="*/ 6232742 h 6315453"/>
                <a:gd name="connsiteX69" fmla="*/ 2296466 w 5774333"/>
                <a:gd name="connsiteY69" fmla="*/ 6146001 h 6315453"/>
                <a:gd name="connsiteX70" fmla="*/ 1672419 w 5774333"/>
                <a:gd name="connsiteY70" fmla="*/ 5885197 h 6315453"/>
                <a:gd name="connsiteX71" fmla="*/ 1146578 w 5774333"/>
                <a:gd name="connsiteY71" fmla="*/ 5479168 h 6315453"/>
                <a:gd name="connsiteX72" fmla="*/ 933372 w 5774333"/>
                <a:gd name="connsiteY72" fmla="*/ 5234810 h 6315453"/>
                <a:gd name="connsiteX73" fmla="*/ 747140 w 5774333"/>
                <a:gd name="connsiteY73" fmla="*/ 4976091 h 6315453"/>
                <a:gd name="connsiteX74" fmla="*/ 703616 w 5774333"/>
                <a:gd name="connsiteY74" fmla="*/ 4910196 h 6315453"/>
                <a:gd name="connsiteX75" fmla="*/ 662053 w 5774333"/>
                <a:gd name="connsiteY75" fmla="*/ 4846269 h 6315453"/>
                <a:gd name="connsiteX76" fmla="*/ 580033 w 5774333"/>
                <a:gd name="connsiteY76" fmla="*/ 4722352 h 6315453"/>
                <a:gd name="connsiteX77" fmla="*/ 410105 w 5774333"/>
                <a:gd name="connsiteY77" fmla="*/ 4469193 h 6315453"/>
                <a:gd name="connsiteX78" fmla="*/ 244224 w 5774333"/>
                <a:gd name="connsiteY78" fmla="*/ 4201556 h 6315453"/>
                <a:gd name="connsiteX79" fmla="*/ 169437 w 5774333"/>
                <a:gd name="connsiteY79" fmla="*/ 4059690 h 6315453"/>
                <a:gd name="connsiteX80" fmla="*/ 105929 w 5774333"/>
                <a:gd name="connsiteY80" fmla="*/ 3911221 h 6315453"/>
                <a:gd name="connsiteX81" fmla="*/ 57256 w 5774333"/>
                <a:gd name="connsiteY81" fmla="*/ 3757195 h 6315453"/>
                <a:gd name="connsiteX82" fmla="*/ 39111 w 5774333"/>
                <a:gd name="connsiteY82" fmla="*/ 3678677 h 6315453"/>
                <a:gd name="connsiteX83" fmla="*/ 31142 w 5774333"/>
                <a:gd name="connsiteY83" fmla="*/ 3639300 h 6315453"/>
                <a:gd name="connsiteX84" fmla="*/ 24521 w 5774333"/>
                <a:gd name="connsiteY84" fmla="*/ 3599809 h 6315453"/>
                <a:gd name="connsiteX85" fmla="*/ 0 w 5774333"/>
                <a:gd name="connsiteY85" fmla="*/ 3283418 h 6315453"/>
                <a:gd name="connsiteX86" fmla="*/ 68045 w 5774333"/>
                <a:gd name="connsiteY86" fmla="*/ 2666963 h 6315453"/>
                <a:gd name="connsiteX87" fmla="*/ 272546 w 5774333"/>
                <a:gd name="connsiteY87" fmla="*/ 2076334 h 6315453"/>
                <a:gd name="connsiteX88" fmla="*/ 1039300 w 5774333"/>
                <a:gd name="connsiteY88" fmla="*/ 1073307 h 6315453"/>
                <a:gd name="connsiteX89" fmla="*/ 1547733 w 5774333"/>
                <a:gd name="connsiteY89" fmla="*/ 680365 h 6315453"/>
                <a:gd name="connsiteX90" fmla="*/ 2115995 w 5774333"/>
                <a:gd name="connsiteY90" fmla="*/ 368373 h 6315453"/>
                <a:gd name="connsiteX91" fmla="*/ 3377451 w 5774333"/>
                <a:gd name="connsiteY91" fmla="*/ 24304 h 6315453"/>
                <a:gd name="connsiteX92" fmla="*/ 3707237 w 5774333"/>
                <a:gd name="connsiteY92" fmla="*/ 1489 h 6315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</a:cxnLst>
              <a:rect l="l" t="t" r="r" b="b"/>
              <a:pathLst>
                <a:path w="5774333" h="6315453">
                  <a:moveTo>
                    <a:pt x="3707237" y="1489"/>
                  </a:moveTo>
                  <a:cubicBezTo>
                    <a:pt x="3817502" y="-1522"/>
                    <a:pt x="3927875" y="41"/>
                    <a:pt x="4037665" y="6121"/>
                  </a:cubicBezTo>
                  <a:cubicBezTo>
                    <a:pt x="4257614" y="18745"/>
                    <a:pt x="4477439" y="49665"/>
                    <a:pt x="4692239" y="102128"/>
                  </a:cubicBezTo>
                  <a:cubicBezTo>
                    <a:pt x="4907039" y="154474"/>
                    <a:pt x="5116811" y="228592"/>
                    <a:pt x="5315059" y="324945"/>
                  </a:cubicBezTo>
                  <a:cubicBezTo>
                    <a:pt x="5463562" y="397211"/>
                    <a:pt x="5606133" y="481527"/>
                    <a:pt x="5738325" y="578286"/>
                  </a:cubicBezTo>
                  <a:lnTo>
                    <a:pt x="5774333" y="606551"/>
                  </a:lnTo>
                  <a:lnTo>
                    <a:pt x="5774333" y="975490"/>
                  </a:lnTo>
                  <a:lnTo>
                    <a:pt x="5676001" y="889749"/>
                  </a:lnTo>
                  <a:cubicBezTo>
                    <a:pt x="5522381" y="769886"/>
                    <a:pt x="5355519" y="665657"/>
                    <a:pt x="5177132" y="581926"/>
                  </a:cubicBezTo>
                  <a:cubicBezTo>
                    <a:pt x="4998867" y="497965"/>
                    <a:pt x="4810183" y="433574"/>
                    <a:pt x="4615735" y="388640"/>
                  </a:cubicBezTo>
                  <a:cubicBezTo>
                    <a:pt x="4421289" y="343591"/>
                    <a:pt x="4221446" y="317649"/>
                    <a:pt x="4020010" y="308500"/>
                  </a:cubicBezTo>
                  <a:cubicBezTo>
                    <a:pt x="3818207" y="298887"/>
                    <a:pt x="3616649" y="305257"/>
                    <a:pt x="3416315" y="328882"/>
                  </a:cubicBezTo>
                  <a:cubicBezTo>
                    <a:pt x="3216106" y="352623"/>
                    <a:pt x="3017736" y="392346"/>
                    <a:pt x="2823779" y="446545"/>
                  </a:cubicBezTo>
                  <a:cubicBezTo>
                    <a:pt x="2629699" y="500513"/>
                    <a:pt x="2440401" y="570345"/>
                    <a:pt x="2256987" y="651296"/>
                  </a:cubicBezTo>
                  <a:cubicBezTo>
                    <a:pt x="1889058" y="811461"/>
                    <a:pt x="1545527" y="1023856"/>
                    <a:pt x="1244169" y="1280374"/>
                  </a:cubicBezTo>
                  <a:cubicBezTo>
                    <a:pt x="1093982" y="1409039"/>
                    <a:pt x="954828" y="1549400"/>
                    <a:pt x="830141" y="1700184"/>
                  </a:cubicBezTo>
                  <a:cubicBezTo>
                    <a:pt x="705209" y="1850736"/>
                    <a:pt x="594989" y="2012176"/>
                    <a:pt x="502792" y="2182300"/>
                  </a:cubicBezTo>
                  <a:cubicBezTo>
                    <a:pt x="410595" y="2352308"/>
                    <a:pt x="333847" y="2530307"/>
                    <a:pt x="280637" y="2715256"/>
                  </a:cubicBezTo>
                  <a:cubicBezTo>
                    <a:pt x="227306" y="2899741"/>
                    <a:pt x="199719" y="3091521"/>
                    <a:pt x="199843" y="3283418"/>
                  </a:cubicBezTo>
                  <a:cubicBezTo>
                    <a:pt x="200946" y="3377687"/>
                    <a:pt x="210754" y="3471261"/>
                    <a:pt x="233926" y="3561593"/>
                  </a:cubicBezTo>
                  <a:cubicBezTo>
                    <a:pt x="256730" y="3652040"/>
                    <a:pt x="292162" y="3738550"/>
                    <a:pt x="334582" y="3821816"/>
                  </a:cubicBezTo>
                  <a:cubicBezTo>
                    <a:pt x="356038" y="3863392"/>
                    <a:pt x="379823" y="3904157"/>
                    <a:pt x="404834" y="3944343"/>
                  </a:cubicBezTo>
                  <a:cubicBezTo>
                    <a:pt x="430212" y="3984413"/>
                    <a:pt x="457308" y="4023905"/>
                    <a:pt x="485506" y="4062932"/>
                  </a:cubicBezTo>
                  <a:cubicBezTo>
                    <a:pt x="542639" y="4140757"/>
                    <a:pt x="606146" y="4216265"/>
                    <a:pt x="671861" y="4292120"/>
                  </a:cubicBezTo>
                  <a:cubicBezTo>
                    <a:pt x="737576" y="4368091"/>
                    <a:pt x="806234" y="4444062"/>
                    <a:pt x="873542" y="4523044"/>
                  </a:cubicBezTo>
                  <a:cubicBezTo>
                    <a:pt x="907258" y="4562419"/>
                    <a:pt x="940606" y="4602721"/>
                    <a:pt x="973831" y="4643601"/>
                  </a:cubicBezTo>
                  <a:lnTo>
                    <a:pt x="1022014" y="4702780"/>
                  </a:lnTo>
                  <a:cubicBezTo>
                    <a:pt x="1037829" y="4721658"/>
                    <a:pt x="1052910" y="4740998"/>
                    <a:pt x="1069215" y="4759411"/>
                  </a:cubicBezTo>
                  <a:cubicBezTo>
                    <a:pt x="1196477" y="4909269"/>
                    <a:pt x="1334527" y="5047199"/>
                    <a:pt x="1474784" y="5177948"/>
                  </a:cubicBezTo>
                  <a:cubicBezTo>
                    <a:pt x="1545281" y="5243033"/>
                    <a:pt x="1617003" y="5305917"/>
                    <a:pt x="1690442" y="5366255"/>
                  </a:cubicBezTo>
                  <a:cubicBezTo>
                    <a:pt x="1763881" y="5426591"/>
                    <a:pt x="1838668" y="5484959"/>
                    <a:pt x="1916276" y="5539852"/>
                  </a:cubicBezTo>
                  <a:cubicBezTo>
                    <a:pt x="2070877" y="5649872"/>
                    <a:pt x="2237617" y="5748194"/>
                    <a:pt x="2420784" y="5814437"/>
                  </a:cubicBezTo>
                  <a:cubicBezTo>
                    <a:pt x="2512124" y="5847559"/>
                    <a:pt x="2606773" y="5872921"/>
                    <a:pt x="2703015" y="5892029"/>
                  </a:cubicBezTo>
                  <a:cubicBezTo>
                    <a:pt x="2727168" y="5896546"/>
                    <a:pt x="2751075" y="5901758"/>
                    <a:pt x="2775350" y="5905695"/>
                  </a:cubicBezTo>
                  <a:lnTo>
                    <a:pt x="2848299" y="5917161"/>
                  </a:lnTo>
                  <a:cubicBezTo>
                    <a:pt x="2897218" y="5923298"/>
                    <a:pt x="2946136" y="5929784"/>
                    <a:pt x="2995544" y="5933605"/>
                  </a:cubicBezTo>
                  <a:cubicBezTo>
                    <a:pt x="3020188" y="5935806"/>
                    <a:pt x="3044831" y="5937891"/>
                    <a:pt x="3069596" y="5938933"/>
                  </a:cubicBezTo>
                  <a:cubicBezTo>
                    <a:pt x="3094362" y="5940090"/>
                    <a:pt x="3119005" y="5941943"/>
                    <a:pt x="3143894" y="5942639"/>
                  </a:cubicBezTo>
                  <a:lnTo>
                    <a:pt x="3218436" y="5944260"/>
                  </a:lnTo>
                  <a:cubicBezTo>
                    <a:pt x="3243201" y="5944838"/>
                    <a:pt x="3268212" y="5944029"/>
                    <a:pt x="3293101" y="5943913"/>
                  </a:cubicBezTo>
                  <a:lnTo>
                    <a:pt x="3330494" y="5943565"/>
                  </a:lnTo>
                  <a:cubicBezTo>
                    <a:pt x="3342632" y="5943218"/>
                    <a:pt x="3354524" y="5942523"/>
                    <a:pt x="3366540" y="5942059"/>
                  </a:cubicBezTo>
                  <a:cubicBezTo>
                    <a:pt x="3378554" y="5941480"/>
                    <a:pt x="3390570" y="5941134"/>
                    <a:pt x="3402462" y="5940323"/>
                  </a:cubicBezTo>
                  <a:lnTo>
                    <a:pt x="3438262" y="5937543"/>
                  </a:lnTo>
                  <a:cubicBezTo>
                    <a:pt x="3485954" y="5933953"/>
                    <a:pt x="3533279" y="5927931"/>
                    <a:pt x="3580236" y="5920982"/>
                  </a:cubicBezTo>
                  <a:cubicBezTo>
                    <a:pt x="3768185" y="5891567"/>
                    <a:pt x="3948901" y="5834010"/>
                    <a:pt x="4121034" y="5753290"/>
                  </a:cubicBezTo>
                  <a:cubicBezTo>
                    <a:pt x="4293782" y="5673497"/>
                    <a:pt x="4458191" y="5571353"/>
                    <a:pt x="4620639" y="5459364"/>
                  </a:cubicBezTo>
                  <a:cubicBezTo>
                    <a:pt x="4661221" y="5431455"/>
                    <a:pt x="4701557" y="5402271"/>
                    <a:pt x="4741771" y="5372971"/>
                  </a:cubicBezTo>
                  <a:cubicBezTo>
                    <a:pt x="4782230" y="5343672"/>
                    <a:pt x="4822566" y="5313908"/>
                    <a:pt x="4862901" y="5283682"/>
                  </a:cubicBezTo>
                  <a:lnTo>
                    <a:pt x="5108229" y="5098386"/>
                  </a:lnTo>
                  <a:cubicBezTo>
                    <a:pt x="5276563" y="4972270"/>
                    <a:pt x="5446489" y="4854838"/>
                    <a:pt x="5612493" y="4739724"/>
                  </a:cubicBezTo>
                  <a:lnTo>
                    <a:pt x="5774333" y="4623488"/>
                  </a:lnTo>
                  <a:lnTo>
                    <a:pt x="5774333" y="5232926"/>
                  </a:lnTo>
                  <a:lnTo>
                    <a:pt x="5676492" y="5306859"/>
                  </a:lnTo>
                  <a:cubicBezTo>
                    <a:pt x="5592693" y="5367905"/>
                    <a:pt x="5508955" y="5427286"/>
                    <a:pt x="5426260" y="5486233"/>
                  </a:cubicBezTo>
                  <a:lnTo>
                    <a:pt x="5300225" y="5576217"/>
                  </a:lnTo>
                  <a:cubicBezTo>
                    <a:pt x="5257559" y="5606443"/>
                    <a:pt x="5214525" y="5636901"/>
                    <a:pt x="5170757" y="5666780"/>
                  </a:cubicBezTo>
                  <a:cubicBezTo>
                    <a:pt x="5127110" y="5696775"/>
                    <a:pt x="5082973" y="5726654"/>
                    <a:pt x="5038100" y="5756185"/>
                  </a:cubicBezTo>
                  <a:cubicBezTo>
                    <a:pt x="4993106" y="5785486"/>
                    <a:pt x="4947743" y="5814553"/>
                    <a:pt x="4901276" y="5843043"/>
                  </a:cubicBezTo>
                  <a:cubicBezTo>
                    <a:pt x="4808835" y="5900136"/>
                    <a:pt x="4713449" y="5955494"/>
                    <a:pt x="4614019" y="6006103"/>
                  </a:cubicBezTo>
                  <a:cubicBezTo>
                    <a:pt x="4514711" y="6056943"/>
                    <a:pt x="4411971" y="6104192"/>
                    <a:pt x="4305061" y="6144726"/>
                  </a:cubicBezTo>
                  <a:cubicBezTo>
                    <a:pt x="4092223" y="6226952"/>
                    <a:pt x="3863569" y="6282424"/>
                    <a:pt x="3632710" y="6304196"/>
                  </a:cubicBezTo>
                  <a:cubicBezTo>
                    <a:pt x="3574964" y="6309408"/>
                    <a:pt x="3517218" y="6313345"/>
                    <a:pt x="3459594" y="6314504"/>
                  </a:cubicBezTo>
                  <a:lnTo>
                    <a:pt x="3416315" y="6315429"/>
                  </a:lnTo>
                  <a:cubicBezTo>
                    <a:pt x="3401971" y="6315546"/>
                    <a:pt x="3387505" y="6315198"/>
                    <a:pt x="3373159" y="6315198"/>
                  </a:cubicBezTo>
                  <a:lnTo>
                    <a:pt x="3330127" y="6314735"/>
                  </a:lnTo>
                  <a:lnTo>
                    <a:pt x="3288320" y="6313230"/>
                  </a:lnTo>
                  <a:cubicBezTo>
                    <a:pt x="3176996" y="6309870"/>
                    <a:pt x="3065428" y="6301533"/>
                    <a:pt x="2954350" y="6288098"/>
                  </a:cubicBezTo>
                  <a:cubicBezTo>
                    <a:pt x="2843150" y="6275360"/>
                    <a:pt x="2732194" y="6257061"/>
                    <a:pt x="2622466" y="6232742"/>
                  </a:cubicBezTo>
                  <a:cubicBezTo>
                    <a:pt x="2512859" y="6208190"/>
                    <a:pt x="2404110" y="6179122"/>
                    <a:pt x="2296466" y="6146001"/>
                  </a:cubicBezTo>
                  <a:cubicBezTo>
                    <a:pt x="2081544" y="6079179"/>
                    <a:pt x="1869073" y="5996027"/>
                    <a:pt x="1672419" y="5885197"/>
                  </a:cubicBezTo>
                  <a:cubicBezTo>
                    <a:pt x="1475643" y="5774599"/>
                    <a:pt x="1299954" y="5634353"/>
                    <a:pt x="1146578" y="5479168"/>
                  </a:cubicBezTo>
                  <a:cubicBezTo>
                    <a:pt x="1069461" y="5401692"/>
                    <a:pt x="999333" y="5319235"/>
                    <a:pt x="933372" y="5234810"/>
                  </a:cubicBezTo>
                  <a:cubicBezTo>
                    <a:pt x="867781" y="5150038"/>
                    <a:pt x="805375" y="5063991"/>
                    <a:pt x="747140" y="4976091"/>
                  </a:cubicBezTo>
                  <a:cubicBezTo>
                    <a:pt x="732182" y="4954319"/>
                    <a:pt x="718082" y="4932199"/>
                    <a:pt x="703616" y="4910196"/>
                  </a:cubicBezTo>
                  <a:lnTo>
                    <a:pt x="662053" y="4846269"/>
                  </a:lnTo>
                  <a:cubicBezTo>
                    <a:pt x="635449" y="4804925"/>
                    <a:pt x="607864" y="4763928"/>
                    <a:pt x="580033" y="4722352"/>
                  </a:cubicBezTo>
                  <a:lnTo>
                    <a:pt x="410105" y="4469193"/>
                  </a:lnTo>
                  <a:cubicBezTo>
                    <a:pt x="353095" y="4382915"/>
                    <a:pt x="296820" y="4294089"/>
                    <a:pt x="244224" y="4201556"/>
                  </a:cubicBezTo>
                  <a:cubicBezTo>
                    <a:pt x="217987" y="4155232"/>
                    <a:pt x="192609" y="4108098"/>
                    <a:pt x="169437" y="4059690"/>
                  </a:cubicBezTo>
                  <a:cubicBezTo>
                    <a:pt x="146388" y="4011165"/>
                    <a:pt x="124932" y="3961715"/>
                    <a:pt x="105929" y="3911221"/>
                  </a:cubicBezTo>
                  <a:cubicBezTo>
                    <a:pt x="87293" y="3860613"/>
                    <a:pt x="70742" y="3809309"/>
                    <a:pt x="57256" y="3757195"/>
                  </a:cubicBezTo>
                  <a:cubicBezTo>
                    <a:pt x="50881" y="3731138"/>
                    <a:pt x="44383" y="3704965"/>
                    <a:pt x="39111" y="3678677"/>
                  </a:cubicBezTo>
                  <a:lnTo>
                    <a:pt x="31142" y="3639300"/>
                  </a:lnTo>
                  <a:lnTo>
                    <a:pt x="24521" y="3599809"/>
                  </a:lnTo>
                  <a:cubicBezTo>
                    <a:pt x="7234" y="3494423"/>
                    <a:pt x="0" y="3388457"/>
                    <a:pt x="0" y="3283418"/>
                  </a:cubicBezTo>
                  <a:cubicBezTo>
                    <a:pt x="491" y="3076698"/>
                    <a:pt x="23418" y="2869978"/>
                    <a:pt x="68045" y="2666963"/>
                  </a:cubicBezTo>
                  <a:cubicBezTo>
                    <a:pt x="112550" y="2464064"/>
                    <a:pt x="180717" y="2265104"/>
                    <a:pt x="272546" y="2076334"/>
                  </a:cubicBezTo>
                  <a:cubicBezTo>
                    <a:pt x="457062" y="1698794"/>
                    <a:pt x="724457" y="1360978"/>
                    <a:pt x="1039300" y="1073307"/>
                  </a:cubicBezTo>
                  <a:cubicBezTo>
                    <a:pt x="1197090" y="929472"/>
                    <a:pt x="1367630" y="798259"/>
                    <a:pt x="1547733" y="680365"/>
                  </a:cubicBezTo>
                  <a:cubicBezTo>
                    <a:pt x="1728081" y="562587"/>
                    <a:pt x="1917870" y="457663"/>
                    <a:pt x="2115995" y="368373"/>
                  </a:cubicBezTo>
                  <a:cubicBezTo>
                    <a:pt x="2512737" y="191070"/>
                    <a:pt x="2939883" y="73870"/>
                    <a:pt x="3377451" y="24304"/>
                  </a:cubicBezTo>
                  <a:cubicBezTo>
                    <a:pt x="3486812" y="12086"/>
                    <a:pt x="3596971" y="4500"/>
                    <a:pt x="3707237" y="148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EC18CE1F-9DF1-47AF-9E66-6CE348AC2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464911 h 6229400"/>
                <a:gd name="connsiteX4" fmla="*/ 5660063 w 5769111"/>
                <a:gd name="connsiteY4" fmla="*/ 1328105 h 6229400"/>
                <a:gd name="connsiteX5" fmla="*/ 4910471 w 5769111"/>
                <a:gd name="connsiteY5" fmla="*/ 781599 h 6229400"/>
                <a:gd name="connsiteX6" fmla="*/ 3882695 w 5769111"/>
                <a:gd name="connsiteY6" fmla="*/ 579048 h 6229400"/>
                <a:gd name="connsiteX7" fmla="*/ 2683153 w 5769111"/>
                <a:gd name="connsiteY7" fmla="*/ 797003 h 6229400"/>
                <a:gd name="connsiteX8" fmla="*/ 1617493 w 5769111"/>
                <a:gd name="connsiteY8" fmla="*/ 1395738 h 6229400"/>
                <a:gd name="connsiteX9" fmla="*/ 880408 w 5769111"/>
                <a:gd name="connsiteY9" fmla="*/ 2259099 h 6229400"/>
                <a:gd name="connsiteX10" fmla="*/ 613135 w 5769111"/>
                <a:gd name="connsiteY10" fmla="*/ 3263863 h 6229400"/>
                <a:gd name="connsiteX11" fmla="*/ 1055484 w 5769111"/>
                <a:gd name="connsiteY11" fmla="*/ 4196825 h 6229400"/>
                <a:gd name="connsiteX12" fmla="*/ 1278376 w 5769111"/>
                <a:gd name="connsiteY12" fmla="*/ 4492950 h 6229400"/>
                <a:gd name="connsiteX13" fmla="*/ 3369851 w 5769111"/>
                <a:gd name="connsiteY13" fmla="*/ 5650468 h 6229400"/>
                <a:gd name="connsiteX14" fmla="*/ 4957551 w 5769111"/>
                <a:gd name="connsiteY14" fmla="*/ 4938355 h 6229400"/>
                <a:gd name="connsiteX15" fmla="*/ 5150773 w 5769111"/>
                <a:gd name="connsiteY15" fmla="*/ 4796950 h 6229400"/>
                <a:gd name="connsiteX16" fmla="*/ 5747247 w 5769111"/>
                <a:gd name="connsiteY16" fmla="*/ 4338176 h 6229400"/>
                <a:gd name="connsiteX17" fmla="*/ 5769111 w 5769111"/>
                <a:gd name="connsiteY17" fmla="*/ 4318497 h 6229400"/>
                <a:gd name="connsiteX18" fmla="*/ 5769111 w 5769111"/>
                <a:gd name="connsiteY18" fmla="*/ 5074612 h 6229400"/>
                <a:gd name="connsiteX19" fmla="*/ 5636252 w 5769111"/>
                <a:gd name="connsiteY19" fmla="*/ 5174208 h 6229400"/>
                <a:gd name="connsiteX20" fmla="*/ 5334922 w 5769111"/>
                <a:gd name="connsiteY20" fmla="*/ 5394528 h 6229400"/>
                <a:gd name="connsiteX21" fmla="*/ 3369727 w 5769111"/>
                <a:gd name="connsiteY21" fmla="*/ 6229400 h 6229400"/>
                <a:gd name="connsiteX22" fmla="*/ 771046 w 5769111"/>
                <a:gd name="connsiteY22" fmla="*/ 4817913 h 6229400"/>
                <a:gd name="connsiteX23" fmla="*/ 0 w 5769111"/>
                <a:gd name="connsiteY23" fmla="*/ 3263748 h 6229400"/>
                <a:gd name="connsiteX24" fmla="*/ 3882695 w 5769111"/>
                <a:gd name="connsiteY24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464911"/>
                  </a:lnTo>
                  <a:lnTo>
                    <a:pt x="5660063" y="1328105"/>
                  </a:lnTo>
                  <a:cubicBezTo>
                    <a:pt x="5449800" y="1091506"/>
                    <a:pt x="5197607" y="907600"/>
                    <a:pt x="4910471" y="781599"/>
                  </a:cubicBezTo>
                  <a:cubicBezTo>
                    <a:pt x="4604088" y="647260"/>
                    <a:pt x="4258349" y="579048"/>
                    <a:pt x="3882695" y="579048"/>
                  </a:cubicBezTo>
                  <a:cubicBezTo>
                    <a:pt x="3484238" y="579048"/>
                    <a:pt x="3080631" y="652240"/>
                    <a:pt x="2683153" y="797003"/>
                  </a:cubicBezTo>
                  <a:cubicBezTo>
                    <a:pt x="2296098" y="937595"/>
                    <a:pt x="1927678" y="1144662"/>
                    <a:pt x="1617493" y="1395738"/>
                  </a:cubicBezTo>
                  <a:cubicBezTo>
                    <a:pt x="1301915" y="1651098"/>
                    <a:pt x="1053890" y="1941665"/>
                    <a:pt x="880408" y="2259099"/>
                  </a:cubicBezTo>
                  <a:cubicBezTo>
                    <a:pt x="703125" y="2583597"/>
                    <a:pt x="613135" y="2921645"/>
                    <a:pt x="613135" y="3263863"/>
                  </a:cubicBezTo>
                  <a:cubicBezTo>
                    <a:pt x="613135" y="3608512"/>
                    <a:pt x="756702" y="3809789"/>
                    <a:pt x="1055484" y="4196825"/>
                  </a:cubicBezTo>
                  <a:cubicBezTo>
                    <a:pt x="1127574" y="4290167"/>
                    <a:pt x="1202116" y="4386753"/>
                    <a:pt x="1278376" y="4492950"/>
                  </a:cubicBezTo>
                  <a:cubicBezTo>
                    <a:pt x="1861105" y="5304313"/>
                    <a:pt x="2486623" y="5650468"/>
                    <a:pt x="3369851" y="5650468"/>
                  </a:cubicBezTo>
                  <a:cubicBezTo>
                    <a:pt x="3949515" y="5650468"/>
                    <a:pt x="4374822" y="5368471"/>
                    <a:pt x="4957551" y="4938355"/>
                  </a:cubicBezTo>
                  <a:cubicBezTo>
                    <a:pt x="5022653" y="4890293"/>
                    <a:pt x="5087755" y="4842811"/>
                    <a:pt x="5150773" y="4796950"/>
                  </a:cubicBezTo>
                  <a:cubicBezTo>
                    <a:pt x="5364254" y="4641404"/>
                    <a:pt x="5570313" y="4491241"/>
                    <a:pt x="5747247" y="4338176"/>
                  </a:cubicBezTo>
                  <a:lnTo>
                    <a:pt x="5769111" y="4318497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5BD26A8C-8D1D-41E6-A71E-FE9AC75F3F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675390 h 6229400"/>
                <a:gd name="connsiteX4" fmla="*/ 5711488 w 5769111"/>
                <a:gd name="connsiteY4" fmla="*/ 1585205 h 6229400"/>
                <a:gd name="connsiteX5" fmla="*/ 5566027 w 5769111"/>
                <a:gd name="connsiteY5" fmla="*/ 1402571 h 6229400"/>
                <a:gd name="connsiteX6" fmla="*/ 4858734 w 5769111"/>
                <a:gd name="connsiteY6" fmla="*/ 886639 h 6229400"/>
                <a:gd name="connsiteX7" fmla="*/ 3882695 w 5769111"/>
                <a:gd name="connsiteY7" fmla="*/ 694858 h 6229400"/>
                <a:gd name="connsiteX8" fmla="*/ 2727046 w 5769111"/>
                <a:gd name="connsiteY8" fmla="*/ 905053 h 6229400"/>
                <a:gd name="connsiteX9" fmla="*/ 1697186 w 5769111"/>
                <a:gd name="connsiteY9" fmla="*/ 1483638 h 6229400"/>
                <a:gd name="connsiteX10" fmla="*/ 989279 w 5769111"/>
                <a:gd name="connsiteY10" fmla="*/ 2312139 h 6229400"/>
                <a:gd name="connsiteX11" fmla="*/ 735615 w 5769111"/>
                <a:gd name="connsiteY11" fmla="*/ 3263863 h 6229400"/>
                <a:gd name="connsiteX12" fmla="*/ 1154424 w 5769111"/>
                <a:gd name="connsiteY12" fmla="*/ 4128614 h 6229400"/>
                <a:gd name="connsiteX13" fmla="*/ 1379768 w 5769111"/>
                <a:gd name="connsiteY13" fmla="*/ 4427981 h 6229400"/>
                <a:gd name="connsiteX14" fmla="*/ 2239456 w 5769111"/>
                <a:gd name="connsiteY14" fmla="*/ 5256947 h 6229400"/>
                <a:gd name="connsiteX15" fmla="*/ 3369727 w 5769111"/>
                <a:gd name="connsiteY15" fmla="*/ 5534658 h 6229400"/>
                <a:gd name="connsiteX16" fmla="*/ 4096760 w 5769111"/>
                <a:gd name="connsiteY16" fmla="*/ 5357817 h 6229400"/>
                <a:gd name="connsiteX17" fmla="*/ 4881905 w 5769111"/>
                <a:gd name="connsiteY17" fmla="*/ 4847212 h 6229400"/>
                <a:gd name="connsiteX18" fmla="*/ 5075739 w 5769111"/>
                <a:gd name="connsiteY18" fmla="*/ 4705346 h 6229400"/>
                <a:gd name="connsiteX19" fmla="*/ 5759930 w 5769111"/>
                <a:gd name="connsiteY19" fmla="*/ 4166809 h 6229400"/>
                <a:gd name="connsiteX20" fmla="*/ 5769111 w 5769111"/>
                <a:gd name="connsiteY20" fmla="*/ 4157764 h 6229400"/>
                <a:gd name="connsiteX21" fmla="*/ 5769111 w 5769111"/>
                <a:gd name="connsiteY21" fmla="*/ 5074612 h 6229400"/>
                <a:gd name="connsiteX22" fmla="*/ 5636252 w 5769111"/>
                <a:gd name="connsiteY22" fmla="*/ 5174208 h 6229400"/>
                <a:gd name="connsiteX23" fmla="*/ 5334922 w 5769111"/>
                <a:gd name="connsiteY23" fmla="*/ 5394528 h 6229400"/>
                <a:gd name="connsiteX24" fmla="*/ 3369727 w 5769111"/>
                <a:gd name="connsiteY24" fmla="*/ 6229400 h 6229400"/>
                <a:gd name="connsiteX25" fmla="*/ 771046 w 5769111"/>
                <a:gd name="connsiteY25" fmla="*/ 4817913 h 6229400"/>
                <a:gd name="connsiteX26" fmla="*/ 0 w 5769111"/>
                <a:gd name="connsiteY26" fmla="*/ 3263748 h 6229400"/>
                <a:gd name="connsiteX27" fmla="*/ 3882695 w 5769111"/>
                <a:gd name="connsiteY27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675390"/>
                  </a:lnTo>
                  <a:lnTo>
                    <a:pt x="5711488" y="1585205"/>
                  </a:lnTo>
                  <a:cubicBezTo>
                    <a:pt x="5665942" y="1521390"/>
                    <a:pt x="5617428" y="1460432"/>
                    <a:pt x="5566027" y="1402571"/>
                  </a:cubicBezTo>
                  <a:cubicBezTo>
                    <a:pt x="5367411" y="1179058"/>
                    <a:pt x="5129563" y="1005460"/>
                    <a:pt x="4858734" y="886639"/>
                  </a:cubicBezTo>
                  <a:cubicBezTo>
                    <a:pt x="4568779" y="759363"/>
                    <a:pt x="4240327" y="694858"/>
                    <a:pt x="3882695" y="694858"/>
                  </a:cubicBezTo>
                  <a:cubicBezTo>
                    <a:pt x="3504835" y="694858"/>
                    <a:pt x="3105151" y="767471"/>
                    <a:pt x="2727046" y="905053"/>
                  </a:cubicBezTo>
                  <a:cubicBezTo>
                    <a:pt x="2352985" y="1041013"/>
                    <a:pt x="1996826" y="1241132"/>
                    <a:pt x="1697186" y="1483638"/>
                  </a:cubicBezTo>
                  <a:cubicBezTo>
                    <a:pt x="1397913" y="1725796"/>
                    <a:pt x="1153199" y="2012308"/>
                    <a:pt x="989279" y="2312139"/>
                  </a:cubicBezTo>
                  <a:cubicBezTo>
                    <a:pt x="820946" y="2620077"/>
                    <a:pt x="735615" y="2940290"/>
                    <a:pt x="735615" y="3263863"/>
                  </a:cubicBezTo>
                  <a:cubicBezTo>
                    <a:pt x="735615" y="3573074"/>
                    <a:pt x="863980" y="3752464"/>
                    <a:pt x="1154424" y="4128614"/>
                  </a:cubicBezTo>
                  <a:cubicBezTo>
                    <a:pt x="1227127" y="4222767"/>
                    <a:pt x="1302282" y="4320162"/>
                    <a:pt x="1379768" y="4427981"/>
                  </a:cubicBezTo>
                  <a:cubicBezTo>
                    <a:pt x="1653784" y="4809458"/>
                    <a:pt x="1934912" y="5080685"/>
                    <a:pt x="2239456" y="5256947"/>
                  </a:cubicBezTo>
                  <a:cubicBezTo>
                    <a:pt x="2562268" y="5443863"/>
                    <a:pt x="2932037" y="5534658"/>
                    <a:pt x="3369727" y="5534658"/>
                  </a:cubicBezTo>
                  <a:cubicBezTo>
                    <a:pt x="3618120" y="5534658"/>
                    <a:pt x="3849103" y="5478491"/>
                    <a:pt x="4096760" y="5357817"/>
                  </a:cubicBezTo>
                  <a:cubicBezTo>
                    <a:pt x="4351037" y="5233901"/>
                    <a:pt x="4602740" y="5053238"/>
                    <a:pt x="4881905" y="4847212"/>
                  </a:cubicBezTo>
                  <a:cubicBezTo>
                    <a:pt x="4947375" y="4798920"/>
                    <a:pt x="5012599" y="4751322"/>
                    <a:pt x="5075739" y="4705346"/>
                  </a:cubicBezTo>
                  <a:cubicBezTo>
                    <a:pt x="5327320" y="4521990"/>
                    <a:pt x="5568418" y="4346256"/>
                    <a:pt x="5759930" y="4166809"/>
                  </a:cubicBezTo>
                  <a:lnTo>
                    <a:pt x="5769111" y="4157764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7F40EAE7-D1F2-8B61-BE76-7374A424FE8A}"/>
              </a:ext>
            </a:extLst>
          </p:cNvPr>
          <p:cNvSpPr txBox="1"/>
          <p:nvPr/>
        </p:nvSpPr>
        <p:spPr>
          <a:xfrm>
            <a:off x="6026727" y="1220932"/>
            <a:ext cx="2768436" cy="256993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300" b="0" i="0" u="none" strike="noStrike" baseline="0">
                <a:solidFill>
                  <a:srgbClr val="1F497D"/>
                </a:solidFill>
                <a:latin typeface="Calibri"/>
                <a:ea typeface="Segoe UI"/>
                <a:cs typeface="Segoe UI"/>
              </a:rPr>
              <a:t>The controller applies three terms to eliminate this error: </a:t>
            </a:r>
            <a:endParaRPr lang="en-US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r>
              <a:rPr lang="en-US" sz="1300" b="0" i="0" u="none" strike="noStrike" baseline="0">
                <a:solidFill>
                  <a:srgbClr val="1F497D"/>
                </a:solidFill>
                <a:latin typeface="Calibri"/>
                <a:ea typeface="Segoe UI"/>
                <a:cs typeface="Segoe UI"/>
              </a:rPr>
              <a:t>* </a:t>
            </a:r>
            <a:r>
              <a:rPr lang="en-US" sz="1300" b="1" i="0" u="none" strike="noStrike" baseline="0">
                <a:solidFill>
                  <a:srgbClr val="1F497D"/>
                </a:solidFill>
                <a:latin typeface="Calibri"/>
                <a:ea typeface="Segoe UI"/>
                <a:cs typeface="Segoe UI"/>
              </a:rPr>
              <a:t>Proportional (P)</a:t>
            </a:r>
            <a:r>
              <a:rPr lang="en-US" sz="1300" b="0" i="0" u="none" strike="noStrike" baseline="0">
                <a:solidFill>
                  <a:srgbClr val="1F497D"/>
                </a:solidFill>
                <a:latin typeface="Calibri"/>
                <a:ea typeface="Segoe UI"/>
                <a:cs typeface="Segoe UI"/>
              </a:rPr>
              <a:t>: Corrects for the </a:t>
            </a:r>
            <a:r>
              <a:rPr lang="en-US" sz="1300" b="1" i="0" u="none" strike="noStrike" baseline="0">
                <a:solidFill>
                  <a:srgbClr val="1F497D"/>
                </a:solidFill>
                <a:latin typeface="Calibri"/>
                <a:ea typeface="Segoe UI"/>
                <a:cs typeface="Segoe UI"/>
              </a:rPr>
              <a:t>present</a:t>
            </a:r>
            <a:r>
              <a:rPr lang="en-US" sz="1300" b="0" i="0" u="none" strike="noStrike" baseline="0">
                <a:solidFill>
                  <a:srgbClr val="1F497D"/>
                </a:solidFill>
                <a:latin typeface="Calibri"/>
                <a:ea typeface="Segoe UI"/>
                <a:cs typeface="Segoe UI"/>
              </a:rPr>
              <a:t> error. </a:t>
            </a:r>
            <a:endParaRPr lang="en-US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endParaRPr lang="en-US" sz="1300" dirty="0">
              <a:solidFill>
                <a:srgbClr val="1F497D"/>
              </a:solidFill>
              <a:latin typeface="Calibri"/>
              <a:ea typeface="Segoe UI"/>
              <a:cs typeface="Segoe UI"/>
            </a:endParaRPr>
          </a:p>
          <a:p>
            <a:r>
              <a:rPr lang="en-US" sz="1300" b="0" i="0" u="none" strike="noStrike" baseline="0">
                <a:solidFill>
                  <a:srgbClr val="1F497D"/>
                </a:solidFill>
                <a:latin typeface="Calibri"/>
                <a:ea typeface="Segoe UI"/>
                <a:cs typeface="Segoe UI"/>
              </a:rPr>
              <a:t>* </a:t>
            </a:r>
            <a:r>
              <a:rPr lang="en-US" sz="1300" b="1" i="0" u="none" strike="noStrike" baseline="0">
                <a:solidFill>
                  <a:srgbClr val="1F497D"/>
                </a:solidFill>
                <a:latin typeface="Calibri"/>
                <a:ea typeface="Segoe UI"/>
                <a:cs typeface="Segoe UI"/>
              </a:rPr>
              <a:t>Integral (I)</a:t>
            </a:r>
            <a:r>
              <a:rPr lang="en-US" sz="1300" b="0" i="0" u="none" strike="noStrike" baseline="0">
                <a:solidFill>
                  <a:srgbClr val="1F497D"/>
                </a:solidFill>
                <a:latin typeface="Calibri"/>
                <a:ea typeface="Segoe UI"/>
                <a:cs typeface="Segoe UI"/>
              </a:rPr>
              <a:t>: Corrects for the accumulation of </a:t>
            </a:r>
            <a:r>
              <a:rPr lang="en-US" sz="1300" b="1" i="0" u="none" strike="noStrike" baseline="0">
                <a:solidFill>
                  <a:srgbClr val="1F497D"/>
                </a:solidFill>
                <a:latin typeface="Calibri"/>
                <a:ea typeface="Segoe UI"/>
                <a:cs typeface="Segoe UI"/>
              </a:rPr>
              <a:t>past</a:t>
            </a:r>
            <a:r>
              <a:rPr lang="en-US" sz="1300" b="0" i="0" u="none" strike="noStrike" baseline="0">
                <a:solidFill>
                  <a:srgbClr val="1F497D"/>
                </a:solidFill>
                <a:latin typeface="Calibri"/>
                <a:ea typeface="Segoe UI"/>
                <a:cs typeface="Segoe UI"/>
              </a:rPr>
              <a:t> errors. </a:t>
            </a:r>
            <a:endParaRPr lang="en-US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endParaRPr lang="en-US" sz="1300" dirty="0">
              <a:solidFill>
                <a:srgbClr val="1F497D"/>
              </a:solidFill>
              <a:latin typeface="Calibri"/>
              <a:ea typeface="Segoe UI"/>
              <a:cs typeface="Segoe UI"/>
            </a:endParaRPr>
          </a:p>
          <a:p>
            <a:r>
              <a:rPr lang="en-US" sz="1300" b="0" i="0" u="none" strike="noStrike" baseline="0">
                <a:solidFill>
                  <a:srgbClr val="1F497D"/>
                </a:solidFill>
                <a:latin typeface="Calibri"/>
                <a:ea typeface="Segoe UI"/>
                <a:cs typeface="Segoe UI"/>
              </a:rPr>
              <a:t>* </a:t>
            </a:r>
            <a:r>
              <a:rPr lang="en-US" sz="1300" b="1" i="0" u="none" strike="noStrike" baseline="0">
                <a:solidFill>
                  <a:srgbClr val="1F497D"/>
                </a:solidFill>
                <a:latin typeface="Calibri"/>
                <a:ea typeface="Segoe UI"/>
                <a:cs typeface="Segoe UI"/>
              </a:rPr>
              <a:t>Derivative (D)</a:t>
            </a:r>
            <a:r>
              <a:rPr lang="en-US" sz="1300" b="0" i="0" u="none" strike="noStrike" baseline="0">
                <a:solidFill>
                  <a:srgbClr val="1F497D"/>
                </a:solidFill>
                <a:latin typeface="Calibri"/>
                <a:ea typeface="Segoe UI"/>
                <a:cs typeface="Segoe UI"/>
              </a:rPr>
              <a:t>: Predicts </a:t>
            </a:r>
            <a:r>
              <a:rPr lang="en-US" sz="1300" b="1" i="0" u="none" strike="noStrike" baseline="0">
                <a:solidFill>
                  <a:srgbClr val="1F497D"/>
                </a:solidFill>
                <a:latin typeface="Calibri"/>
                <a:ea typeface="Segoe UI"/>
                <a:cs typeface="Segoe UI"/>
              </a:rPr>
              <a:t>future</a:t>
            </a:r>
            <a:r>
              <a:rPr lang="en-US" sz="1300" b="0" i="0" u="none" strike="noStrike" baseline="0" dirty="0">
                <a:solidFill>
                  <a:srgbClr val="1F497D"/>
                </a:solidFill>
                <a:latin typeface="Calibri"/>
                <a:ea typeface="Segoe UI"/>
                <a:cs typeface="Segoe UI"/>
              </a:rPr>
              <a:t> </a:t>
            </a:r>
            <a:r>
              <a:rPr lang="en-US" sz="1300" b="0" i="0" u="none" strike="noStrike" baseline="0">
                <a:solidFill>
                  <a:srgbClr val="1F497D"/>
                </a:solidFill>
                <a:latin typeface="Calibri"/>
                <a:ea typeface="Segoe UI"/>
                <a:cs typeface="Segoe UI"/>
              </a:rPr>
              <a:t>errors based on the current rate of change.</a:t>
            </a:r>
            <a:endParaRPr lang="en-US">
              <a:ea typeface="Calibri"/>
              <a:cs typeface="Calibri"/>
            </a:endParaRPr>
          </a:p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1435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3672" y="-6125"/>
            <a:ext cx="3625552" cy="1866112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02164" y="479961"/>
            <a:ext cx="6572333" cy="1378012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2700">
                <a:solidFill>
                  <a:schemeClr val="tx2"/>
                </a:solidFill>
              </a:rPr>
              <a:t>The Three Pillars of Autonomic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7809" y="1537180"/>
            <a:ext cx="4282290" cy="1823148"/>
          </a:xfrm>
        </p:spPr>
        <p:txBody>
          <a:bodyPr anchor="t">
            <a:normAutofit/>
          </a:bodyPr>
          <a:lstStyle/>
          <a:p>
            <a:pPr marL="0" lvl="0" indent="0">
              <a:lnSpc>
                <a:spcPct val="90000"/>
              </a:lnSpc>
              <a:buNone/>
            </a:pPr>
            <a:r>
              <a:rPr lang="en-US" sz="1300">
                <a:solidFill>
                  <a:schemeClr val="tx2"/>
                </a:solidFill>
              </a:rPr>
              <a:t>To achieve absolute resilience, we merged three distinct engineering layers: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6793706" y="3109732"/>
            <a:ext cx="2356800" cy="2037604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4" name="Graphic 3">
            <a:extLst>
              <a:ext uri="{FF2B5EF4-FFF2-40B4-BE49-F238E27FC236}">
                <a16:creationId xmlns:a16="http://schemas.microsoft.com/office/drawing/2014/main" id="{EFD58721-34C2-BBE0-3C5C-7A09ADE20F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56303" y="2115434"/>
            <a:ext cx="914400" cy="9144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44287DA4-54CF-8C23-467A-7E2817ADC3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2095" y="2112252"/>
            <a:ext cx="914400" cy="9144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8405C421-0B60-BAC5-6868-3C86202A03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35061" y="2112253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0A125C0-EADE-72C8-99DB-5EA24ECDB07D}"/>
              </a:ext>
            </a:extLst>
          </p:cNvPr>
          <p:cNvSpPr txBox="1"/>
          <p:nvPr/>
        </p:nvSpPr>
        <p:spPr>
          <a:xfrm>
            <a:off x="1380152" y="3030505"/>
            <a:ext cx="1815584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800" b="0" i="0" u="none" strike="noStrike" baseline="0">
                <a:solidFill>
                  <a:schemeClr val="tx2"/>
                </a:solidFill>
                <a:latin typeface="Calibri"/>
                <a:ea typeface="Arial"/>
                <a:cs typeface="Arial"/>
              </a:rPr>
              <a:t>The Execution Layer:</a:t>
            </a:r>
            <a:endParaRPr lang="en-US">
              <a:solidFill>
                <a:schemeClr val="tx2"/>
              </a:solidFill>
              <a:latin typeface="Calibri"/>
              <a:ea typeface="Calibri"/>
              <a:cs typeface="Calibri"/>
            </a:endParaRPr>
          </a:p>
          <a:p>
            <a:r>
              <a:rPr lang="en-US" sz="1800" b="0" i="0" u="none" strike="noStrike" baseline="0">
                <a:solidFill>
                  <a:schemeClr val="tx2"/>
                </a:solidFill>
                <a:latin typeface="Calibri"/>
                <a:ea typeface="Arial"/>
                <a:cs typeface="Arial"/>
              </a:rPr>
              <a:t>A decoupled Go worker pool with token-based thread lifecycles.​</a:t>
            </a:r>
            <a:endParaRPr lang="en-US">
              <a:solidFill>
                <a:schemeClr val="tx2"/>
              </a:solidFill>
              <a:ea typeface="Calibri"/>
              <a:cs typeface="Calibri"/>
            </a:endParaRPr>
          </a:p>
          <a:p>
            <a:pPr algn="ctr"/>
            <a:endParaRPr lang="en-US" dirty="0">
              <a:solidFill>
                <a:schemeClr val="tx2"/>
              </a:solidFill>
              <a:ea typeface="Calibri"/>
              <a:cs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428752-3B76-3B5D-5174-3C844D6A9961}"/>
              </a:ext>
            </a:extLst>
          </p:cNvPr>
          <p:cNvSpPr txBox="1"/>
          <p:nvPr/>
        </p:nvSpPr>
        <p:spPr>
          <a:xfrm>
            <a:off x="3712808" y="3030504"/>
            <a:ext cx="2126599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800" b="0" i="0" u="none" strike="noStrike" baseline="0">
                <a:solidFill>
                  <a:schemeClr val="tx2"/>
                </a:solidFill>
                <a:latin typeface="Calibri"/>
                <a:ea typeface="Arial"/>
                <a:cs typeface="Arial"/>
              </a:rPr>
              <a:t>The Reactive Layer (PID): </a:t>
            </a:r>
            <a:endParaRPr lang="en-US">
              <a:solidFill>
                <a:schemeClr val="tx2"/>
              </a:solidFill>
              <a:latin typeface="Calibri"/>
              <a:ea typeface="Calibri"/>
              <a:cs typeface="Calibri"/>
            </a:endParaRPr>
          </a:p>
          <a:p>
            <a:r>
              <a:rPr lang="en-US" sz="1800" b="0" i="0" u="none" strike="noStrike" baseline="0">
                <a:solidFill>
                  <a:schemeClr val="tx2"/>
                </a:solidFill>
                <a:latin typeface="Calibri"/>
                <a:ea typeface="Arial"/>
                <a:cs typeface="Arial"/>
              </a:rPr>
              <a:t>Microsecond backpressure reflexes to handle momentary network spikes.​</a:t>
            </a:r>
            <a:endParaRPr lang="en-US">
              <a:solidFill>
                <a:schemeClr val="tx2"/>
              </a:solidFill>
              <a:ea typeface="Calibri"/>
              <a:cs typeface="Calibri"/>
            </a:endParaRPr>
          </a:p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C570EB-5C40-AC87-5140-DB200B48F209}"/>
              </a:ext>
            </a:extLst>
          </p:cNvPr>
          <p:cNvSpPr txBox="1"/>
          <p:nvPr/>
        </p:nvSpPr>
        <p:spPr>
          <a:xfrm>
            <a:off x="6018245" y="3030505"/>
            <a:ext cx="2352091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800" b="0" i="0" u="none" strike="noStrike" baseline="0">
                <a:solidFill>
                  <a:schemeClr val="tx2"/>
                </a:solidFill>
                <a:latin typeface="Calibri"/>
                <a:ea typeface="Arial"/>
                <a:cs typeface="Arial"/>
              </a:rPr>
              <a:t>The Strategic Layer (GA): </a:t>
            </a:r>
            <a:endParaRPr lang="en-US">
              <a:solidFill>
                <a:schemeClr val="tx2"/>
              </a:solidFill>
              <a:latin typeface="Calibri"/>
              <a:ea typeface="Calibri"/>
              <a:cs typeface="Calibri"/>
            </a:endParaRPr>
          </a:p>
          <a:p>
            <a:r>
              <a:rPr lang="en-US" sz="1800" b="0" i="0" u="none" strike="noStrike" baseline="0">
                <a:solidFill>
                  <a:schemeClr val="tx2"/>
                </a:solidFill>
                <a:latin typeface="Calibri"/>
                <a:ea typeface="Arial"/>
                <a:cs typeface="Arial"/>
              </a:rPr>
              <a:t>A macro genetic loop managing structural DNA and system strategy.</a:t>
            </a:r>
            <a:endParaRPr lang="en-US">
              <a:solidFill>
                <a:schemeClr val="tx2"/>
              </a:solidFill>
              <a:ea typeface="Calibri"/>
              <a:cs typeface="Calibri"/>
            </a:endParaRPr>
          </a:p>
          <a:p>
            <a:pPr algn="ctr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61AEE4-4E38-4BAC-976D-E0DE523FC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0BC676B-D19A-44DB-910A-0C0E6D433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68323" y="2988"/>
            <a:ext cx="7329573" cy="51435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99AA485-A13F-4455-814E-C116AD7E0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C90D55F-0AFB-45E5-8815-A4701774CE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476B6C1-4A41-48E6-8540-FC48FCD76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347F445-D2CA-4FEB-AB8E-7A47AB57CD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2F1B3D8-301E-4A54-9284-EB14E9056B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E4B9C67-860A-4569-AC84-3ADE433D1C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175B763-A6E6-4AD1-9138-9B1164A7A8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75099" y="743445"/>
            <a:ext cx="4316022" cy="1378012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2700">
                <a:solidFill>
                  <a:schemeClr val="tx2"/>
                </a:solidFill>
              </a:rPr>
              <a:t>System Topology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7965" y="1822400"/>
            <a:ext cx="7221433" cy="1823148"/>
          </a:xfrm>
        </p:spPr>
        <p:txBody>
          <a:bodyPr vert="horz" lIns="91440" tIns="45720" rIns="91440" bIns="45720" rtlCol="0" anchor="t">
            <a:noAutofit/>
          </a:bodyPr>
          <a:lstStyle/>
          <a:p>
            <a:pPr lvl="0" indent="0">
              <a:lnSpc>
                <a:spcPct val="9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Courier"/>
              </a:rPr>
              <a:t>+-----------------------------------------------------------+
</a:t>
            </a:r>
            <a:r>
              <a:rPr lang="en-US" sz="1400">
                <a:solidFill>
                  <a:schemeClr val="tx2"/>
                </a:solidFill>
                <a:latin typeface="Courier"/>
              </a:rPr>
              <a:t>|                     Strategic Layer (GA)                  |</a:t>
            </a:r>
            <a:r>
              <a:rPr lang="en-US" sz="1400" dirty="0">
                <a:solidFill>
                  <a:schemeClr val="tx2"/>
                </a:solidFill>
                <a:latin typeface="Courier"/>
              </a:rPr>
              <a:t>
</a:t>
            </a:r>
            <a:r>
              <a:rPr lang="en-US" sz="1400">
                <a:solidFill>
                  <a:schemeClr val="tx2"/>
                </a:solidFill>
                <a:latin typeface="Courier"/>
              </a:rPr>
              <a:t>|          Evaluates Elite DNA &amp; Mutates System Constants   |</a:t>
            </a:r>
            <a:r>
              <a:rPr lang="en-US" sz="1400" dirty="0">
                <a:solidFill>
                  <a:schemeClr val="tx2"/>
                </a:solidFill>
                <a:latin typeface="Courier"/>
              </a:rPr>
              <a:t>
</a:t>
            </a:r>
            <a:r>
              <a:rPr lang="en-US" sz="1400">
                <a:solidFill>
                  <a:schemeClr val="tx2"/>
                </a:solidFill>
                <a:latin typeface="Courier"/>
              </a:rPr>
              <a:t>+-----------------------------+-----------------------------+</a:t>
            </a:r>
            <a:r>
              <a:rPr lang="en-US" sz="1400" dirty="0">
                <a:solidFill>
                  <a:schemeClr val="tx2"/>
                </a:solidFill>
                <a:latin typeface="Courier"/>
              </a:rPr>
              <a:t>
</a:t>
            </a:r>
            <a:r>
              <a:rPr lang="en-US" sz="1400">
                <a:solidFill>
                  <a:schemeClr val="tx2"/>
                </a:solidFill>
                <a:latin typeface="Courier"/>
              </a:rPr>
              <a:t>                              | Hot-Swap Variables</a:t>
            </a:r>
            <a:r>
              <a:rPr lang="en-US" sz="1400" dirty="0">
                <a:solidFill>
                  <a:schemeClr val="tx2"/>
                </a:solidFill>
                <a:latin typeface="Courier"/>
              </a:rPr>
              <a:t>
</a:t>
            </a:r>
            <a:r>
              <a:rPr lang="en-US" sz="1400">
                <a:solidFill>
                  <a:schemeClr val="tx2"/>
                </a:solidFill>
                <a:latin typeface="Courier"/>
              </a:rPr>
              <a:t>+-----------------------------v-----------------------------+</a:t>
            </a:r>
            <a:r>
              <a:rPr lang="en-US" sz="1400" dirty="0">
                <a:solidFill>
                  <a:schemeClr val="tx2"/>
                </a:solidFill>
                <a:latin typeface="Courier"/>
              </a:rPr>
              <a:t>
</a:t>
            </a:r>
            <a:r>
              <a:rPr lang="en-US" sz="1400">
                <a:solidFill>
                  <a:schemeClr val="tx2"/>
                </a:solidFill>
                <a:latin typeface="Courier"/>
              </a:rPr>
              <a:t>|                     Reactive Layer (PID)                  |</a:t>
            </a:r>
            <a:r>
              <a:rPr lang="en-US" sz="1400" dirty="0">
                <a:solidFill>
                  <a:schemeClr val="tx2"/>
                </a:solidFill>
                <a:latin typeface="Courier"/>
              </a:rPr>
              <a:t>
</a:t>
            </a:r>
            <a:r>
              <a:rPr lang="en-US" sz="1400">
                <a:solidFill>
                  <a:schemeClr val="tx2"/>
                </a:solidFill>
                <a:latin typeface="Courier"/>
              </a:rPr>
              <a:t>|         Computes Instant Backpressure Per Request         |</a:t>
            </a:r>
            <a:r>
              <a:rPr lang="en-US" sz="1400" dirty="0">
                <a:solidFill>
                  <a:schemeClr val="tx2"/>
                </a:solidFill>
                <a:latin typeface="Courier"/>
              </a:rPr>
              <a:t>
</a:t>
            </a:r>
            <a:r>
              <a:rPr lang="en-US" sz="1400">
                <a:solidFill>
                  <a:schemeClr val="tx2"/>
                </a:solidFill>
                <a:latin typeface="Courier"/>
              </a:rPr>
              <a:t>+-----------------------------+-----------------------------+</a:t>
            </a:r>
            <a:r>
              <a:rPr lang="en-US" sz="1400" dirty="0">
                <a:solidFill>
                  <a:schemeClr val="tx2"/>
                </a:solidFill>
                <a:latin typeface="Courier"/>
              </a:rPr>
              <a:t>
</a:t>
            </a:r>
            <a:r>
              <a:rPr lang="en-US" sz="1400">
                <a:solidFill>
                  <a:schemeClr val="tx2"/>
                </a:solidFill>
                <a:latin typeface="Courier"/>
              </a:rPr>
              <a:t>                              | Millisecond Pacing</a:t>
            </a:r>
            <a:r>
              <a:rPr lang="en-US" sz="1400" dirty="0">
                <a:solidFill>
                  <a:schemeClr val="tx2"/>
                </a:solidFill>
                <a:latin typeface="Courier"/>
              </a:rPr>
              <a:t>
</a:t>
            </a:r>
            <a:r>
              <a:rPr lang="en-US" sz="1400">
                <a:solidFill>
                  <a:schemeClr val="tx2"/>
                </a:solidFill>
                <a:latin typeface="Courier"/>
              </a:rPr>
              <a:t>+-----------------------------v-----------------------------+</a:t>
            </a:r>
            <a:r>
              <a:rPr lang="en-US" sz="1400" dirty="0">
                <a:solidFill>
                  <a:schemeClr val="tx2"/>
                </a:solidFill>
                <a:latin typeface="Courier"/>
              </a:rPr>
              <a:t>
</a:t>
            </a:r>
            <a:r>
              <a:rPr lang="en-US" sz="1400">
                <a:solidFill>
                  <a:schemeClr val="tx2"/>
                </a:solidFill>
                <a:latin typeface="Courier"/>
              </a:rPr>
              <a:t>|                     Execution Layer                       |</a:t>
            </a:r>
            <a:r>
              <a:rPr lang="en-US" sz="1400" dirty="0">
                <a:solidFill>
                  <a:schemeClr val="tx2"/>
                </a:solidFill>
                <a:latin typeface="Courier"/>
              </a:rPr>
              <a:t>
</a:t>
            </a:r>
            <a:r>
              <a:rPr lang="en-US" sz="1400">
                <a:solidFill>
                  <a:schemeClr val="tx2"/>
                </a:solidFill>
                <a:latin typeface="Courier"/>
              </a:rPr>
              <a:t>|      Decoupled Workers Fetching Text from Wikipedia       |</a:t>
            </a:r>
            <a:r>
              <a:rPr lang="en-US" sz="1400" dirty="0">
                <a:solidFill>
                  <a:schemeClr val="tx2"/>
                </a:solidFill>
                <a:latin typeface="Courier"/>
              </a:rPr>
              <a:t>
</a:t>
            </a:r>
            <a:r>
              <a:rPr lang="en-US" sz="1400">
                <a:solidFill>
                  <a:schemeClr val="tx2"/>
                </a:solidFill>
                <a:latin typeface="Courier"/>
              </a:rPr>
              <a:t>+-----------------------------------------------------------+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6397" y="381628"/>
            <a:ext cx="3913467" cy="4679746"/>
            <a:chOff x="-19221" y="251144"/>
            <a:chExt cx="5217958" cy="6239661"/>
          </a:xfrm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0060" y="932259"/>
            <a:ext cx="2891790" cy="327898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2700">
                <a:solidFill>
                  <a:schemeClr val="tx2"/>
                </a:solidFill>
              </a:rPr>
              <a:t>Pillar 1: Thread Lifecycle Control Plane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29150" y="603504"/>
            <a:ext cx="3915918" cy="392277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chemeClr val="tx2"/>
                </a:solidFill>
              </a:rPr>
              <a:t>To adjust scale smoothly without resource leaks, we use atomic Compare-and-Swap operations.</a:t>
            </a:r>
            <a:endParaRPr lang="en-US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140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 </a:t>
            </a:r>
            <a:r>
              <a:rPr lang="en-US" sz="1400">
                <a:solidFill>
                  <a:schemeClr val="tx2"/>
                </a:solidFill>
              </a:rPr>
              <a:t>Workers are assigned an immutable ID. If the target pool size shrinks below their ID, they drop out naturally.</a:t>
            </a:r>
            <a:endParaRPr lang="en-US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1400" dirty="0">
              <a:solidFill>
                <a:schemeClr val="tx2"/>
              </a:solidFill>
            </a:endParaRPr>
          </a:p>
          <a:p>
            <a:pPr marL="0" lvl="0" indent="0">
              <a:buNone/>
            </a:pPr>
            <a:r>
              <a:rPr lang="en-US" sz="1400">
                <a:solidFill>
                  <a:schemeClr val="tx2"/>
                </a:solidFill>
              </a:rPr>
              <a:t>No negative counts, no orphaned threads, and zero mutex contention during structural shifts.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61AEE4-4E38-4BAC-976D-E0DE523FC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D6F5BE4-0236-B12B-7B2F-C64ACC335A5D}"/>
              </a:ext>
            </a:extLst>
          </p:cNvPr>
          <p:cNvSpPr/>
          <p:nvPr/>
        </p:nvSpPr>
        <p:spPr>
          <a:xfrm>
            <a:off x="1847355" y="1453984"/>
            <a:ext cx="5449287" cy="2925782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0BC676B-D19A-44DB-910A-0C0E6D433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68323" y="2988"/>
            <a:ext cx="7329573" cy="51435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99AA485-A13F-4455-814E-C116AD7E0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C90D55F-0AFB-45E5-8815-A4701774CE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476B6C1-4A41-48E6-8540-FC48FCD76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347F445-D2CA-4FEB-AB8E-7A47AB57CD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2F1B3D8-301E-4A54-9284-EB14E9056B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E4B9C67-860A-4569-AC84-3ADE433D1C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175B763-A6E6-4AD1-9138-9B1164A7A8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75099" y="171945"/>
            <a:ext cx="4316022" cy="1378012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2700">
                <a:solidFill>
                  <a:schemeClr val="tx2"/>
                </a:solidFill>
              </a:rPr>
              <a:t>Control Plane Deployment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02504" y="1659291"/>
            <a:ext cx="5139540" cy="1823148"/>
          </a:xfrm>
        </p:spPr>
        <p:txBody>
          <a:bodyPr vert="horz" lIns="91440" tIns="45720" rIns="91440" bIns="45720" rtlCol="0" anchor="t">
            <a:noAutofit/>
          </a:bodyPr>
          <a:lstStyle/>
          <a:p>
            <a:pPr lvl="0" indent="0">
              <a:lnSpc>
                <a:spcPct val="9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Courier"/>
              </a:rPr>
              <a:t>// Inside our </a:t>
            </a:r>
            <a:r>
              <a:rPr lang="en-US" sz="1200" dirty="0" err="1">
                <a:solidFill>
                  <a:schemeClr val="tx2"/>
                </a:solidFill>
                <a:latin typeface="Courier"/>
              </a:rPr>
              <a:t>adjustWorkers</a:t>
            </a:r>
            <a:r>
              <a:rPr lang="en-US" sz="1200" dirty="0">
                <a:solidFill>
                  <a:schemeClr val="tx2"/>
                </a:solidFill>
                <a:latin typeface="Courier"/>
              </a:rPr>
              <a:t> loop
if current &lt; target {
    if atomic.CompareAndSwapInt32(&amp;</a:t>
            </a:r>
            <a:r>
              <a:rPr lang="en-US" sz="1200" dirty="0" err="1">
                <a:solidFill>
                  <a:schemeClr val="tx2"/>
                </a:solidFill>
                <a:latin typeface="Courier"/>
              </a:rPr>
              <a:t>activeWorkers</a:t>
            </a:r>
            <a:r>
              <a:rPr lang="en-US" sz="1200" dirty="0">
                <a:solidFill>
                  <a:schemeClr val="tx2"/>
                </a:solidFill>
                <a:latin typeface="Courier"/>
              </a:rPr>
              <a:t>, current, current+1) {
        id := atomic.AddInt32(&amp;</a:t>
            </a:r>
            <a:r>
              <a:rPr lang="en-US" sz="1200" dirty="0" err="1">
                <a:solidFill>
                  <a:schemeClr val="tx2"/>
                </a:solidFill>
                <a:latin typeface="Courier"/>
              </a:rPr>
              <a:t>workerIDSequence</a:t>
            </a:r>
            <a:r>
              <a:rPr lang="en-US" sz="1200" dirty="0">
                <a:solidFill>
                  <a:schemeClr val="tx2"/>
                </a:solidFill>
                <a:latin typeface="Courier"/>
              </a:rPr>
              <a:t>, 1) - 1
        go </a:t>
            </a:r>
            <a:r>
              <a:rPr lang="en-US" sz="1200" dirty="0" err="1">
                <a:solidFill>
                  <a:schemeClr val="tx2"/>
                </a:solidFill>
                <a:latin typeface="Courier"/>
              </a:rPr>
              <a:t>func</a:t>
            </a:r>
            <a:r>
              <a:rPr lang="en-US" sz="1200" dirty="0">
                <a:solidFill>
                  <a:schemeClr val="tx2"/>
                </a:solidFill>
                <a:latin typeface="Courier"/>
              </a:rPr>
              <a:t>(</a:t>
            </a:r>
            <a:r>
              <a:rPr lang="en-US" sz="1200" dirty="0" err="1">
                <a:solidFill>
                  <a:schemeClr val="tx2"/>
                </a:solidFill>
                <a:latin typeface="Courier"/>
              </a:rPr>
              <a:t>myID</a:t>
            </a:r>
            <a:r>
              <a:rPr lang="en-US" sz="1200" dirty="0">
                <a:solidFill>
                  <a:schemeClr val="tx2"/>
                </a:solidFill>
                <a:latin typeface="Courier"/>
              </a:rPr>
              <a:t> int32) {
            for {
                if </a:t>
            </a:r>
            <a:r>
              <a:rPr lang="en-US" sz="1200" dirty="0" err="1">
                <a:solidFill>
                  <a:schemeClr val="tx2"/>
                </a:solidFill>
                <a:latin typeface="Courier"/>
              </a:rPr>
              <a:t>myID</a:t>
            </a:r>
            <a:r>
              <a:rPr lang="en-US" sz="1200" dirty="0">
                <a:solidFill>
                  <a:schemeClr val="tx2"/>
                </a:solidFill>
                <a:latin typeface="Courier"/>
              </a:rPr>
              <a:t> &gt;= atomic.LoadInt32(&amp;</a:t>
            </a:r>
            <a:r>
              <a:rPr lang="en-US" sz="1200" dirty="0" err="1">
                <a:solidFill>
                  <a:schemeClr val="tx2"/>
                </a:solidFill>
                <a:latin typeface="Courier"/>
              </a:rPr>
              <a:t>activeWorkers</a:t>
            </a:r>
            <a:r>
              <a:rPr lang="en-US" sz="1200" dirty="0">
                <a:solidFill>
                  <a:schemeClr val="tx2"/>
                </a:solidFill>
                <a:latin typeface="Courier"/>
              </a:rPr>
              <a:t>) { return }
                // Process batch...
            }
        }(id)
    }
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245A9F99-D9B1-4094-A2E2-B90AC1DB7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7FAF607-473A-4A43-A23D-BBFF5C411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422" y="1945612"/>
            <a:ext cx="3733482" cy="1090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2700">
                <a:solidFill>
                  <a:schemeClr val="tx2"/>
                </a:solidFill>
              </a:rPr>
              <a:t>Pillar 2: The PID Backpressure Reflex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9261" y="257625"/>
            <a:ext cx="3733184" cy="439201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chemeClr val="tx2"/>
                </a:solidFill>
              </a:rPr>
              <a:t>The Proportional-Integral-Derivative (PID) controller is modeled after mechanical governors. </a:t>
            </a:r>
            <a:endParaRPr lang="en-US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- It samples the actual HTTP latency of the last request. </a:t>
            </a:r>
            <a:endParaRPr lang="en-US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- Compares it against the genome’s current </a:t>
            </a:r>
            <a:r>
              <a:rPr lang="en-US" sz="1400" dirty="0" err="1">
                <a:solidFill>
                  <a:schemeClr val="tx2"/>
                </a:solidFill>
                <a:latin typeface="Courier"/>
              </a:rPr>
              <a:t>TargetLatency</a:t>
            </a:r>
            <a:r>
              <a:rPr lang="en-US" sz="1400" dirty="0">
                <a:solidFill>
                  <a:schemeClr val="tx2"/>
                </a:solidFill>
              </a:rPr>
              <a:t>. </a:t>
            </a:r>
            <a:endParaRPr lang="en-US" dirty="0">
              <a:solidFill>
                <a:schemeClr val="tx2"/>
              </a:solidFill>
            </a:endParaRPr>
          </a:p>
          <a:p>
            <a:pPr marL="0" lvl="0" indent="0">
              <a:buNone/>
            </a:pPr>
            <a:r>
              <a:rPr lang="en-US" sz="1400">
                <a:solidFill>
                  <a:schemeClr val="tx2"/>
                </a:solidFill>
              </a:rPr>
              <a:t>- Instantly injects a </a:t>
            </a:r>
            <a:r>
              <a:rPr lang="en-US" sz="1400" dirty="0">
                <a:solidFill>
                  <a:schemeClr val="tx2"/>
                </a:solidFill>
              </a:rPr>
              <a:t>microscopic sleep penalty if the server slows down.</a:t>
            </a:r>
            <a:endParaRPr lang="en-US">
              <a:solidFill>
                <a:schemeClr val="tx2"/>
              </a:solidFill>
              <a:ea typeface="Calibri"/>
              <a:cs typeface="Calibri"/>
            </a:endParaRPr>
          </a:p>
          <a:p>
            <a:pPr marL="0" indent="0">
              <a:buNone/>
            </a:pPr>
            <a:endParaRPr lang="en-US" sz="1400" dirty="0">
              <a:solidFill>
                <a:schemeClr val="tx2"/>
              </a:solidFill>
            </a:endParaRPr>
          </a:p>
          <a:p>
            <a:pPr marL="0" lvl="0" indent="0">
              <a:buNone/>
            </a:pPr>
            <a:r>
              <a:rPr lang="en-US" sz="1400">
                <a:solidFill>
                  <a:schemeClr val="tx2"/>
                </a:solidFill>
              </a:rPr>
              <a:t>This prevents the crawler from overwhelming the server before the next evaluation generation arrives.</a:t>
            </a:r>
            <a:endParaRPr lang="en-US">
              <a:solidFill>
                <a:schemeClr val="tx2"/>
              </a:solidFill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5F6476F-D303-44D3-B30F-1BA348F0F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976" y="39747"/>
            <a:ext cx="4446455" cy="5103753"/>
            <a:chOff x="6095999" y="52996"/>
            <a:chExt cx="6093363" cy="6805005"/>
          </a:xfrm>
          <a:solidFill>
            <a:schemeClr val="accent5">
              <a:alpha val="10000"/>
            </a:schemeClr>
          </a:solidFill>
        </p:grpSpPr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C972EB4B-0539-4430-9340-8117B9D7C3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1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ACA5348F-9FF6-485F-898D-1BED7EC72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5999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33B89F41-1D91-447A-88C5-8A917809F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0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6397" y="381628"/>
            <a:ext cx="3913467" cy="4679746"/>
            <a:chOff x="-19221" y="251144"/>
            <a:chExt cx="5217958" cy="6239661"/>
          </a:xfrm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0060" y="932259"/>
            <a:ext cx="2891790" cy="327898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2700">
                <a:solidFill>
                  <a:schemeClr val="tx2"/>
                </a:solidFill>
              </a:rPr>
              <a:t>Pillar 3: Elitist Genetic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29150" y="603504"/>
            <a:ext cx="3915918" cy="3922776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1400">
                <a:solidFill>
                  <a:schemeClr val="tx2"/>
                </a:solidFill>
              </a:rPr>
              <a:t>Every 5 seconds, the system reviews its performance via an evaluation window:</a:t>
            </a:r>
          </a:p>
          <a:p>
            <a:pPr marL="0" lvl="0" indent="0">
              <a:buNone/>
            </a:pPr>
            <a:r>
              <a:rPr lang="en-US" sz="1400">
                <a:solidFill>
                  <a:schemeClr val="tx2"/>
                </a:solidFill>
              </a:rPr>
              <a:t>If a configuration yields exceptional throughput without triggering network failures, it is crowned the </a:t>
            </a:r>
            <a:r>
              <a:rPr lang="en-US" sz="1400" b="1">
                <a:solidFill>
                  <a:schemeClr val="tx2"/>
                </a:solidFill>
              </a:rPr>
              <a:t>Elite Strategy</a:t>
            </a:r>
            <a:r>
              <a:rPr lang="en-US" sz="1400">
                <a:solidFill>
                  <a:schemeClr val="tx2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EDDBB197-D710-4A4F-A9CA-FD2177498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75D1CFA-2CDB-4B64-BD9F-85744E8DA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504" y="769749"/>
            <a:ext cx="3733183" cy="3775979"/>
          </a:xfrm>
        </p:spPr>
        <p:txBody>
          <a:bodyPr anchor="ctr">
            <a:normAutofit/>
          </a:bodyPr>
          <a:lstStyle/>
          <a:p>
            <a:pPr marL="0" lvl="0" indent="0">
              <a:lnSpc>
                <a:spcPct val="90000"/>
              </a:lnSpc>
              <a:buNone/>
            </a:pPr>
            <a:r>
              <a:rPr lang="en-US" sz="1300">
                <a:solidFill>
                  <a:schemeClr val="tx2"/>
                </a:solidFill>
              </a:rPr>
              <a:t>The system does not rely entirely on random mutation. It implements hard deterministic survival overrides:</a:t>
            </a:r>
          </a:p>
          <a:p>
            <a:pPr lvl="0">
              <a:lnSpc>
                <a:spcPct val="90000"/>
              </a:lnSpc>
            </a:pPr>
            <a:r>
              <a:rPr lang="en-US" sz="1300" b="1">
                <a:solidFill>
                  <a:schemeClr val="tx2"/>
                </a:solidFill>
              </a:rPr>
              <a:t>Panic / Scale to Zero:</a:t>
            </a:r>
            <a:r>
              <a:rPr lang="en-US" sz="1300">
                <a:solidFill>
                  <a:schemeClr val="tx2"/>
                </a:solidFill>
              </a:rPr>
              <a:t> If failures climb past 50%, the pool instantly collapses to 1 worker fetching at a highly restricted delay.</a:t>
            </a:r>
          </a:p>
          <a:p>
            <a:pPr lvl="0">
              <a:lnSpc>
                <a:spcPct val="90000"/>
              </a:lnSpc>
            </a:pPr>
            <a:r>
              <a:rPr lang="en-US" sz="1300" b="1">
                <a:solidFill>
                  <a:schemeClr val="tx2"/>
                </a:solidFill>
              </a:rPr>
              <a:t>Starvation Protection:</a:t>
            </a:r>
            <a:r>
              <a:rPr lang="en-US" sz="1300">
                <a:solidFill>
                  <a:schemeClr val="tx2"/>
                </a:solidFill>
              </a:rPr>
              <a:t> If requests drop to 0, it expands the pool out of a freeze safely without ruining the genetic lineage coefficients.</a:t>
            </a:r>
          </a:p>
          <a:p>
            <a:pPr lvl="0">
              <a:lnSpc>
                <a:spcPct val="90000"/>
              </a:lnSpc>
            </a:pPr>
            <a:r>
              <a:rPr lang="en-US" sz="1300" b="1">
                <a:solidFill>
                  <a:schemeClr val="tx2"/>
                </a:solidFill>
              </a:rPr>
              <a:t>Recovery Mode:</a:t>
            </a:r>
            <a:r>
              <a:rPr lang="en-US" sz="1300">
                <a:solidFill>
                  <a:schemeClr val="tx2"/>
                </a:solidFill>
              </a:rPr>
              <a:t> Once stable, it uses the Elite configuration blueprint to step back up one worker at a time until normal operations resume.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5EE5136-01F1-466C-962D-BA9B4C675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777422" y="0"/>
            <a:ext cx="4366578" cy="5013950"/>
            <a:chOff x="6357228" y="0"/>
            <a:chExt cx="5822103" cy="6685267"/>
          </a:xfrm>
        </p:grpSpPr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E11D3AD4-AF9B-4EB5-8C7B-C45D173B4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57228" y="0"/>
              <a:ext cx="5822102" cy="6685267"/>
            </a:xfrm>
            <a:custGeom>
              <a:avLst/>
              <a:gdLst>
                <a:gd name="connsiteX0" fmla="*/ 2605444 w 5822102"/>
                <a:gd name="connsiteY0" fmla="*/ 0 h 6685267"/>
                <a:gd name="connsiteX1" fmla="*/ 4757391 w 5822102"/>
                <a:gd name="connsiteY1" fmla="*/ 0 h 6685267"/>
                <a:gd name="connsiteX2" fmla="*/ 4913680 w 5822102"/>
                <a:gd name="connsiteY2" fmla="*/ 56274 h 6685267"/>
                <a:gd name="connsiteX3" fmla="*/ 5376238 w 5822102"/>
                <a:gd name="connsiteY3" fmla="*/ 282027 h 6685267"/>
                <a:gd name="connsiteX4" fmla="*/ 5658024 w 5822102"/>
                <a:gd name="connsiteY4" fmla="*/ 471014 h 6685267"/>
                <a:gd name="connsiteX5" fmla="*/ 5822102 w 5822102"/>
                <a:gd name="connsiteY5" fmla="*/ 609109 h 6685267"/>
                <a:gd name="connsiteX6" fmla="*/ 5822102 w 5822102"/>
                <a:gd name="connsiteY6" fmla="*/ 760697 h 6685267"/>
                <a:gd name="connsiteX7" fmla="*/ 5707785 w 5822102"/>
                <a:gd name="connsiteY7" fmla="*/ 666601 h 6685267"/>
                <a:gd name="connsiteX8" fmla="*/ 5577306 w 5822102"/>
                <a:gd name="connsiteY8" fmla="*/ 571666 h 6685267"/>
                <a:gd name="connsiteX9" fmla="*/ 5298630 w 5822102"/>
                <a:gd name="connsiteY9" fmla="*/ 407449 h 6685267"/>
                <a:gd name="connsiteX10" fmla="*/ 4690768 w 5822102"/>
                <a:gd name="connsiteY10" fmla="*/ 184979 h 6685267"/>
                <a:gd name="connsiteX11" fmla="*/ 4048577 w 5822102"/>
                <a:gd name="connsiteY11" fmla="*/ 99280 h 6685267"/>
                <a:gd name="connsiteX12" fmla="*/ 3405404 w 5822102"/>
                <a:gd name="connsiteY12" fmla="*/ 131937 h 6685267"/>
                <a:gd name="connsiteX13" fmla="*/ 3089702 w 5822102"/>
                <a:gd name="connsiteY13" fmla="*/ 190190 h 6685267"/>
                <a:gd name="connsiteX14" fmla="*/ 2780132 w 5822102"/>
                <a:gd name="connsiteY14" fmla="*/ 273457 h 6685267"/>
                <a:gd name="connsiteX15" fmla="*/ 2478040 w 5822102"/>
                <a:gd name="connsiteY15" fmla="*/ 379654 h 6685267"/>
                <a:gd name="connsiteX16" fmla="*/ 2184897 w 5822102"/>
                <a:gd name="connsiteY16" fmla="*/ 507972 h 6685267"/>
                <a:gd name="connsiteX17" fmla="*/ 1629141 w 5822102"/>
                <a:gd name="connsiteY17" fmla="*/ 823205 h 6685267"/>
                <a:gd name="connsiteX18" fmla="*/ 1497711 w 5822102"/>
                <a:gd name="connsiteY18" fmla="*/ 914000 h 6685267"/>
                <a:gd name="connsiteX19" fmla="*/ 1433099 w 5822102"/>
                <a:gd name="connsiteY19" fmla="*/ 960903 h 6685267"/>
                <a:gd name="connsiteX20" fmla="*/ 1369346 w 5822102"/>
                <a:gd name="connsiteY20" fmla="*/ 1008963 h 6685267"/>
                <a:gd name="connsiteX21" fmla="*/ 1123406 w 5822102"/>
                <a:gd name="connsiteY21" fmla="*/ 1212905 h 6685267"/>
                <a:gd name="connsiteX22" fmla="*/ 684367 w 5822102"/>
                <a:gd name="connsiteY22" fmla="*/ 1675564 h 6685267"/>
                <a:gd name="connsiteX23" fmla="*/ 497153 w 5822102"/>
                <a:gd name="connsiteY23" fmla="*/ 1933588 h 6685267"/>
                <a:gd name="connsiteX24" fmla="*/ 337770 w 5822102"/>
                <a:gd name="connsiteY24" fmla="*/ 2208983 h 6685267"/>
                <a:gd name="connsiteX25" fmla="*/ 302461 w 5822102"/>
                <a:gd name="connsiteY25" fmla="*/ 2280207 h 6685267"/>
                <a:gd name="connsiteX26" fmla="*/ 285296 w 5822102"/>
                <a:gd name="connsiteY26" fmla="*/ 2316107 h 6685267"/>
                <a:gd name="connsiteX27" fmla="*/ 268991 w 5822102"/>
                <a:gd name="connsiteY27" fmla="*/ 2352355 h 6685267"/>
                <a:gd name="connsiteX28" fmla="*/ 237849 w 5822102"/>
                <a:gd name="connsiteY28" fmla="*/ 2425432 h 6685267"/>
                <a:gd name="connsiteX29" fmla="*/ 208670 w 5822102"/>
                <a:gd name="connsiteY29" fmla="*/ 2499319 h 6685267"/>
                <a:gd name="connsiteX30" fmla="*/ 113775 w 5822102"/>
                <a:gd name="connsiteY30" fmla="*/ 2801929 h 6685267"/>
                <a:gd name="connsiteX31" fmla="*/ 36781 w 5822102"/>
                <a:gd name="connsiteY31" fmla="*/ 3428922 h 6685267"/>
                <a:gd name="connsiteX32" fmla="*/ 69148 w 5822102"/>
                <a:gd name="connsiteY32" fmla="*/ 3741955 h 6685267"/>
                <a:gd name="connsiteX33" fmla="*/ 167966 w 5822102"/>
                <a:gd name="connsiteY33" fmla="*/ 4041323 h 6685267"/>
                <a:gd name="connsiteX34" fmla="*/ 202049 w 5822102"/>
                <a:gd name="connsiteY34" fmla="*/ 4112894 h 6685267"/>
                <a:gd name="connsiteX35" fmla="*/ 239933 w 5822102"/>
                <a:gd name="connsiteY35" fmla="*/ 4182843 h 6685267"/>
                <a:gd name="connsiteX36" fmla="*/ 323916 w 5822102"/>
                <a:gd name="connsiteY36" fmla="*/ 4318456 h 6685267"/>
                <a:gd name="connsiteX37" fmla="*/ 416604 w 5822102"/>
                <a:gd name="connsiteY37" fmla="*/ 4449436 h 6685267"/>
                <a:gd name="connsiteX38" fmla="*/ 515911 w 5822102"/>
                <a:gd name="connsiteY38" fmla="*/ 4576711 h 6685267"/>
                <a:gd name="connsiteX39" fmla="*/ 722619 w 5822102"/>
                <a:gd name="connsiteY39" fmla="*/ 4828482 h 6685267"/>
                <a:gd name="connsiteX40" fmla="*/ 825972 w 5822102"/>
                <a:gd name="connsiteY40" fmla="*/ 4956104 h 6685267"/>
                <a:gd name="connsiteX41" fmla="*/ 926506 w 5822102"/>
                <a:gd name="connsiteY41" fmla="*/ 5085347 h 6685267"/>
                <a:gd name="connsiteX42" fmla="*/ 1027040 w 5822102"/>
                <a:gd name="connsiteY42" fmla="*/ 5210191 h 6685267"/>
                <a:gd name="connsiteX43" fmla="*/ 1132110 w 5822102"/>
                <a:gd name="connsiteY43" fmla="*/ 5330748 h 6685267"/>
                <a:gd name="connsiteX44" fmla="*/ 1354880 w 5822102"/>
                <a:gd name="connsiteY44" fmla="*/ 5558083 h 6685267"/>
                <a:gd name="connsiteX45" fmla="*/ 1855220 w 5822102"/>
                <a:gd name="connsiteY45" fmla="*/ 5937591 h 6685267"/>
                <a:gd name="connsiteX46" fmla="*/ 2131810 w 5822102"/>
                <a:gd name="connsiteY46" fmla="*/ 6080268 h 6685267"/>
                <a:gd name="connsiteX47" fmla="*/ 2423726 w 5822102"/>
                <a:gd name="connsiteY47" fmla="*/ 6188087 h 6685267"/>
                <a:gd name="connsiteX48" fmla="*/ 2727780 w 5822102"/>
                <a:gd name="connsiteY48" fmla="*/ 6262552 h 6685267"/>
                <a:gd name="connsiteX49" fmla="*/ 3041276 w 5822102"/>
                <a:gd name="connsiteY49" fmla="*/ 6304245 h 6685267"/>
                <a:gd name="connsiteX50" fmla="*/ 3360532 w 5822102"/>
                <a:gd name="connsiteY50" fmla="*/ 6317331 h 6685267"/>
                <a:gd name="connsiteX51" fmla="*/ 3439855 w 5822102"/>
                <a:gd name="connsiteY51" fmla="*/ 6316751 h 6685267"/>
                <a:gd name="connsiteX52" fmla="*/ 3478721 w 5822102"/>
                <a:gd name="connsiteY52" fmla="*/ 6315826 h 6685267"/>
                <a:gd name="connsiteX53" fmla="*/ 3517463 w 5822102"/>
                <a:gd name="connsiteY53" fmla="*/ 6313971 h 6685267"/>
                <a:gd name="connsiteX54" fmla="*/ 3671452 w 5822102"/>
                <a:gd name="connsiteY54" fmla="*/ 6301233 h 6685267"/>
                <a:gd name="connsiteX55" fmla="*/ 4265460 w 5822102"/>
                <a:gd name="connsiteY55" fmla="*/ 6149638 h 6685267"/>
                <a:gd name="connsiteX56" fmla="*/ 4546587 w 5822102"/>
                <a:gd name="connsiteY56" fmla="*/ 6018079 h 6685267"/>
                <a:gd name="connsiteX57" fmla="*/ 4818030 w 5822102"/>
                <a:gd name="connsiteY57" fmla="*/ 5858029 h 6685267"/>
                <a:gd name="connsiteX58" fmla="*/ 5081870 w 5822102"/>
                <a:gd name="connsiteY58" fmla="*/ 5676903 h 6685267"/>
                <a:gd name="connsiteX59" fmla="*/ 5212073 w 5822102"/>
                <a:gd name="connsiteY59" fmla="*/ 5581013 h 6685267"/>
                <a:gd name="connsiteX60" fmla="*/ 5343625 w 5822102"/>
                <a:gd name="connsiteY60" fmla="*/ 5481533 h 6685267"/>
                <a:gd name="connsiteX61" fmla="*/ 5610378 w 5822102"/>
                <a:gd name="connsiteY61" fmla="*/ 5284425 h 6685267"/>
                <a:gd name="connsiteX62" fmla="*/ 5822102 w 5822102"/>
                <a:gd name="connsiteY62" fmla="*/ 5126414 h 6685267"/>
                <a:gd name="connsiteX63" fmla="*/ 5822102 w 5822102"/>
                <a:gd name="connsiteY63" fmla="*/ 5556641 h 6685267"/>
                <a:gd name="connsiteX64" fmla="*/ 5576325 w 5822102"/>
                <a:gd name="connsiteY64" fmla="*/ 5749979 h 6685267"/>
                <a:gd name="connsiteX65" fmla="*/ 5447715 w 5822102"/>
                <a:gd name="connsiteY65" fmla="*/ 5852818 h 6685267"/>
                <a:gd name="connsiteX66" fmla="*/ 5315059 w 5822102"/>
                <a:gd name="connsiteY66" fmla="*/ 5956236 h 6685267"/>
                <a:gd name="connsiteX67" fmla="*/ 5038468 w 5822102"/>
                <a:gd name="connsiteY67" fmla="*/ 6155776 h 6685267"/>
                <a:gd name="connsiteX68" fmla="*/ 4741892 w 5822102"/>
                <a:gd name="connsiteY68" fmla="*/ 6338292 h 6685267"/>
                <a:gd name="connsiteX69" fmla="*/ 4420920 w 5822102"/>
                <a:gd name="connsiteY69" fmla="*/ 6492203 h 6685267"/>
                <a:gd name="connsiteX70" fmla="*/ 3717672 w 5822102"/>
                <a:gd name="connsiteY70" fmla="*/ 6670434 h 6685267"/>
                <a:gd name="connsiteX71" fmla="*/ 3535853 w 5822102"/>
                <a:gd name="connsiteY71" fmla="*/ 6683289 h 6685267"/>
                <a:gd name="connsiteX72" fmla="*/ 3490367 w 5822102"/>
                <a:gd name="connsiteY72" fmla="*/ 6684910 h 6685267"/>
                <a:gd name="connsiteX73" fmla="*/ 3445005 w 5822102"/>
                <a:gd name="connsiteY73" fmla="*/ 6685142 h 6685267"/>
                <a:gd name="connsiteX74" fmla="*/ 3355872 w 5822102"/>
                <a:gd name="connsiteY74" fmla="*/ 6684100 h 6685267"/>
                <a:gd name="connsiteX75" fmla="*/ 3179203 w 5822102"/>
                <a:gd name="connsiteY75" fmla="*/ 6677150 h 6685267"/>
                <a:gd name="connsiteX76" fmla="*/ 3002410 w 5822102"/>
                <a:gd name="connsiteY76" fmla="*/ 6661169 h 6685267"/>
                <a:gd name="connsiteX77" fmla="*/ 2650296 w 5822102"/>
                <a:gd name="connsiteY77" fmla="*/ 6604191 h 6685267"/>
                <a:gd name="connsiteX78" fmla="*/ 2306028 w 5822102"/>
                <a:gd name="connsiteY78" fmla="*/ 6505869 h 6685267"/>
                <a:gd name="connsiteX79" fmla="*/ 1978803 w 5822102"/>
                <a:gd name="connsiteY79" fmla="*/ 6363307 h 6685267"/>
                <a:gd name="connsiteX80" fmla="*/ 1678428 w 5822102"/>
                <a:gd name="connsiteY80" fmla="*/ 6177779 h 6685267"/>
                <a:gd name="connsiteX81" fmla="*/ 1175880 w 5822102"/>
                <a:gd name="connsiteY81" fmla="*/ 5710373 h 6685267"/>
                <a:gd name="connsiteX82" fmla="*/ 971502 w 5822102"/>
                <a:gd name="connsiteY82" fmla="*/ 5445399 h 6685267"/>
                <a:gd name="connsiteX83" fmla="*/ 790909 w 5822102"/>
                <a:gd name="connsiteY83" fmla="*/ 5169078 h 6685267"/>
                <a:gd name="connsiteX84" fmla="*/ 706680 w 5822102"/>
                <a:gd name="connsiteY84" fmla="*/ 5031959 h 6685267"/>
                <a:gd name="connsiteX85" fmla="*/ 619143 w 5822102"/>
                <a:gd name="connsiteY85" fmla="*/ 4897157 h 6685267"/>
                <a:gd name="connsiteX86" fmla="*/ 436465 w 5822102"/>
                <a:gd name="connsiteY86" fmla="*/ 4628710 h 6685267"/>
                <a:gd name="connsiteX87" fmla="*/ 347088 w 5822102"/>
                <a:gd name="connsiteY87" fmla="*/ 4492171 h 6685267"/>
                <a:gd name="connsiteX88" fmla="*/ 262001 w 5822102"/>
                <a:gd name="connsiteY88" fmla="*/ 4352619 h 6685267"/>
                <a:gd name="connsiteX89" fmla="*/ 118679 w 5822102"/>
                <a:gd name="connsiteY89" fmla="*/ 4059853 h 6685267"/>
                <a:gd name="connsiteX90" fmla="*/ 28322 w 5822102"/>
                <a:gd name="connsiteY90" fmla="*/ 3749136 h 6685267"/>
                <a:gd name="connsiteX91" fmla="*/ 0 w 5822102"/>
                <a:gd name="connsiteY91" fmla="*/ 3428922 h 6685267"/>
                <a:gd name="connsiteX92" fmla="*/ 253052 w 5822102"/>
                <a:gd name="connsiteY92" fmla="*/ 2174356 h 6685267"/>
                <a:gd name="connsiteX93" fmla="*/ 389141 w 5822102"/>
                <a:gd name="connsiteY93" fmla="*/ 1877652 h 6685267"/>
                <a:gd name="connsiteX94" fmla="*/ 552079 w 5822102"/>
                <a:gd name="connsiteY94" fmla="*/ 1591834 h 6685267"/>
                <a:gd name="connsiteX95" fmla="*/ 954950 w 5822102"/>
                <a:gd name="connsiteY95" fmla="*/ 1061773 h 6685267"/>
                <a:gd name="connsiteX96" fmla="*/ 1192922 w 5822102"/>
                <a:gd name="connsiteY96" fmla="*/ 822626 h 6685267"/>
                <a:gd name="connsiteX97" fmla="*/ 1255939 w 5822102"/>
                <a:gd name="connsiteY97" fmla="*/ 765880 h 6685267"/>
                <a:gd name="connsiteX98" fmla="*/ 1320183 w 5822102"/>
                <a:gd name="connsiteY98" fmla="*/ 710291 h 6685267"/>
                <a:gd name="connsiteX99" fmla="*/ 1452961 w 5822102"/>
                <a:gd name="connsiteY99" fmla="*/ 603514 h 6685267"/>
                <a:gd name="connsiteX100" fmla="*/ 2033360 w 5822102"/>
                <a:gd name="connsiteY100" fmla="*/ 235818 h 6685267"/>
                <a:gd name="connsiteX101" fmla="*/ 2512513 w 5822102"/>
                <a:gd name="connsiteY101" fmla="*/ 30012 h 668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822102" h="6685267">
                  <a:moveTo>
                    <a:pt x="2605444" y="0"/>
                  </a:moveTo>
                  <a:lnTo>
                    <a:pt x="4757391" y="0"/>
                  </a:lnTo>
                  <a:lnTo>
                    <a:pt x="4913680" y="56274"/>
                  </a:lnTo>
                  <a:cubicBezTo>
                    <a:pt x="5074659" y="119278"/>
                    <a:pt x="5229483" y="195083"/>
                    <a:pt x="5376238" y="282027"/>
                  </a:cubicBezTo>
                  <a:cubicBezTo>
                    <a:pt x="5474014" y="340105"/>
                    <a:pt x="5568080" y="403280"/>
                    <a:pt x="5658024" y="471014"/>
                  </a:cubicBezTo>
                  <a:lnTo>
                    <a:pt x="5822102" y="609109"/>
                  </a:lnTo>
                  <a:lnTo>
                    <a:pt x="5822102" y="760697"/>
                  </a:lnTo>
                  <a:lnTo>
                    <a:pt x="5707785" y="666601"/>
                  </a:lnTo>
                  <a:cubicBezTo>
                    <a:pt x="5665273" y="633682"/>
                    <a:pt x="5621749" y="602008"/>
                    <a:pt x="5577306" y="571666"/>
                  </a:cubicBezTo>
                  <a:cubicBezTo>
                    <a:pt x="5487929" y="511562"/>
                    <a:pt x="5395118" y="456089"/>
                    <a:pt x="5298630" y="407449"/>
                  </a:cubicBezTo>
                  <a:cubicBezTo>
                    <a:pt x="5106266" y="309010"/>
                    <a:pt x="4901153" y="235355"/>
                    <a:pt x="4690768" y="184979"/>
                  </a:cubicBezTo>
                  <a:cubicBezTo>
                    <a:pt x="4480382" y="134486"/>
                    <a:pt x="4264724" y="106807"/>
                    <a:pt x="4048577" y="99280"/>
                  </a:cubicBezTo>
                  <a:cubicBezTo>
                    <a:pt x="3832182" y="90709"/>
                    <a:pt x="3617997" y="102290"/>
                    <a:pt x="3405404" y="131937"/>
                  </a:cubicBezTo>
                  <a:cubicBezTo>
                    <a:pt x="3299353" y="147340"/>
                    <a:pt x="3193915" y="166449"/>
                    <a:pt x="3089702" y="190190"/>
                  </a:cubicBezTo>
                  <a:cubicBezTo>
                    <a:pt x="2985491" y="214278"/>
                    <a:pt x="2882137" y="241725"/>
                    <a:pt x="2780132" y="273457"/>
                  </a:cubicBezTo>
                  <a:cubicBezTo>
                    <a:pt x="2678126" y="305073"/>
                    <a:pt x="2577348" y="340510"/>
                    <a:pt x="2478040" y="379654"/>
                  </a:cubicBezTo>
                  <a:cubicBezTo>
                    <a:pt x="2378854" y="418914"/>
                    <a:pt x="2281017" y="461763"/>
                    <a:pt x="2184897" y="507972"/>
                  </a:cubicBezTo>
                  <a:cubicBezTo>
                    <a:pt x="1992657" y="600271"/>
                    <a:pt x="1806791" y="705542"/>
                    <a:pt x="1629141" y="823205"/>
                  </a:cubicBezTo>
                  <a:cubicBezTo>
                    <a:pt x="1584882" y="852736"/>
                    <a:pt x="1540745" y="882731"/>
                    <a:pt x="1497711" y="914000"/>
                  </a:cubicBezTo>
                  <a:cubicBezTo>
                    <a:pt x="1475888" y="929286"/>
                    <a:pt x="1454555" y="945153"/>
                    <a:pt x="1433099" y="960903"/>
                  </a:cubicBezTo>
                  <a:cubicBezTo>
                    <a:pt x="1411521" y="976537"/>
                    <a:pt x="1390311" y="992634"/>
                    <a:pt x="1369346" y="1008963"/>
                  </a:cubicBezTo>
                  <a:cubicBezTo>
                    <a:pt x="1285119" y="1074165"/>
                    <a:pt x="1202730" y="1141797"/>
                    <a:pt x="1123406" y="1212905"/>
                  </a:cubicBezTo>
                  <a:cubicBezTo>
                    <a:pt x="964391" y="1354656"/>
                    <a:pt x="816900" y="1509261"/>
                    <a:pt x="684367" y="1675564"/>
                  </a:cubicBezTo>
                  <a:cubicBezTo>
                    <a:pt x="618161" y="1758716"/>
                    <a:pt x="555512" y="1844763"/>
                    <a:pt x="497153" y="1933588"/>
                  </a:cubicBezTo>
                  <a:cubicBezTo>
                    <a:pt x="439775" y="2022877"/>
                    <a:pt x="385584" y="2114367"/>
                    <a:pt x="337770" y="2208983"/>
                  </a:cubicBezTo>
                  <a:cubicBezTo>
                    <a:pt x="325388" y="2232493"/>
                    <a:pt x="313862" y="2256349"/>
                    <a:pt x="302461" y="2280207"/>
                  </a:cubicBezTo>
                  <a:lnTo>
                    <a:pt x="285296" y="2316107"/>
                  </a:lnTo>
                  <a:lnTo>
                    <a:pt x="268991" y="2352355"/>
                  </a:lnTo>
                  <a:cubicBezTo>
                    <a:pt x="258324" y="2376560"/>
                    <a:pt x="247535" y="2400764"/>
                    <a:pt x="237849" y="2425432"/>
                  </a:cubicBezTo>
                  <a:cubicBezTo>
                    <a:pt x="228163" y="2450099"/>
                    <a:pt x="217498" y="2474419"/>
                    <a:pt x="208670" y="2499319"/>
                  </a:cubicBezTo>
                  <a:cubicBezTo>
                    <a:pt x="170909" y="2598219"/>
                    <a:pt x="138908" y="2699206"/>
                    <a:pt x="113775" y="2801929"/>
                  </a:cubicBezTo>
                  <a:cubicBezTo>
                    <a:pt x="62773" y="3006911"/>
                    <a:pt x="36659" y="3217917"/>
                    <a:pt x="36781" y="3428922"/>
                  </a:cubicBezTo>
                  <a:cubicBezTo>
                    <a:pt x="37394" y="3534078"/>
                    <a:pt x="47816" y="3639001"/>
                    <a:pt x="69148" y="3741955"/>
                  </a:cubicBezTo>
                  <a:cubicBezTo>
                    <a:pt x="91585" y="3844679"/>
                    <a:pt x="124074" y="3945202"/>
                    <a:pt x="167966" y="4041323"/>
                  </a:cubicBezTo>
                  <a:cubicBezTo>
                    <a:pt x="178387" y="4065528"/>
                    <a:pt x="190525" y="4089153"/>
                    <a:pt x="202049" y="4112894"/>
                  </a:cubicBezTo>
                  <a:cubicBezTo>
                    <a:pt x="214555" y="4136288"/>
                    <a:pt x="226447" y="4159912"/>
                    <a:pt x="239933" y="4182843"/>
                  </a:cubicBezTo>
                  <a:cubicBezTo>
                    <a:pt x="265680" y="4229167"/>
                    <a:pt x="294368" y="4274101"/>
                    <a:pt x="323916" y="4318456"/>
                  </a:cubicBezTo>
                  <a:cubicBezTo>
                    <a:pt x="353341" y="4362927"/>
                    <a:pt x="384849" y="4406240"/>
                    <a:pt x="416604" y="4449436"/>
                  </a:cubicBezTo>
                  <a:cubicBezTo>
                    <a:pt x="448847" y="4492286"/>
                    <a:pt x="482319" y="4534557"/>
                    <a:pt x="515911" y="4576711"/>
                  </a:cubicBezTo>
                  <a:cubicBezTo>
                    <a:pt x="583219" y="4661137"/>
                    <a:pt x="653594" y="4743825"/>
                    <a:pt x="722619" y="4828482"/>
                  </a:cubicBezTo>
                  <a:cubicBezTo>
                    <a:pt x="757315" y="4870637"/>
                    <a:pt x="791889" y="4913138"/>
                    <a:pt x="825972" y="4956104"/>
                  </a:cubicBezTo>
                  <a:cubicBezTo>
                    <a:pt x="859934" y="4998722"/>
                    <a:pt x="893649" y="5044004"/>
                    <a:pt x="926506" y="5085347"/>
                  </a:cubicBezTo>
                  <a:cubicBezTo>
                    <a:pt x="959119" y="5127734"/>
                    <a:pt x="993324" y="5168847"/>
                    <a:pt x="1027040" y="5210191"/>
                  </a:cubicBezTo>
                  <a:cubicBezTo>
                    <a:pt x="1061737" y="5250840"/>
                    <a:pt x="1096188" y="5291488"/>
                    <a:pt x="1132110" y="5330748"/>
                  </a:cubicBezTo>
                  <a:cubicBezTo>
                    <a:pt x="1203465" y="5409731"/>
                    <a:pt x="1277639" y="5485818"/>
                    <a:pt x="1354880" y="5558083"/>
                  </a:cubicBezTo>
                  <a:cubicBezTo>
                    <a:pt x="1509603" y="5702266"/>
                    <a:pt x="1676588" y="5830930"/>
                    <a:pt x="1855220" y="5937591"/>
                  </a:cubicBezTo>
                  <a:cubicBezTo>
                    <a:pt x="1944720" y="5990632"/>
                    <a:pt x="2036549" y="6039272"/>
                    <a:pt x="2131810" y="6080268"/>
                  </a:cubicBezTo>
                  <a:cubicBezTo>
                    <a:pt x="2226460" y="6122423"/>
                    <a:pt x="2324173" y="6157977"/>
                    <a:pt x="2423726" y="6188087"/>
                  </a:cubicBezTo>
                  <a:cubicBezTo>
                    <a:pt x="2523280" y="6218313"/>
                    <a:pt x="2624794" y="6242749"/>
                    <a:pt x="2727780" y="6262552"/>
                  </a:cubicBezTo>
                  <a:cubicBezTo>
                    <a:pt x="2830890" y="6282008"/>
                    <a:pt x="2935714" y="6295326"/>
                    <a:pt x="3041276" y="6304245"/>
                  </a:cubicBezTo>
                  <a:cubicBezTo>
                    <a:pt x="3146836" y="6313277"/>
                    <a:pt x="3253499" y="6317215"/>
                    <a:pt x="3360532" y="6317331"/>
                  </a:cubicBezTo>
                  <a:cubicBezTo>
                    <a:pt x="3387259" y="6317331"/>
                    <a:pt x="3414354" y="6317794"/>
                    <a:pt x="3439855" y="6316751"/>
                  </a:cubicBezTo>
                  <a:lnTo>
                    <a:pt x="3478721" y="6315826"/>
                  </a:lnTo>
                  <a:lnTo>
                    <a:pt x="3517463" y="6313971"/>
                  </a:lnTo>
                  <a:cubicBezTo>
                    <a:pt x="3569078" y="6311772"/>
                    <a:pt x="3620449" y="6306907"/>
                    <a:pt x="3671452" y="6301233"/>
                  </a:cubicBezTo>
                  <a:cubicBezTo>
                    <a:pt x="3875707" y="6277608"/>
                    <a:pt x="4074445" y="6225841"/>
                    <a:pt x="4265460" y="6149638"/>
                  </a:cubicBezTo>
                  <a:cubicBezTo>
                    <a:pt x="4361212" y="6111884"/>
                    <a:pt x="4454636" y="6067065"/>
                    <a:pt x="4546587" y="6018079"/>
                  </a:cubicBezTo>
                  <a:cubicBezTo>
                    <a:pt x="4638662" y="5969322"/>
                    <a:pt x="4729020" y="5915240"/>
                    <a:pt x="4818030" y="5858029"/>
                  </a:cubicBezTo>
                  <a:cubicBezTo>
                    <a:pt x="4907038" y="5800703"/>
                    <a:pt x="4994577" y="5739672"/>
                    <a:pt x="5081870" y="5676903"/>
                  </a:cubicBezTo>
                  <a:cubicBezTo>
                    <a:pt x="5125392" y="5645519"/>
                    <a:pt x="5168794" y="5613324"/>
                    <a:pt x="5212073" y="5581013"/>
                  </a:cubicBezTo>
                  <a:lnTo>
                    <a:pt x="5343625" y="5481533"/>
                  </a:lnTo>
                  <a:cubicBezTo>
                    <a:pt x="5432696" y="5414768"/>
                    <a:pt x="5521951" y="5349452"/>
                    <a:pt x="5610378" y="5284425"/>
                  </a:cubicBezTo>
                  <a:lnTo>
                    <a:pt x="5822102" y="5126414"/>
                  </a:lnTo>
                  <a:lnTo>
                    <a:pt x="5822102" y="5556641"/>
                  </a:lnTo>
                  <a:lnTo>
                    <a:pt x="5576325" y="5749979"/>
                  </a:lnTo>
                  <a:lnTo>
                    <a:pt x="5447715" y="5852818"/>
                  </a:lnTo>
                  <a:cubicBezTo>
                    <a:pt x="5403945" y="5887445"/>
                    <a:pt x="5359932" y="5922073"/>
                    <a:pt x="5315059" y="5956236"/>
                  </a:cubicBezTo>
                  <a:cubicBezTo>
                    <a:pt x="5225682" y="6024680"/>
                    <a:pt x="5133976" y="6091734"/>
                    <a:pt x="5038468" y="6155776"/>
                  </a:cubicBezTo>
                  <a:cubicBezTo>
                    <a:pt x="4943084" y="6219703"/>
                    <a:pt x="4845002" y="6281777"/>
                    <a:pt x="4741892" y="6338292"/>
                  </a:cubicBezTo>
                  <a:cubicBezTo>
                    <a:pt x="4638784" y="6394692"/>
                    <a:pt x="4532120" y="6447038"/>
                    <a:pt x="4420920" y="6492203"/>
                  </a:cubicBezTo>
                  <a:cubicBezTo>
                    <a:pt x="4199255" y="6583693"/>
                    <a:pt x="3959813" y="6644840"/>
                    <a:pt x="3717672" y="6670434"/>
                  </a:cubicBezTo>
                  <a:cubicBezTo>
                    <a:pt x="3657106" y="6676456"/>
                    <a:pt x="3596419" y="6681321"/>
                    <a:pt x="3535853" y="6683289"/>
                  </a:cubicBezTo>
                  <a:lnTo>
                    <a:pt x="3490367" y="6684910"/>
                  </a:lnTo>
                  <a:lnTo>
                    <a:pt x="3445005" y="6685142"/>
                  </a:lnTo>
                  <a:cubicBezTo>
                    <a:pt x="3414354" y="6685605"/>
                    <a:pt x="3385297" y="6684679"/>
                    <a:pt x="3355872" y="6684100"/>
                  </a:cubicBezTo>
                  <a:cubicBezTo>
                    <a:pt x="3297146" y="6683405"/>
                    <a:pt x="3238052" y="6680047"/>
                    <a:pt x="3179203" y="6677150"/>
                  </a:cubicBezTo>
                  <a:cubicBezTo>
                    <a:pt x="3120232" y="6672519"/>
                    <a:pt x="3061259" y="6668233"/>
                    <a:pt x="3002410" y="6661169"/>
                  </a:cubicBezTo>
                  <a:cubicBezTo>
                    <a:pt x="2884589" y="6647851"/>
                    <a:pt x="2766891" y="6629669"/>
                    <a:pt x="2650296" y="6604191"/>
                  </a:cubicBezTo>
                  <a:cubicBezTo>
                    <a:pt x="2533702" y="6578713"/>
                    <a:pt x="2418456" y="6545938"/>
                    <a:pt x="2306028" y="6505869"/>
                  </a:cubicBezTo>
                  <a:cubicBezTo>
                    <a:pt x="2193602" y="6465683"/>
                    <a:pt x="2084118" y="6417738"/>
                    <a:pt x="1978803" y="6363307"/>
                  </a:cubicBezTo>
                  <a:cubicBezTo>
                    <a:pt x="1873855" y="6308066"/>
                    <a:pt x="1773077" y="6246340"/>
                    <a:pt x="1678428" y="6177779"/>
                  </a:cubicBezTo>
                  <a:cubicBezTo>
                    <a:pt x="1488393" y="6041356"/>
                    <a:pt x="1321900" y="5881423"/>
                    <a:pt x="1175880" y="5710373"/>
                  </a:cubicBezTo>
                  <a:cubicBezTo>
                    <a:pt x="1103177" y="5624441"/>
                    <a:pt x="1035501" y="5535732"/>
                    <a:pt x="971502" y="5445399"/>
                  </a:cubicBezTo>
                  <a:cubicBezTo>
                    <a:pt x="907380" y="5355069"/>
                    <a:pt x="847550" y="5262768"/>
                    <a:pt x="790909" y="5169078"/>
                  </a:cubicBezTo>
                  <a:cubicBezTo>
                    <a:pt x="761974" y="5121712"/>
                    <a:pt x="735492" y="5077357"/>
                    <a:pt x="706680" y="5031959"/>
                  </a:cubicBezTo>
                  <a:cubicBezTo>
                    <a:pt x="678114" y="4986910"/>
                    <a:pt x="649058" y="4941860"/>
                    <a:pt x="619143" y="4897157"/>
                  </a:cubicBezTo>
                  <a:lnTo>
                    <a:pt x="436465" y="4628710"/>
                  </a:lnTo>
                  <a:cubicBezTo>
                    <a:pt x="406182" y="4583544"/>
                    <a:pt x="376267" y="4538147"/>
                    <a:pt x="347088" y="4492171"/>
                  </a:cubicBezTo>
                  <a:cubicBezTo>
                    <a:pt x="317908" y="4446194"/>
                    <a:pt x="288974" y="4400102"/>
                    <a:pt x="262001" y="4352619"/>
                  </a:cubicBezTo>
                  <a:cubicBezTo>
                    <a:pt x="207934" y="4258119"/>
                    <a:pt x="158280" y="4160840"/>
                    <a:pt x="118679" y="4059853"/>
                  </a:cubicBezTo>
                  <a:cubicBezTo>
                    <a:pt x="78343" y="3959214"/>
                    <a:pt x="48429" y="3854870"/>
                    <a:pt x="28322" y="3749136"/>
                  </a:cubicBezTo>
                  <a:cubicBezTo>
                    <a:pt x="9073" y="3643402"/>
                    <a:pt x="0" y="3536046"/>
                    <a:pt x="0" y="3428922"/>
                  </a:cubicBezTo>
                  <a:cubicBezTo>
                    <a:pt x="1594" y="3001816"/>
                    <a:pt x="89010" y="2575868"/>
                    <a:pt x="253052" y="2174356"/>
                  </a:cubicBezTo>
                  <a:cubicBezTo>
                    <a:pt x="294246" y="2074066"/>
                    <a:pt x="338873" y="1974700"/>
                    <a:pt x="389141" y="1877652"/>
                  </a:cubicBezTo>
                  <a:cubicBezTo>
                    <a:pt x="438672" y="1780256"/>
                    <a:pt x="493230" y="1684945"/>
                    <a:pt x="552079" y="1591834"/>
                  </a:cubicBezTo>
                  <a:cubicBezTo>
                    <a:pt x="669900" y="1405728"/>
                    <a:pt x="804394" y="1227729"/>
                    <a:pt x="954950" y="1061773"/>
                  </a:cubicBezTo>
                  <a:cubicBezTo>
                    <a:pt x="1030597" y="979085"/>
                    <a:pt x="1109552" y="898829"/>
                    <a:pt x="1192922" y="822626"/>
                  </a:cubicBezTo>
                  <a:cubicBezTo>
                    <a:pt x="1213642" y="803402"/>
                    <a:pt x="1234483" y="784409"/>
                    <a:pt x="1255939" y="765880"/>
                  </a:cubicBezTo>
                  <a:cubicBezTo>
                    <a:pt x="1277273" y="747234"/>
                    <a:pt x="1298237" y="728241"/>
                    <a:pt x="1320183" y="710291"/>
                  </a:cubicBezTo>
                  <a:cubicBezTo>
                    <a:pt x="1363585" y="673811"/>
                    <a:pt x="1408088" y="638489"/>
                    <a:pt x="1452961" y="603514"/>
                  </a:cubicBezTo>
                  <a:cubicBezTo>
                    <a:pt x="1633310" y="464543"/>
                    <a:pt x="1828125" y="341437"/>
                    <a:pt x="2033360" y="235818"/>
                  </a:cubicBezTo>
                  <a:cubicBezTo>
                    <a:pt x="2187242" y="156561"/>
                    <a:pt x="2347554" y="87597"/>
                    <a:pt x="2512513" y="3001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5102EBE-A80F-4CFF-B1DD-941EF9728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04998" y="98659"/>
              <a:ext cx="5774333" cy="6315453"/>
            </a:xfrm>
            <a:custGeom>
              <a:avLst/>
              <a:gdLst>
                <a:gd name="connsiteX0" fmla="*/ 3707237 w 5774333"/>
                <a:gd name="connsiteY0" fmla="*/ 1489 h 6315453"/>
                <a:gd name="connsiteX1" fmla="*/ 4037665 w 5774333"/>
                <a:gd name="connsiteY1" fmla="*/ 6121 h 6315453"/>
                <a:gd name="connsiteX2" fmla="*/ 4692239 w 5774333"/>
                <a:gd name="connsiteY2" fmla="*/ 102128 h 6315453"/>
                <a:gd name="connsiteX3" fmla="*/ 5315059 w 5774333"/>
                <a:gd name="connsiteY3" fmla="*/ 324945 h 6315453"/>
                <a:gd name="connsiteX4" fmla="*/ 5738325 w 5774333"/>
                <a:gd name="connsiteY4" fmla="*/ 578286 h 6315453"/>
                <a:gd name="connsiteX5" fmla="*/ 5774333 w 5774333"/>
                <a:gd name="connsiteY5" fmla="*/ 606551 h 6315453"/>
                <a:gd name="connsiteX6" fmla="*/ 5774333 w 5774333"/>
                <a:gd name="connsiteY6" fmla="*/ 975490 h 6315453"/>
                <a:gd name="connsiteX7" fmla="*/ 5676001 w 5774333"/>
                <a:gd name="connsiteY7" fmla="*/ 889749 h 6315453"/>
                <a:gd name="connsiteX8" fmla="*/ 5177132 w 5774333"/>
                <a:gd name="connsiteY8" fmla="*/ 581926 h 6315453"/>
                <a:gd name="connsiteX9" fmla="*/ 4615735 w 5774333"/>
                <a:gd name="connsiteY9" fmla="*/ 388640 h 6315453"/>
                <a:gd name="connsiteX10" fmla="*/ 4020010 w 5774333"/>
                <a:gd name="connsiteY10" fmla="*/ 308500 h 6315453"/>
                <a:gd name="connsiteX11" fmla="*/ 3416315 w 5774333"/>
                <a:gd name="connsiteY11" fmla="*/ 328882 h 6315453"/>
                <a:gd name="connsiteX12" fmla="*/ 2823779 w 5774333"/>
                <a:gd name="connsiteY12" fmla="*/ 446545 h 6315453"/>
                <a:gd name="connsiteX13" fmla="*/ 2256987 w 5774333"/>
                <a:gd name="connsiteY13" fmla="*/ 651296 h 6315453"/>
                <a:gd name="connsiteX14" fmla="*/ 1244169 w 5774333"/>
                <a:gd name="connsiteY14" fmla="*/ 1280374 h 6315453"/>
                <a:gd name="connsiteX15" fmla="*/ 830141 w 5774333"/>
                <a:gd name="connsiteY15" fmla="*/ 1700184 h 6315453"/>
                <a:gd name="connsiteX16" fmla="*/ 502792 w 5774333"/>
                <a:gd name="connsiteY16" fmla="*/ 2182300 h 6315453"/>
                <a:gd name="connsiteX17" fmla="*/ 280637 w 5774333"/>
                <a:gd name="connsiteY17" fmla="*/ 2715256 h 6315453"/>
                <a:gd name="connsiteX18" fmla="*/ 199843 w 5774333"/>
                <a:gd name="connsiteY18" fmla="*/ 3283418 h 6315453"/>
                <a:gd name="connsiteX19" fmla="*/ 233926 w 5774333"/>
                <a:gd name="connsiteY19" fmla="*/ 3561593 h 6315453"/>
                <a:gd name="connsiteX20" fmla="*/ 334582 w 5774333"/>
                <a:gd name="connsiteY20" fmla="*/ 3821816 h 6315453"/>
                <a:gd name="connsiteX21" fmla="*/ 404834 w 5774333"/>
                <a:gd name="connsiteY21" fmla="*/ 3944343 h 6315453"/>
                <a:gd name="connsiteX22" fmla="*/ 485506 w 5774333"/>
                <a:gd name="connsiteY22" fmla="*/ 4062932 h 6315453"/>
                <a:gd name="connsiteX23" fmla="*/ 671861 w 5774333"/>
                <a:gd name="connsiteY23" fmla="*/ 4292120 h 6315453"/>
                <a:gd name="connsiteX24" fmla="*/ 873542 w 5774333"/>
                <a:gd name="connsiteY24" fmla="*/ 4523044 h 6315453"/>
                <a:gd name="connsiteX25" fmla="*/ 973831 w 5774333"/>
                <a:gd name="connsiteY25" fmla="*/ 4643601 h 6315453"/>
                <a:gd name="connsiteX26" fmla="*/ 1022014 w 5774333"/>
                <a:gd name="connsiteY26" fmla="*/ 4702780 h 6315453"/>
                <a:gd name="connsiteX27" fmla="*/ 1069215 w 5774333"/>
                <a:gd name="connsiteY27" fmla="*/ 4759411 h 6315453"/>
                <a:gd name="connsiteX28" fmla="*/ 1474784 w 5774333"/>
                <a:gd name="connsiteY28" fmla="*/ 5177948 h 6315453"/>
                <a:gd name="connsiteX29" fmla="*/ 1690442 w 5774333"/>
                <a:gd name="connsiteY29" fmla="*/ 5366255 h 6315453"/>
                <a:gd name="connsiteX30" fmla="*/ 1916276 w 5774333"/>
                <a:gd name="connsiteY30" fmla="*/ 5539852 h 6315453"/>
                <a:gd name="connsiteX31" fmla="*/ 2420784 w 5774333"/>
                <a:gd name="connsiteY31" fmla="*/ 5814437 h 6315453"/>
                <a:gd name="connsiteX32" fmla="*/ 2703015 w 5774333"/>
                <a:gd name="connsiteY32" fmla="*/ 5892029 h 6315453"/>
                <a:gd name="connsiteX33" fmla="*/ 2775350 w 5774333"/>
                <a:gd name="connsiteY33" fmla="*/ 5905695 h 6315453"/>
                <a:gd name="connsiteX34" fmla="*/ 2848299 w 5774333"/>
                <a:gd name="connsiteY34" fmla="*/ 5917161 h 6315453"/>
                <a:gd name="connsiteX35" fmla="*/ 2995544 w 5774333"/>
                <a:gd name="connsiteY35" fmla="*/ 5933605 h 6315453"/>
                <a:gd name="connsiteX36" fmla="*/ 3069596 w 5774333"/>
                <a:gd name="connsiteY36" fmla="*/ 5938933 h 6315453"/>
                <a:gd name="connsiteX37" fmla="*/ 3143894 w 5774333"/>
                <a:gd name="connsiteY37" fmla="*/ 5942639 h 6315453"/>
                <a:gd name="connsiteX38" fmla="*/ 3218436 w 5774333"/>
                <a:gd name="connsiteY38" fmla="*/ 5944260 h 6315453"/>
                <a:gd name="connsiteX39" fmla="*/ 3293101 w 5774333"/>
                <a:gd name="connsiteY39" fmla="*/ 5943913 h 6315453"/>
                <a:gd name="connsiteX40" fmla="*/ 3330494 w 5774333"/>
                <a:gd name="connsiteY40" fmla="*/ 5943565 h 6315453"/>
                <a:gd name="connsiteX41" fmla="*/ 3366540 w 5774333"/>
                <a:gd name="connsiteY41" fmla="*/ 5942059 h 6315453"/>
                <a:gd name="connsiteX42" fmla="*/ 3402462 w 5774333"/>
                <a:gd name="connsiteY42" fmla="*/ 5940323 h 6315453"/>
                <a:gd name="connsiteX43" fmla="*/ 3438262 w 5774333"/>
                <a:gd name="connsiteY43" fmla="*/ 5937543 h 6315453"/>
                <a:gd name="connsiteX44" fmla="*/ 3580236 w 5774333"/>
                <a:gd name="connsiteY44" fmla="*/ 5920982 h 6315453"/>
                <a:gd name="connsiteX45" fmla="*/ 4121034 w 5774333"/>
                <a:gd name="connsiteY45" fmla="*/ 5753290 h 6315453"/>
                <a:gd name="connsiteX46" fmla="*/ 4620639 w 5774333"/>
                <a:gd name="connsiteY46" fmla="*/ 5459364 h 6315453"/>
                <a:gd name="connsiteX47" fmla="*/ 4741771 w 5774333"/>
                <a:gd name="connsiteY47" fmla="*/ 5372971 h 6315453"/>
                <a:gd name="connsiteX48" fmla="*/ 4862901 w 5774333"/>
                <a:gd name="connsiteY48" fmla="*/ 5283682 h 6315453"/>
                <a:gd name="connsiteX49" fmla="*/ 5108229 w 5774333"/>
                <a:gd name="connsiteY49" fmla="*/ 5098386 h 6315453"/>
                <a:gd name="connsiteX50" fmla="*/ 5612493 w 5774333"/>
                <a:gd name="connsiteY50" fmla="*/ 4739724 h 6315453"/>
                <a:gd name="connsiteX51" fmla="*/ 5774333 w 5774333"/>
                <a:gd name="connsiteY51" fmla="*/ 4623488 h 6315453"/>
                <a:gd name="connsiteX52" fmla="*/ 5774333 w 5774333"/>
                <a:gd name="connsiteY52" fmla="*/ 5232926 h 6315453"/>
                <a:gd name="connsiteX53" fmla="*/ 5676492 w 5774333"/>
                <a:gd name="connsiteY53" fmla="*/ 5306859 h 6315453"/>
                <a:gd name="connsiteX54" fmla="*/ 5426260 w 5774333"/>
                <a:gd name="connsiteY54" fmla="*/ 5486233 h 6315453"/>
                <a:gd name="connsiteX55" fmla="*/ 5300225 w 5774333"/>
                <a:gd name="connsiteY55" fmla="*/ 5576217 h 6315453"/>
                <a:gd name="connsiteX56" fmla="*/ 5170757 w 5774333"/>
                <a:gd name="connsiteY56" fmla="*/ 5666780 h 6315453"/>
                <a:gd name="connsiteX57" fmla="*/ 5038100 w 5774333"/>
                <a:gd name="connsiteY57" fmla="*/ 5756185 h 6315453"/>
                <a:gd name="connsiteX58" fmla="*/ 4901276 w 5774333"/>
                <a:gd name="connsiteY58" fmla="*/ 5843043 h 6315453"/>
                <a:gd name="connsiteX59" fmla="*/ 4614019 w 5774333"/>
                <a:gd name="connsiteY59" fmla="*/ 6006103 h 6315453"/>
                <a:gd name="connsiteX60" fmla="*/ 4305061 w 5774333"/>
                <a:gd name="connsiteY60" fmla="*/ 6144726 h 6315453"/>
                <a:gd name="connsiteX61" fmla="*/ 3632710 w 5774333"/>
                <a:gd name="connsiteY61" fmla="*/ 6304196 h 6315453"/>
                <a:gd name="connsiteX62" fmla="*/ 3459594 w 5774333"/>
                <a:gd name="connsiteY62" fmla="*/ 6314504 h 6315453"/>
                <a:gd name="connsiteX63" fmla="*/ 3416315 w 5774333"/>
                <a:gd name="connsiteY63" fmla="*/ 6315429 h 6315453"/>
                <a:gd name="connsiteX64" fmla="*/ 3373159 w 5774333"/>
                <a:gd name="connsiteY64" fmla="*/ 6315198 h 6315453"/>
                <a:gd name="connsiteX65" fmla="*/ 3330127 w 5774333"/>
                <a:gd name="connsiteY65" fmla="*/ 6314735 h 6315453"/>
                <a:gd name="connsiteX66" fmla="*/ 3288320 w 5774333"/>
                <a:gd name="connsiteY66" fmla="*/ 6313230 h 6315453"/>
                <a:gd name="connsiteX67" fmla="*/ 2954350 w 5774333"/>
                <a:gd name="connsiteY67" fmla="*/ 6288098 h 6315453"/>
                <a:gd name="connsiteX68" fmla="*/ 2622466 w 5774333"/>
                <a:gd name="connsiteY68" fmla="*/ 6232742 h 6315453"/>
                <a:gd name="connsiteX69" fmla="*/ 2296466 w 5774333"/>
                <a:gd name="connsiteY69" fmla="*/ 6146001 h 6315453"/>
                <a:gd name="connsiteX70" fmla="*/ 1672419 w 5774333"/>
                <a:gd name="connsiteY70" fmla="*/ 5885197 h 6315453"/>
                <a:gd name="connsiteX71" fmla="*/ 1146578 w 5774333"/>
                <a:gd name="connsiteY71" fmla="*/ 5479168 h 6315453"/>
                <a:gd name="connsiteX72" fmla="*/ 933372 w 5774333"/>
                <a:gd name="connsiteY72" fmla="*/ 5234810 h 6315453"/>
                <a:gd name="connsiteX73" fmla="*/ 747140 w 5774333"/>
                <a:gd name="connsiteY73" fmla="*/ 4976091 h 6315453"/>
                <a:gd name="connsiteX74" fmla="*/ 703616 w 5774333"/>
                <a:gd name="connsiteY74" fmla="*/ 4910196 h 6315453"/>
                <a:gd name="connsiteX75" fmla="*/ 662053 w 5774333"/>
                <a:gd name="connsiteY75" fmla="*/ 4846269 h 6315453"/>
                <a:gd name="connsiteX76" fmla="*/ 580033 w 5774333"/>
                <a:gd name="connsiteY76" fmla="*/ 4722352 h 6315453"/>
                <a:gd name="connsiteX77" fmla="*/ 410105 w 5774333"/>
                <a:gd name="connsiteY77" fmla="*/ 4469193 h 6315453"/>
                <a:gd name="connsiteX78" fmla="*/ 244224 w 5774333"/>
                <a:gd name="connsiteY78" fmla="*/ 4201556 h 6315453"/>
                <a:gd name="connsiteX79" fmla="*/ 169437 w 5774333"/>
                <a:gd name="connsiteY79" fmla="*/ 4059690 h 6315453"/>
                <a:gd name="connsiteX80" fmla="*/ 105929 w 5774333"/>
                <a:gd name="connsiteY80" fmla="*/ 3911221 h 6315453"/>
                <a:gd name="connsiteX81" fmla="*/ 57256 w 5774333"/>
                <a:gd name="connsiteY81" fmla="*/ 3757195 h 6315453"/>
                <a:gd name="connsiteX82" fmla="*/ 39111 w 5774333"/>
                <a:gd name="connsiteY82" fmla="*/ 3678677 h 6315453"/>
                <a:gd name="connsiteX83" fmla="*/ 31142 w 5774333"/>
                <a:gd name="connsiteY83" fmla="*/ 3639300 h 6315453"/>
                <a:gd name="connsiteX84" fmla="*/ 24521 w 5774333"/>
                <a:gd name="connsiteY84" fmla="*/ 3599809 h 6315453"/>
                <a:gd name="connsiteX85" fmla="*/ 0 w 5774333"/>
                <a:gd name="connsiteY85" fmla="*/ 3283418 h 6315453"/>
                <a:gd name="connsiteX86" fmla="*/ 68045 w 5774333"/>
                <a:gd name="connsiteY86" fmla="*/ 2666963 h 6315453"/>
                <a:gd name="connsiteX87" fmla="*/ 272546 w 5774333"/>
                <a:gd name="connsiteY87" fmla="*/ 2076334 h 6315453"/>
                <a:gd name="connsiteX88" fmla="*/ 1039300 w 5774333"/>
                <a:gd name="connsiteY88" fmla="*/ 1073307 h 6315453"/>
                <a:gd name="connsiteX89" fmla="*/ 1547733 w 5774333"/>
                <a:gd name="connsiteY89" fmla="*/ 680365 h 6315453"/>
                <a:gd name="connsiteX90" fmla="*/ 2115995 w 5774333"/>
                <a:gd name="connsiteY90" fmla="*/ 368373 h 6315453"/>
                <a:gd name="connsiteX91" fmla="*/ 3377451 w 5774333"/>
                <a:gd name="connsiteY91" fmla="*/ 24304 h 6315453"/>
                <a:gd name="connsiteX92" fmla="*/ 3707237 w 5774333"/>
                <a:gd name="connsiteY92" fmla="*/ 1489 h 6315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</a:cxnLst>
              <a:rect l="l" t="t" r="r" b="b"/>
              <a:pathLst>
                <a:path w="5774333" h="6315453">
                  <a:moveTo>
                    <a:pt x="3707237" y="1489"/>
                  </a:moveTo>
                  <a:cubicBezTo>
                    <a:pt x="3817502" y="-1522"/>
                    <a:pt x="3927875" y="41"/>
                    <a:pt x="4037665" y="6121"/>
                  </a:cubicBezTo>
                  <a:cubicBezTo>
                    <a:pt x="4257614" y="18745"/>
                    <a:pt x="4477439" y="49665"/>
                    <a:pt x="4692239" y="102128"/>
                  </a:cubicBezTo>
                  <a:cubicBezTo>
                    <a:pt x="4907039" y="154474"/>
                    <a:pt x="5116811" y="228592"/>
                    <a:pt x="5315059" y="324945"/>
                  </a:cubicBezTo>
                  <a:cubicBezTo>
                    <a:pt x="5463562" y="397211"/>
                    <a:pt x="5606133" y="481527"/>
                    <a:pt x="5738325" y="578286"/>
                  </a:cubicBezTo>
                  <a:lnTo>
                    <a:pt x="5774333" y="606551"/>
                  </a:lnTo>
                  <a:lnTo>
                    <a:pt x="5774333" y="975490"/>
                  </a:lnTo>
                  <a:lnTo>
                    <a:pt x="5676001" y="889749"/>
                  </a:lnTo>
                  <a:cubicBezTo>
                    <a:pt x="5522381" y="769886"/>
                    <a:pt x="5355519" y="665657"/>
                    <a:pt x="5177132" y="581926"/>
                  </a:cubicBezTo>
                  <a:cubicBezTo>
                    <a:pt x="4998867" y="497965"/>
                    <a:pt x="4810183" y="433574"/>
                    <a:pt x="4615735" y="388640"/>
                  </a:cubicBezTo>
                  <a:cubicBezTo>
                    <a:pt x="4421289" y="343591"/>
                    <a:pt x="4221446" y="317649"/>
                    <a:pt x="4020010" y="308500"/>
                  </a:cubicBezTo>
                  <a:cubicBezTo>
                    <a:pt x="3818207" y="298887"/>
                    <a:pt x="3616649" y="305257"/>
                    <a:pt x="3416315" y="328882"/>
                  </a:cubicBezTo>
                  <a:cubicBezTo>
                    <a:pt x="3216106" y="352623"/>
                    <a:pt x="3017736" y="392346"/>
                    <a:pt x="2823779" y="446545"/>
                  </a:cubicBezTo>
                  <a:cubicBezTo>
                    <a:pt x="2629699" y="500513"/>
                    <a:pt x="2440401" y="570345"/>
                    <a:pt x="2256987" y="651296"/>
                  </a:cubicBezTo>
                  <a:cubicBezTo>
                    <a:pt x="1889058" y="811461"/>
                    <a:pt x="1545527" y="1023856"/>
                    <a:pt x="1244169" y="1280374"/>
                  </a:cubicBezTo>
                  <a:cubicBezTo>
                    <a:pt x="1093982" y="1409039"/>
                    <a:pt x="954828" y="1549400"/>
                    <a:pt x="830141" y="1700184"/>
                  </a:cubicBezTo>
                  <a:cubicBezTo>
                    <a:pt x="705209" y="1850736"/>
                    <a:pt x="594989" y="2012176"/>
                    <a:pt x="502792" y="2182300"/>
                  </a:cubicBezTo>
                  <a:cubicBezTo>
                    <a:pt x="410595" y="2352308"/>
                    <a:pt x="333847" y="2530307"/>
                    <a:pt x="280637" y="2715256"/>
                  </a:cubicBezTo>
                  <a:cubicBezTo>
                    <a:pt x="227306" y="2899741"/>
                    <a:pt x="199719" y="3091521"/>
                    <a:pt x="199843" y="3283418"/>
                  </a:cubicBezTo>
                  <a:cubicBezTo>
                    <a:pt x="200946" y="3377687"/>
                    <a:pt x="210754" y="3471261"/>
                    <a:pt x="233926" y="3561593"/>
                  </a:cubicBezTo>
                  <a:cubicBezTo>
                    <a:pt x="256730" y="3652040"/>
                    <a:pt x="292162" y="3738550"/>
                    <a:pt x="334582" y="3821816"/>
                  </a:cubicBezTo>
                  <a:cubicBezTo>
                    <a:pt x="356038" y="3863392"/>
                    <a:pt x="379823" y="3904157"/>
                    <a:pt x="404834" y="3944343"/>
                  </a:cubicBezTo>
                  <a:cubicBezTo>
                    <a:pt x="430212" y="3984413"/>
                    <a:pt x="457308" y="4023905"/>
                    <a:pt x="485506" y="4062932"/>
                  </a:cubicBezTo>
                  <a:cubicBezTo>
                    <a:pt x="542639" y="4140757"/>
                    <a:pt x="606146" y="4216265"/>
                    <a:pt x="671861" y="4292120"/>
                  </a:cubicBezTo>
                  <a:cubicBezTo>
                    <a:pt x="737576" y="4368091"/>
                    <a:pt x="806234" y="4444062"/>
                    <a:pt x="873542" y="4523044"/>
                  </a:cubicBezTo>
                  <a:cubicBezTo>
                    <a:pt x="907258" y="4562419"/>
                    <a:pt x="940606" y="4602721"/>
                    <a:pt x="973831" y="4643601"/>
                  </a:cubicBezTo>
                  <a:lnTo>
                    <a:pt x="1022014" y="4702780"/>
                  </a:lnTo>
                  <a:cubicBezTo>
                    <a:pt x="1037829" y="4721658"/>
                    <a:pt x="1052910" y="4740998"/>
                    <a:pt x="1069215" y="4759411"/>
                  </a:cubicBezTo>
                  <a:cubicBezTo>
                    <a:pt x="1196477" y="4909269"/>
                    <a:pt x="1334527" y="5047199"/>
                    <a:pt x="1474784" y="5177948"/>
                  </a:cubicBezTo>
                  <a:cubicBezTo>
                    <a:pt x="1545281" y="5243033"/>
                    <a:pt x="1617003" y="5305917"/>
                    <a:pt x="1690442" y="5366255"/>
                  </a:cubicBezTo>
                  <a:cubicBezTo>
                    <a:pt x="1763881" y="5426591"/>
                    <a:pt x="1838668" y="5484959"/>
                    <a:pt x="1916276" y="5539852"/>
                  </a:cubicBezTo>
                  <a:cubicBezTo>
                    <a:pt x="2070877" y="5649872"/>
                    <a:pt x="2237617" y="5748194"/>
                    <a:pt x="2420784" y="5814437"/>
                  </a:cubicBezTo>
                  <a:cubicBezTo>
                    <a:pt x="2512124" y="5847559"/>
                    <a:pt x="2606773" y="5872921"/>
                    <a:pt x="2703015" y="5892029"/>
                  </a:cubicBezTo>
                  <a:cubicBezTo>
                    <a:pt x="2727168" y="5896546"/>
                    <a:pt x="2751075" y="5901758"/>
                    <a:pt x="2775350" y="5905695"/>
                  </a:cubicBezTo>
                  <a:lnTo>
                    <a:pt x="2848299" y="5917161"/>
                  </a:lnTo>
                  <a:cubicBezTo>
                    <a:pt x="2897218" y="5923298"/>
                    <a:pt x="2946136" y="5929784"/>
                    <a:pt x="2995544" y="5933605"/>
                  </a:cubicBezTo>
                  <a:cubicBezTo>
                    <a:pt x="3020188" y="5935806"/>
                    <a:pt x="3044831" y="5937891"/>
                    <a:pt x="3069596" y="5938933"/>
                  </a:cubicBezTo>
                  <a:cubicBezTo>
                    <a:pt x="3094362" y="5940090"/>
                    <a:pt x="3119005" y="5941943"/>
                    <a:pt x="3143894" y="5942639"/>
                  </a:cubicBezTo>
                  <a:lnTo>
                    <a:pt x="3218436" y="5944260"/>
                  </a:lnTo>
                  <a:cubicBezTo>
                    <a:pt x="3243201" y="5944838"/>
                    <a:pt x="3268212" y="5944029"/>
                    <a:pt x="3293101" y="5943913"/>
                  </a:cubicBezTo>
                  <a:lnTo>
                    <a:pt x="3330494" y="5943565"/>
                  </a:lnTo>
                  <a:cubicBezTo>
                    <a:pt x="3342632" y="5943218"/>
                    <a:pt x="3354524" y="5942523"/>
                    <a:pt x="3366540" y="5942059"/>
                  </a:cubicBezTo>
                  <a:cubicBezTo>
                    <a:pt x="3378554" y="5941480"/>
                    <a:pt x="3390570" y="5941134"/>
                    <a:pt x="3402462" y="5940323"/>
                  </a:cubicBezTo>
                  <a:lnTo>
                    <a:pt x="3438262" y="5937543"/>
                  </a:lnTo>
                  <a:cubicBezTo>
                    <a:pt x="3485954" y="5933953"/>
                    <a:pt x="3533279" y="5927931"/>
                    <a:pt x="3580236" y="5920982"/>
                  </a:cubicBezTo>
                  <a:cubicBezTo>
                    <a:pt x="3768185" y="5891567"/>
                    <a:pt x="3948901" y="5834010"/>
                    <a:pt x="4121034" y="5753290"/>
                  </a:cubicBezTo>
                  <a:cubicBezTo>
                    <a:pt x="4293782" y="5673497"/>
                    <a:pt x="4458191" y="5571353"/>
                    <a:pt x="4620639" y="5459364"/>
                  </a:cubicBezTo>
                  <a:cubicBezTo>
                    <a:pt x="4661221" y="5431455"/>
                    <a:pt x="4701557" y="5402271"/>
                    <a:pt x="4741771" y="5372971"/>
                  </a:cubicBezTo>
                  <a:cubicBezTo>
                    <a:pt x="4782230" y="5343672"/>
                    <a:pt x="4822566" y="5313908"/>
                    <a:pt x="4862901" y="5283682"/>
                  </a:cubicBezTo>
                  <a:lnTo>
                    <a:pt x="5108229" y="5098386"/>
                  </a:lnTo>
                  <a:cubicBezTo>
                    <a:pt x="5276563" y="4972270"/>
                    <a:pt x="5446489" y="4854838"/>
                    <a:pt x="5612493" y="4739724"/>
                  </a:cubicBezTo>
                  <a:lnTo>
                    <a:pt x="5774333" y="4623488"/>
                  </a:lnTo>
                  <a:lnTo>
                    <a:pt x="5774333" y="5232926"/>
                  </a:lnTo>
                  <a:lnTo>
                    <a:pt x="5676492" y="5306859"/>
                  </a:lnTo>
                  <a:cubicBezTo>
                    <a:pt x="5592693" y="5367905"/>
                    <a:pt x="5508955" y="5427286"/>
                    <a:pt x="5426260" y="5486233"/>
                  </a:cubicBezTo>
                  <a:lnTo>
                    <a:pt x="5300225" y="5576217"/>
                  </a:lnTo>
                  <a:cubicBezTo>
                    <a:pt x="5257559" y="5606443"/>
                    <a:pt x="5214525" y="5636901"/>
                    <a:pt x="5170757" y="5666780"/>
                  </a:cubicBezTo>
                  <a:cubicBezTo>
                    <a:pt x="5127110" y="5696775"/>
                    <a:pt x="5082973" y="5726654"/>
                    <a:pt x="5038100" y="5756185"/>
                  </a:cubicBezTo>
                  <a:cubicBezTo>
                    <a:pt x="4993106" y="5785486"/>
                    <a:pt x="4947743" y="5814553"/>
                    <a:pt x="4901276" y="5843043"/>
                  </a:cubicBezTo>
                  <a:cubicBezTo>
                    <a:pt x="4808835" y="5900136"/>
                    <a:pt x="4713449" y="5955494"/>
                    <a:pt x="4614019" y="6006103"/>
                  </a:cubicBezTo>
                  <a:cubicBezTo>
                    <a:pt x="4514711" y="6056943"/>
                    <a:pt x="4411971" y="6104192"/>
                    <a:pt x="4305061" y="6144726"/>
                  </a:cubicBezTo>
                  <a:cubicBezTo>
                    <a:pt x="4092223" y="6226952"/>
                    <a:pt x="3863569" y="6282424"/>
                    <a:pt x="3632710" y="6304196"/>
                  </a:cubicBezTo>
                  <a:cubicBezTo>
                    <a:pt x="3574964" y="6309408"/>
                    <a:pt x="3517218" y="6313345"/>
                    <a:pt x="3459594" y="6314504"/>
                  </a:cubicBezTo>
                  <a:lnTo>
                    <a:pt x="3416315" y="6315429"/>
                  </a:lnTo>
                  <a:cubicBezTo>
                    <a:pt x="3401971" y="6315546"/>
                    <a:pt x="3387505" y="6315198"/>
                    <a:pt x="3373159" y="6315198"/>
                  </a:cubicBezTo>
                  <a:lnTo>
                    <a:pt x="3330127" y="6314735"/>
                  </a:lnTo>
                  <a:lnTo>
                    <a:pt x="3288320" y="6313230"/>
                  </a:lnTo>
                  <a:cubicBezTo>
                    <a:pt x="3176996" y="6309870"/>
                    <a:pt x="3065428" y="6301533"/>
                    <a:pt x="2954350" y="6288098"/>
                  </a:cubicBezTo>
                  <a:cubicBezTo>
                    <a:pt x="2843150" y="6275360"/>
                    <a:pt x="2732194" y="6257061"/>
                    <a:pt x="2622466" y="6232742"/>
                  </a:cubicBezTo>
                  <a:cubicBezTo>
                    <a:pt x="2512859" y="6208190"/>
                    <a:pt x="2404110" y="6179122"/>
                    <a:pt x="2296466" y="6146001"/>
                  </a:cubicBezTo>
                  <a:cubicBezTo>
                    <a:pt x="2081544" y="6079179"/>
                    <a:pt x="1869073" y="5996027"/>
                    <a:pt x="1672419" y="5885197"/>
                  </a:cubicBezTo>
                  <a:cubicBezTo>
                    <a:pt x="1475643" y="5774599"/>
                    <a:pt x="1299954" y="5634353"/>
                    <a:pt x="1146578" y="5479168"/>
                  </a:cubicBezTo>
                  <a:cubicBezTo>
                    <a:pt x="1069461" y="5401692"/>
                    <a:pt x="999333" y="5319235"/>
                    <a:pt x="933372" y="5234810"/>
                  </a:cubicBezTo>
                  <a:cubicBezTo>
                    <a:pt x="867781" y="5150038"/>
                    <a:pt x="805375" y="5063991"/>
                    <a:pt x="747140" y="4976091"/>
                  </a:cubicBezTo>
                  <a:cubicBezTo>
                    <a:pt x="732182" y="4954319"/>
                    <a:pt x="718082" y="4932199"/>
                    <a:pt x="703616" y="4910196"/>
                  </a:cubicBezTo>
                  <a:lnTo>
                    <a:pt x="662053" y="4846269"/>
                  </a:lnTo>
                  <a:cubicBezTo>
                    <a:pt x="635449" y="4804925"/>
                    <a:pt x="607864" y="4763928"/>
                    <a:pt x="580033" y="4722352"/>
                  </a:cubicBezTo>
                  <a:lnTo>
                    <a:pt x="410105" y="4469193"/>
                  </a:lnTo>
                  <a:cubicBezTo>
                    <a:pt x="353095" y="4382915"/>
                    <a:pt x="296820" y="4294089"/>
                    <a:pt x="244224" y="4201556"/>
                  </a:cubicBezTo>
                  <a:cubicBezTo>
                    <a:pt x="217987" y="4155232"/>
                    <a:pt x="192609" y="4108098"/>
                    <a:pt x="169437" y="4059690"/>
                  </a:cubicBezTo>
                  <a:cubicBezTo>
                    <a:pt x="146388" y="4011165"/>
                    <a:pt x="124932" y="3961715"/>
                    <a:pt x="105929" y="3911221"/>
                  </a:cubicBezTo>
                  <a:cubicBezTo>
                    <a:pt x="87293" y="3860613"/>
                    <a:pt x="70742" y="3809309"/>
                    <a:pt x="57256" y="3757195"/>
                  </a:cubicBezTo>
                  <a:cubicBezTo>
                    <a:pt x="50881" y="3731138"/>
                    <a:pt x="44383" y="3704965"/>
                    <a:pt x="39111" y="3678677"/>
                  </a:cubicBezTo>
                  <a:lnTo>
                    <a:pt x="31142" y="3639300"/>
                  </a:lnTo>
                  <a:lnTo>
                    <a:pt x="24521" y="3599809"/>
                  </a:lnTo>
                  <a:cubicBezTo>
                    <a:pt x="7234" y="3494423"/>
                    <a:pt x="0" y="3388457"/>
                    <a:pt x="0" y="3283418"/>
                  </a:cubicBezTo>
                  <a:cubicBezTo>
                    <a:pt x="491" y="3076698"/>
                    <a:pt x="23418" y="2869978"/>
                    <a:pt x="68045" y="2666963"/>
                  </a:cubicBezTo>
                  <a:cubicBezTo>
                    <a:pt x="112550" y="2464064"/>
                    <a:pt x="180717" y="2265104"/>
                    <a:pt x="272546" y="2076334"/>
                  </a:cubicBezTo>
                  <a:cubicBezTo>
                    <a:pt x="457062" y="1698794"/>
                    <a:pt x="724457" y="1360978"/>
                    <a:pt x="1039300" y="1073307"/>
                  </a:cubicBezTo>
                  <a:cubicBezTo>
                    <a:pt x="1197090" y="929472"/>
                    <a:pt x="1367630" y="798259"/>
                    <a:pt x="1547733" y="680365"/>
                  </a:cubicBezTo>
                  <a:cubicBezTo>
                    <a:pt x="1728081" y="562587"/>
                    <a:pt x="1917870" y="457663"/>
                    <a:pt x="2115995" y="368373"/>
                  </a:cubicBezTo>
                  <a:cubicBezTo>
                    <a:pt x="2512737" y="191070"/>
                    <a:pt x="2939883" y="73870"/>
                    <a:pt x="3377451" y="24304"/>
                  </a:cubicBezTo>
                  <a:cubicBezTo>
                    <a:pt x="3486812" y="12086"/>
                    <a:pt x="3596971" y="4500"/>
                    <a:pt x="3707237" y="148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EC18CE1F-9DF1-47AF-9E66-6CE348AC2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464911 h 6229400"/>
                <a:gd name="connsiteX4" fmla="*/ 5660063 w 5769111"/>
                <a:gd name="connsiteY4" fmla="*/ 1328105 h 6229400"/>
                <a:gd name="connsiteX5" fmla="*/ 4910471 w 5769111"/>
                <a:gd name="connsiteY5" fmla="*/ 781599 h 6229400"/>
                <a:gd name="connsiteX6" fmla="*/ 3882695 w 5769111"/>
                <a:gd name="connsiteY6" fmla="*/ 579048 h 6229400"/>
                <a:gd name="connsiteX7" fmla="*/ 2683153 w 5769111"/>
                <a:gd name="connsiteY7" fmla="*/ 797003 h 6229400"/>
                <a:gd name="connsiteX8" fmla="*/ 1617493 w 5769111"/>
                <a:gd name="connsiteY8" fmla="*/ 1395738 h 6229400"/>
                <a:gd name="connsiteX9" fmla="*/ 880408 w 5769111"/>
                <a:gd name="connsiteY9" fmla="*/ 2259099 h 6229400"/>
                <a:gd name="connsiteX10" fmla="*/ 613135 w 5769111"/>
                <a:gd name="connsiteY10" fmla="*/ 3263863 h 6229400"/>
                <a:gd name="connsiteX11" fmla="*/ 1055484 w 5769111"/>
                <a:gd name="connsiteY11" fmla="*/ 4196825 h 6229400"/>
                <a:gd name="connsiteX12" fmla="*/ 1278376 w 5769111"/>
                <a:gd name="connsiteY12" fmla="*/ 4492950 h 6229400"/>
                <a:gd name="connsiteX13" fmla="*/ 3369851 w 5769111"/>
                <a:gd name="connsiteY13" fmla="*/ 5650468 h 6229400"/>
                <a:gd name="connsiteX14" fmla="*/ 4957551 w 5769111"/>
                <a:gd name="connsiteY14" fmla="*/ 4938355 h 6229400"/>
                <a:gd name="connsiteX15" fmla="*/ 5150773 w 5769111"/>
                <a:gd name="connsiteY15" fmla="*/ 4796950 h 6229400"/>
                <a:gd name="connsiteX16" fmla="*/ 5747247 w 5769111"/>
                <a:gd name="connsiteY16" fmla="*/ 4338176 h 6229400"/>
                <a:gd name="connsiteX17" fmla="*/ 5769111 w 5769111"/>
                <a:gd name="connsiteY17" fmla="*/ 4318497 h 6229400"/>
                <a:gd name="connsiteX18" fmla="*/ 5769111 w 5769111"/>
                <a:gd name="connsiteY18" fmla="*/ 5074612 h 6229400"/>
                <a:gd name="connsiteX19" fmla="*/ 5636252 w 5769111"/>
                <a:gd name="connsiteY19" fmla="*/ 5174208 h 6229400"/>
                <a:gd name="connsiteX20" fmla="*/ 5334922 w 5769111"/>
                <a:gd name="connsiteY20" fmla="*/ 5394528 h 6229400"/>
                <a:gd name="connsiteX21" fmla="*/ 3369727 w 5769111"/>
                <a:gd name="connsiteY21" fmla="*/ 6229400 h 6229400"/>
                <a:gd name="connsiteX22" fmla="*/ 771046 w 5769111"/>
                <a:gd name="connsiteY22" fmla="*/ 4817913 h 6229400"/>
                <a:gd name="connsiteX23" fmla="*/ 0 w 5769111"/>
                <a:gd name="connsiteY23" fmla="*/ 3263748 h 6229400"/>
                <a:gd name="connsiteX24" fmla="*/ 3882695 w 5769111"/>
                <a:gd name="connsiteY24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464911"/>
                  </a:lnTo>
                  <a:lnTo>
                    <a:pt x="5660063" y="1328105"/>
                  </a:lnTo>
                  <a:cubicBezTo>
                    <a:pt x="5449800" y="1091506"/>
                    <a:pt x="5197607" y="907600"/>
                    <a:pt x="4910471" y="781599"/>
                  </a:cubicBezTo>
                  <a:cubicBezTo>
                    <a:pt x="4604088" y="647260"/>
                    <a:pt x="4258349" y="579048"/>
                    <a:pt x="3882695" y="579048"/>
                  </a:cubicBezTo>
                  <a:cubicBezTo>
                    <a:pt x="3484238" y="579048"/>
                    <a:pt x="3080631" y="652240"/>
                    <a:pt x="2683153" y="797003"/>
                  </a:cubicBezTo>
                  <a:cubicBezTo>
                    <a:pt x="2296098" y="937595"/>
                    <a:pt x="1927678" y="1144662"/>
                    <a:pt x="1617493" y="1395738"/>
                  </a:cubicBezTo>
                  <a:cubicBezTo>
                    <a:pt x="1301915" y="1651098"/>
                    <a:pt x="1053890" y="1941665"/>
                    <a:pt x="880408" y="2259099"/>
                  </a:cubicBezTo>
                  <a:cubicBezTo>
                    <a:pt x="703125" y="2583597"/>
                    <a:pt x="613135" y="2921645"/>
                    <a:pt x="613135" y="3263863"/>
                  </a:cubicBezTo>
                  <a:cubicBezTo>
                    <a:pt x="613135" y="3608512"/>
                    <a:pt x="756702" y="3809789"/>
                    <a:pt x="1055484" y="4196825"/>
                  </a:cubicBezTo>
                  <a:cubicBezTo>
                    <a:pt x="1127574" y="4290167"/>
                    <a:pt x="1202116" y="4386753"/>
                    <a:pt x="1278376" y="4492950"/>
                  </a:cubicBezTo>
                  <a:cubicBezTo>
                    <a:pt x="1861105" y="5304313"/>
                    <a:pt x="2486623" y="5650468"/>
                    <a:pt x="3369851" y="5650468"/>
                  </a:cubicBezTo>
                  <a:cubicBezTo>
                    <a:pt x="3949515" y="5650468"/>
                    <a:pt x="4374822" y="5368471"/>
                    <a:pt x="4957551" y="4938355"/>
                  </a:cubicBezTo>
                  <a:cubicBezTo>
                    <a:pt x="5022653" y="4890293"/>
                    <a:pt x="5087755" y="4842811"/>
                    <a:pt x="5150773" y="4796950"/>
                  </a:cubicBezTo>
                  <a:cubicBezTo>
                    <a:pt x="5364254" y="4641404"/>
                    <a:pt x="5570313" y="4491241"/>
                    <a:pt x="5747247" y="4338176"/>
                  </a:cubicBezTo>
                  <a:lnTo>
                    <a:pt x="5769111" y="4318497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BD26A8C-8D1D-41E6-A71E-FE9AC75F3F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675390 h 6229400"/>
                <a:gd name="connsiteX4" fmla="*/ 5711488 w 5769111"/>
                <a:gd name="connsiteY4" fmla="*/ 1585205 h 6229400"/>
                <a:gd name="connsiteX5" fmla="*/ 5566027 w 5769111"/>
                <a:gd name="connsiteY5" fmla="*/ 1402571 h 6229400"/>
                <a:gd name="connsiteX6" fmla="*/ 4858734 w 5769111"/>
                <a:gd name="connsiteY6" fmla="*/ 886639 h 6229400"/>
                <a:gd name="connsiteX7" fmla="*/ 3882695 w 5769111"/>
                <a:gd name="connsiteY7" fmla="*/ 694858 h 6229400"/>
                <a:gd name="connsiteX8" fmla="*/ 2727046 w 5769111"/>
                <a:gd name="connsiteY8" fmla="*/ 905053 h 6229400"/>
                <a:gd name="connsiteX9" fmla="*/ 1697186 w 5769111"/>
                <a:gd name="connsiteY9" fmla="*/ 1483638 h 6229400"/>
                <a:gd name="connsiteX10" fmla="*/ 989279 w 5769111"/>
                <a:gd name="connsiteY10" fmla="*/ 2312139 h 6229400"/>
                <a:gd name="connsiteX11" fmla="*/ 735615 w 5769111"/>
                <a:gd name="connsiteY11" fmla="*/ 3263863 h 6229400"/>
                <a:gd name="connsiteX12" fmla="*/ 1154424 w 5769111"/>
                <a:gd name="connsiteY12" fmla="*/ 4128614 h 6229400"/>
                <a:gd name="connsiteX13" fmla="*/ 1379768 w 5769111"/>
                <a:gd name="connsiteY13" fmla="*/ 4427981 h 6229400"/>
                <a:gd name="connsiteX14" fmla="*/ 2239456 w 5769111"/>
                <a:gd name="connsiteY14" fmla="*/ 5256947 h 6229400"/>
                <a:gd name="connsiteX15" fmla="*/ 3369727 w 5769111"/>
                <a:gd name="connsiteY15" fmla="*/ 5534658 h 6229400"/>
                <a:gd name="connsiteX16" fmla="*/ 4096760 w 5769111"/>
                <a:gd name="connsiteY16" fmla="*/ 5357817 h 6229400"/>
                <a:gd name="connsiteX17" fmla="*/ 4881905 w 5769111"/>
                <a:gd name="connsiteY17" fmla="*/ 4847212 h 6229400"/>
                <a:gd name="connsiteX18" fmla="*/ 5075739 w 5769111"/>
                <a:gd name="connsiteY18" fmla="*/ 4705346 h 6229400"/>
                <a:gd name="connsiteX19" fmla="*/ 5759930 w 5769111"/>
                <a:gd name="connsiteY19" fmla="*/ 4166809 h 6229400"/>
                <a:gd name="connsiteX20" fmla="*/ 5769111 w 5769111"/>
                <a:gd name="connsiteY20" fmla="*/ 4157764 h 6229400"/>
                <a:gd name="connsiteX21" fmla="*/ 5769111 w 5769111"/>
                <a:gd name="connsiteY21" fmla="*/ 5074612 h 6229400"/>
                <a:gd name="connsiteX22" fmla="*/ 5636252 w 5769111"/>
                <a:gd name="connsiteY22" fmla="*/ 5174208 h 6229400"/>
                <a:gd name="connsiteX23" fmla="*/ 5334922 w 5769111"/>
                <a:gd name="connsiteY23" fmla="*/ 5394528 h 6229400"/>
                <a:gd name="connsiteX24" fmla="*/ 3369727 w 5769111"/>
                <a:gd name="connsiteY24" fmla="*/ 6229400 h 6229400"/>
                <a:gd name="connsiteX25" fmla="*/ 771046 w 5769111"/>
                <a:gd name="connsiteY25" fmla="*/ 4817913 h 6229400"/>
                <a:gd name="connsiteX26" fmla="*/ 0 w 5769111"/>
                <a:gd name="connsiteY26" fmla="*/ 3263748 h 6229400"/>
                <a:gd name="connsiteX27" fmla="*/ 3882695 w 5769111"/>
                <a:gd name="connsiteY27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675390"/>
                  </a:lnTo>
                  <a:lnTo>
                    <a:pt x="5711488" y="1585205"/>
                  </a:lnTo>
                  <a:cubicBezTo>
                    <a:pt x="5665942" y="1521390"/>
                    <a:pt x="5617428" y="1460432"/>
                    <a:pt x="5566027" y="1402571"/>
                  </a:cubicBezTo>
                  <a:cubicBezTo>
                    <a:pt x="5367411" y="1179058"/>
                    <a:pt x="5129563" y="1005460"/>
                    <a:pt x="4858734" y="886639"/>
                  </a:cubicBezTo>
                  <a:cubicBezTo>
                    <a:pt x="4568779" y="759363"/>
                    <a:pt x="4240327" y="694858"/>
                    <a:pt x="3882695" y="694858"/>
                  </a:cubicBezTo>
                  <a:cubicBezTo>
                    <a:pt x="3504835" y="694858"/>
                    <a:pt x="3105151" y="767471"/>
                    <a:pt x="2727046" y="905053"/>
                  </a:cubicBezTo>
                  <a:cubicBezTo>
                    <a:pt x="2352985" y="1041013"/>
                    <a:pt x="1996826" y="1241132"/>
                    <a:pt x="1697186" y="1483638"/>
                  </a:cubicBezTo>
                  <a:cubicBezTo>
                    <a:pt x="1397913" y="1725796"/>
                    <a:pt x="1153199" y="2012308"/>
                    <a:pt x="989279" y="2312139"/>
                  </a:cubicBezTo>
                  <a:cubicBezTo>
                    <a:pt x="820946" y="2620077"/>
                    <a:pt x="735615" y="2940290"/>
                    <a:pt x="735615" y="3263863"/>
                  </a:cubicBezTo>
                  <a:cubicBezTo>
                    <a:pt x="735615" y="3573074"/>
                    <a:pt x="863980" y="3752464"/>
                    <a:pt x="1154424" y="4128614"/>
                  </a:cubicBezTo>
                  <a:cubicBezTo>
                    <a:pt x="1227127" y="4222767"/>
                    <a:pt x="1302282" y="4320162"/>
                    <a:pt x="1379768" y="4427981"/>
                  </a:cubicBezTo>
                  <a:cubicBezTo>
                    <a:pt x="1653784" y="4809458"/>
                    <a:pt x="1934912" y="5080685"/>
                    <a:pt x="2239456" y="5256947"/>
                  </a:cubicBezTo>
                  <a:cubicBezTo>
                    <a:pt x="2562268" y="5443863"/>
                    <a:pt x="2932037" y="5534658"/>
                    <a:pt x="3369727" y="5534658"/>
                  </a:cubicBezTo>
                  <a:cubicBezTo>
                    <a:pt x="3618120" y="5534658"/>
                    <a:pt x="3849103" y="5478491"/>
                    <a:pt x="4096760" y="5357817"/>
                  </a:cubicBezTo>
                  <a:cubicBezTo>
                    <a:pt x="4351037" y="5233901"/>
                    <a:pt x="4602740" y="5053238"/>
                    <a:pt x="4881905" y="4847212"/>
                  </a:cubicBezTo>
                  <a:cubicBezTo>
                    <a:pt x="4947375" y="4798920"/>
                    <a:pt x="5012599" y="4751322"/>
                    <a:pt x="5075739" y="4705346"/>
                  </a:cubicBezTo>
                  <a:cubicBezTo>
                    <a:pt x="5327320" y="4521990"/>
                    <a:pt x="5568418" y="4346256"/>
                    <a:pt x="5759930" y="4166809"/>
                  </a:cubicBezTo>
                  <a:lnTo>
                    <a:pt x="5769111" y="4157764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2BA87A0C-DC9A-6E97-FD09-E3410E393FB1}"/>
              </a:ext>
            </a:extLst>
          </p:cNvPr>
          <p:cNvSpPr txBox="1"/>
          <p:nvPr/>
        </p:nvSpPr>
        <p:spPr>
          <a:xfrm>
            <a:off x="5084123" y="1799854"/>
            <a:ext cx="457200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700" b="0" i="0" u="none" strike="noStrike" baseline="0">
                <a:solidFill>
                  <a:srgbClr val="1F497D"/>
                </a:solidFill>
                <a:latin typeface="Calibri"/>
                <a:ea typeface="Segoe UI"/>
                <a:cs typeface="Segoe UI"/>
              </a:rPr>
              <a:t>Handling Environmental Disruption</a:t>
            </a:r>
            <a:endParaRPr lang="en-US">
              <a:ea typeface="Calibri"/>
              <a:cs typeface="Calibri"/>
            </a:endParaRPr>
          </a:p>
          <a:p>
            <a:pPr algn="ctr"/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61AEE4-4E38-4BAC-976D-E0DE523FC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0BC676B-D19A-44DB-910A-0C0E6D433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68323" y="2988"/>
            <a:ext cx="7329573" cy="51435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99AA485-A13F-4455-814E-C116AD7E0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C90D55F-0AFB-45E5-8815-A4701774CE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476B6C1-4A41-48E6-8540-FC48FCD76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347F445-D2CA-4FEB-AB8E-7A47AB57CD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2F1B3D8-301E-4A54-9284-EB14E9056B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E4B9C67-860A-4569-AC84-3ADE433D1C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175B763-A6E6-4AD1-9138-9B1164A7A8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75099" y="743445"/>
            <a:ext cx="4316022" cy="1378012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2700">
                <a:solidFill>
                  <a:schemeClr val="tx2"/>
                </a:solidFill>
              </a:rPr>
              <a:t>The Telemetry Observability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91965" y="2234502"/>
            <a:ext cx="4282291" cy="1823148"/>
          </a:xfrm>
        </p:spPr>
        <p:txBody>
          <a:bodyPr anchor="t">
            <a:normAutofit/>
          </a:bodyPr>
          <a:lstStyle/>
          <a:p>
            <a:pPr marL="0" lvl="0" indent="0">
              <a:buNone/>
            </a:pPr>
            <a:r>
              <a:rPr lang="en-US" sz="1400">
                <a:solidFill>
                  <a:schemeClr val="tx2"/>
                </a:solidFill>
              </a:rPr>
              <a:t>To watch the engine track equilibrium, we bound our atomic metrics plane to a thread-safe UI loop.</a:t>
            </a:r>
          </a:p>
          <a:p>
            <a:pPr lvl="0"/>
            <a:r>
              <a:rPr lang="en-US" sz="1400">
                <a:solidFill>
                  <a:schemeClr val="tx2"/>
                </a:solidFill>
              </a:rPr>
              <a:t>Updates every 200ms using lockless reads.</a:t>
            </a:r>
          </a:p>
          <a:p>
            <a:pPr lvl="0"/>
            <a:r>
              <a:rPr lang="en-US" sz="1400">
                <a:solidFill>
                  <a:schemeClr val="tx2"/>
                </a:solidFill>
              </a:rPr>
              <a:t>Visualizes active worker pools, target latencies, and system states.</a:t>
            </a:r>
          </a:p>
          <a:p>
            <a:pPr lvl="0"/>
            <a:r>
              <a:rPr lang="en-US" sz="1400">
                <a:solidFill>
                  <a:schemeClr val="tx2"/>
                </a:solidFill>
              </a:rPr>
              <a:t>Shows the audience the exact moment the engine stabilizes against Wikipedia’s protective defenses.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342900"/>
            <a:ext cx="7934706" cy="89154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3000">
                <a:solidFill>
                  <a:schemeClr val="tx2"/>
                </a:solidFill>
              </a:rPr>
              <a:t>Key Takeaways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441F8D5-EBCE-4FB9-91A9-3425971C1F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946798" y="100695"/>
            <a:ext cx="2356800" cy="2037604"/>
            <a:chOff x="-305" y="-4155"/>
            <a:chExt cx="2514948" cy="2174333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9A5E80E2-35F9-41F3-A2B8-A2F17D956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988BDEEE-0C30-49F3-8D05-B062EF890C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F21E0C27-19E6-45DC-B154-4934802074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A3A55340-18E0-4A23-B406-BD1221643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8701F99-7E4C-4B92-A4B5-307CDFB7A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3785928"/>
            <a:ext cx="1809166" cy="1357572"/>
            <a:chOff x="-305" y="-1"/>
            <a:chExt cx="3832880" cy="2876136"/>
          </a:xfrm>
        </p:grpSpPr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441E616B-C319-43C1-9A9C-A2074B2E8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CC86BD2B-CA73-48DF-9CC8-0152EA6B1B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59C1AA9D-3FCF-4B84-94D1-51F0E15171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1D7CE92F-1DE7-4252-A62C-77ACF8CF2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aphicFrame>
        <p:nvGraphicFramePr>
          <p:cNvPr id="197" name="Content Placeholder 196">
            <a:extLst>
              <a:ext uri="{FF2B5EF4-FFF2-40B4-BE49-F238E27FC236}">
                <a16:creationId xmlns:a16="http://schemas.microsoft.com/office/drawing/2014/main" id="{B8135D98-844E-1D78-103D-FFB77752AC9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43302795"/>
              </p:ext>
            </p:extLst>
          </p:nvPr>
        </p:nvGraphicFramePr>
        <p:xfrm>
          <a:off x="457200" y="2573234"/>
          <a:ext cx="8229600" cy="594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3148457127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97387877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40853687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chemeClr val="tx2"/>
                          </a:solidFill>
                          <a:latin typeface="Calibri"/>
                          <a:ea typeface="Calibri"/>
                          <a:cs typeface="Calibri"/>
                        </a:rPr>
                        <a:t>Combine Mechanisms: Use deterministic controls for emergencies, but heuristic mutations for peace times. </a:t>
                      </a:r>
                      <a:endParaRPr lang="en-US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chemeClr val="tx2"/>
                          </a:solidFill>
                          <a:latin typeface="Calibri"/>
                          <a:ea typeface="Calibri"/>
                          <a:cs typeface="Calibri"/>
                        </a:rPr>
                        <a:t>Decouple Tracking: Keep queue replenishment separate from worker routines to avoid lock contention. </a:t>
                      </a:r>
                      <a:endParaRPr lang="en-US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chemeClr val="tx2"/>
                          </a:solidFill>
                          <a:latin typeface="Calibri"/>
                          <a:ea typeface="Calibri"/>
                          <a:cs typeface="Calibri"/>
                        </a:rPr>
                        <a:t>Isolate State: Use lockless atomic variables for your core data planes to ensure metrics collection never slows down execution.</a:t>
                      </a:r>
                      <a:endParaRPr lang="en-US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562866"/>
                  </a:ext>
                </a:extLst>
              </a:tr>
            </a:tbl>
          </a:graphicData>
        </a:graphic>
      </p:graphicFrame>
      <p:pic>
        <p:nvPicPr>
          <p:cNvPr id="199" name="Graphic 198">
            <a:extLst>
              <a:ext uri="{FF2B5EF4-FFF2-40B4-BE49-F238E27FC236}">
                <a16:creationId xmlns:a16="http://schemas.microsoft.com/office/drawing/2014/main" id="{67F12C1B-0CBF-DE69-E6FB-FE3E99B833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53787" y="1658092"/>
            <a:ext cx="914400" cy="914400"/>
          </a:xfrm>
          <a:prstGeom prst="rect">
            <a:avLst/>
          </a:prstGeom>
        </p:spPr>
      </p:pic>
      <p:pic>
        <p:nvPicPr>
          <p:cNvPr id="200" name="Graphic 199">
            <a:extLst>
              <a:ext uri="{FF2B5EF4-FFF2-40B4-BE49-F238E27FC236}">
                <a16:creationId xmlns:a16="http://schemas.microsoft.com/office/drawing/2014/main" id="{88013775-1C88-1AF5-F0D8-9FBD986256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0" y="1658092"/>
            <a:ext cx="914400" cy="914400"/>
          </a:xfrm>
          <a:prstGeom prst="rect">
            <a:avLst/>
          </a:prstGeom>
        </p:spPr>
      </p:pic>
      <p:pic>
        <p:nvPicPr>
          <p:cNvPr id="201" name="Graphic 200">
            <a:extLst>
              <a:ext uri="{FF2B5EF4-FFF2-40B4-BE49-F238E27FC236}">
                <a16:creationId xmlns:a16="http://schemas.microsoft.com/office/drawing/2014/main" id="{8997D7D4-673C-59BC-DE81-32BFE4232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49440" y="1661803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1032</Words>
  <Application>Microsoft Macintosh PowerPoint</Application>
  <PresentationFormat>On-screen Show (16:9)</PresentationFormat>
  <Paragraphs>86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Courier</vt:lpstr>
      <vt:lpstr>Office Theme</vt:lpstr>
      <vt:lpstr>A Self-Optimizing Workerpool in Go</vt:lpstr>
      <vt:lpstr>PowerPoint Presentation</vt:lpstr>
      <vt:lpstr>Introduction to Genetic Algorithms</vt:lpstr>
      <vt:lpstr>The Example Problem</vt:lpstr>
      <vt:lpstr>The Problem with Static Tuning</vt:lpstr>
      <vt:lpstr>Transitioning Genetic Algorithms  to  Real-Time Control Theory</vt:lpstr>
      <vt:lpstr>Understanding PID Controllers</vt:lpstr>
      <vt:lpstr>The Three Pillars of Autonomic Control</vt:lpstr>
      <vt:lpstr>System Topology Architecture</vt:lpstr>
      <vt:lpstr>Pillar 1: Thread Lifecycle Control Plane</vt:lpstr>
      <vt:lpstr>Control Plane Deployment Strategy</vt:lpstr>
      <vt:lpstr>Pillar 2: The PID Backpressure Reflex</vt:lpstr>
      <vt:lpstr>Pillar 3: Elitist Genetic Algorithm</vt:lpstr>
      <vt:lpstr>PowerPoint Presentation</vt:lpstr>
      <vt:lpstr>The Telemetry Observability Dashboard</vt:lpstr>
      <vt:lpstr>Key Takeaways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>Casey Manus</cp:lastModifiedBy>
  <cp:revision>261</cp:revision>
  <dcterms:created xsi:type="dcterms:W3CDTF">2026-07-21T14:08:50Z</dcterms:created>
  <dcterms:modified xsi:type="dcterms:W3CDTF">2026-07-23T16:38:32Z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850223-87a8-40c3-9eb2-432606efca2a_Enabled">
    <vt:lpwstr>true</vt:lpwstr>
  </property>
  <property fmtid="{D5CDD505-2E9C-101B-9397-08002B2CF9AE}" pid="3" name="MSIP_Label_7f850223-87a8-40c3-9eb2-432606efca2a_SetDate">
    <vt:lpwstr>2026-07-23T14:13:24Z</vt:lpwstr>
  </property>
  <property fmtid="{D5CDD505-2E9C-101B-9397-08002B2CF9AE}" pid="4" name="MSIP_Label_7f850223-87a8-40c3-9eb2-432606efca2a_Method">
    <vt:lpwstr>Privileged</vt:lpwstr>
  </property>
  <property fmtid="{D5CDD505-2E9C-101B-9397-08002B2CF9AE}" pid="5" name="MSIP_Label_7f850223-87a8-40c3-9eb2-432606efca2a_Name">
    <vt:lpwstr>7f850223-87a8-40c3-9eb2-432606efca2a</vt:lpwstr>
  </property>
  <property fmtid="{D5CDD505-2E9C-101B-9397-08002B2CF9AE}" pid="6" name="MSIP_Label_7f850223-87a8-40c3-9eb2-432606efca2a_SiteId">
    <vt:lpwstr>fcb2b37b-5da0-466b-9b83-0014b67a7c78</vt:lpwstr>
  </property>
  <property fmtid="{D5CDD505-2E9C-101B-9397-08002B2CF9AE}" pid="7" name="MSIP_Label_7f850223-87a8-40c3-9eb2-432606efca2a_ActionId">
    <vt:lpwstr>87cd2636-95a2-4aac-a876-c7753d650b30</vt:lpwstr>
  </property>
  <property fmtid="{D5CDD505-2E9C-101B-9397-08002B2CF9AE}" pid="8" name="MSIP_Label_7f850223-87a8-40c3-9eb2-432606efca2a_ContentBits">
    <vt:lpwstr>0</vt:lpwstr>
  </property>
  <property fmtid="{D5CDD505-2E9C-101B-9397-08002B2CF9AE}" pid="9" name="MSIP_Label_7f850223-87a8-40c3-9eb2-432606efca2a_Tag">
    <vt:lpwstr>10, 0, 1, 2</vt:lpwstr>
  </property>
</Properties>
</file>