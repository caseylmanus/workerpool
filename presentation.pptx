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package/2006/relationships/metadata/extended-properties" Target="docProps/app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2" r:id="rId6"/>
    <p:sldId id="274" r:id="rId7"/>
    <p:sldId id="264" r:id="rId8"/>
    <p:sldId id="265" r:id="rId9"/>
    <p:sldId id="266" r:id="rId10"/>
    <p:sldId id="267" r:id="rId11"/>
    <p:sldId id="268" r:id="rId12"/>
    <p:sldId id="269" r:id="rId13"/>
    <p:sldId id="270" r:id="rId14"/>
    <p:sldId id="271" r:id="rId15"/>
    <p:sldId id="272" r:id="rId16"/>
    <p:sldId id="273"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D4E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409DEB-6BD4-DD4B-3F2E-AA0F34EB36DB}" v="2" dt="2026-07-23T16:35:51.665"/>
    <p1510:client id="{760D3E99-36C9-BE1B-AEE5-1BEE57899657}" v="903" dt="2026-07-23T15:31:52.247"/>
    <p1510:client id="{BF28C403-0C1A-6B47-9EFE-2BC5743DF296}" v="1" dt="2026-07-23T16:38:32.8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30" autoAdjust="0"/>
    <p:restoredTop sz="94669" autoAdjust="0"/>
  </p:normalViewPr>
  <p:slideViewPr>
    <p:cSldViewPr snapToGrid="0" snapToObjects="1">
      <p:cViewPr varScale="1">
        <p:scale>
          <a:sx n="146" d="100"/>
          <a:sy n="146" d="100"/>
        </p:scale>
        <p:origin x="672" y="16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7/23/26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7/23/26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7/23/26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7/23/26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2.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Freeform: Shape 10">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2700" y="2988"/>
            <a:ext cx="7032474" cy="51435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0" y="2988"/>
            <a:ext cx="7329573" cy="5143500"/>
            <a:chOff x="1303402" y="36937"/>
            <a:chExt cx="9772765" cy="6858000"/>
          </a:xfrm>
          <a:solidFill>
            <a:schemeClr val="bg1">
              <a:alpha val="30000"/>
            </a:schemeClr>
          </a:solidFill>
        </p:grpSpPr>
        <p:sp>
          <p:nvSpPr>
            <p:cNvPr id="14" name="Freeform: Shape 13">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p:cNvSpPr>
            <a:spLocks noGrp="1"/>
          </p:cNvSpPr>
          <p:nvPr>
            <p:ph type="title"/>
          </p:nvPr>
        </p:nvSpPr>
        <p:spPr>
          <a:xfrm>
            <a:off x="2627048" y="1156801"/>
            <a:ext cx="3890131" cy="1790939"/>
          </a:xfrm>
        </p:spPr>
        <p:txBody>
          <a:bodyPr vert="horz" lIns="91440" tIns="45720" rIns="91440" bIns="45720" rtlCol="0" anchor="b">
            <a:normAutofit/>
          </a:bodyPr>
          <a:lstStyle/>
          <a:p>
            <a:pPr marL="0" lvl="0" indent="0" algn="ctr" defTabSz="914400">
              <a:lnSpc>
                <a:spcPct val="90000"/>
              </a:lnSpc>
            </a:pPr>
            <a:r>
              <a:rPr lang="en-US" sz="3300" kern="1200">
                <a:solidFill>
                  <a:schemeClr val="tx2"/>
                </a:solidFill>
                <a:latin typeface="+mj-lt"/>
                <a:ea typeface="+mj-ea"/>
                <a:cs typeface="+mj-cs"/>
              </a:rPr>
              <a:t>A Self-Optimizing Workerpool in Go</a:t>
            </a:r>
          </a:p>
        </p:txBody>
      </p:sp>
      <p:grpSp>
        <p:nvGrpSpPr>
          <p:cNvPr id="22" name="Group 21">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 y="-3116"/>
            <a:ext cx="1886210" cy="1630749"/>
            <a:chOff x="-305" y="-4155"/>
            <a:chExt cx="2514948" cy="2174333"/>
          </a:xfrm>
        </p:grpSpPr>
        <p:sp>
          <p:nvSpPr>
            <p:cNvPr id="23" name="Freeform: Shape 22">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7264295" y="3512749"/>
            <a:ext cx="1886211" cy="1630750"/>
            <a:chOff x="-305" y="-4155"/>
            <a:chExt cx="2514948" cy="2174333"/>
          </a:xfrm>
        </p:grpSpPr>
        <p:sp>
          <p:nvSpPr>
            <p:cNvPr id="29" name="Freeform: Shape 28">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323" y="2988"/>
            <a:ext cx="7329573" cy="5143500"/>
            <a:chOff x="1303402" y="3985"/>
            <a:chExt cx="9772765" cy="6858000"/>
          </a:xfrm>
        </p:grpSpPr>
        <p:sp>
          <p:nvSpPr>
            <p:cNvPr id="27"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1"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Content Placeholder 2"/>
          <p:cNvSpPr>
            <a:spLocks noGrp="1"/>
          </p:cNvSpPr>
          <p:nvPr>
            <p:ph idx="1"/>
          </p:nvPr>
        </p:nvSpPr>
        <p:spPr>
          <a:xfrm>
            <a:off x="1932737" y="1653205"/>
            <a:ext cx="5281599" cy="2531808"/>
          </a:xfrm>
        </p:spPr>
        <p:txBody>
          <a:bodyPr anchor="t">
            <a:normAutofit/>
          </a:bodyPr>
          <a:lstStyle/>
          <a:p>
            <a:pPr marL="0" lvl="0" indent="0">
              <a:lnSpc>
                <a:spcPct val="150000"/>
              </a:lnSpc>
              <a:buNone/>
            </a:pPr>
            <a:r>
              <a:rPr lang="en-US" sz="1500">
                <a:solidFill>
                  <a:schemeClr val="tx2"/>
                </a:solidFill>
              </a:rPr>
              <a:t>Borrowing Concepts from Biology And Mechanical Engineering</a:t>
            </a:r>
            <a:endParaRPr lang="en-US"/>
          </a:p>
          <a:p>
            <a:pPr marL="0" lvl="0" indent="0">
              <a:lnSpc>
                <a:spcPct val="150000"/>
              </a:lnSpc>
              <a:buNone/>
            </a:pPr>
            <a:r>
              <a:rPr lang="en-US" sz="1500" dirty="0" err="1">
                <a:solidFill>
                  <a:schemeClr val="tx2"/>
                </a:solidFill>
              </a:rPr>
              <a:t>Gophercon</a:t>
            </a:r>
            <a:r>
              <a:rPr lang="en-US" sz="1500" dirty="0">
                <a:solidFill>
                  <a:schemeClr val="tx2"/>
                </a:solidFill>
              </a:rPr>
              <a:t> 2026</a:t>
            </a:r>
            <a:endParaRPr lang="en-US" sz="1500" dirty="0">
              <a:solidFill>
                <a:schemeClr val="tx2"/>
              </a:solidFill>
              <a:ea typeface="Calibri"/>
              <a:cs typeface="Calibri"/>
            </a:endParaRPr>
          </a:p>
          <a:p>
            <a:pPr marL="0" indent="0">
              <a:lnSpc>
                <a:spcPct val="150000"/>
              </a:lnSpc>
              <a:buNone/>
            </a:pPr>
            <a:r>
              <a:rPr lang="en-US" sz="1500">
                <a:solidFill>
                  <a:schemeClr val="tx2"/>
                </a:solidFill>
              </a:rPr>
              <a:t>Casey Manus Principal Software Engineer - Bayer Crop Science </a:t>
            </a:r>
            <a:endParaRPr lang="en-US" sz="1500" dirty="0">
              <a:solidFill>
                <a:schemeClr val="tx2"/>
              </a:solidFill>
            </a:endParaRPr>
          </a:p>
          <a:p>
            <a:pPr marL="0" indent="0">
              <a:lnSpc>
                <a:spcPct val="150000"/>
              </a:lnSpc>
              <a:buNone/>
            </a:pPr>
            <a:r>
              <a:rPr lang="en-US" sz="1500">
                <a:solidFill>
                  <a:schemeClr val="tx2"/>
                </a:solidFill>
              </a:rPr>
              <a:t>caseylmanus@gmail.com </a:t>
            </a:r>
          </a:p>
          <a:p>
            <a:pPr marL="0" lvl="0" indent="0">
              <a:lnSpc>
                <a:spcPct val="150000"/>
              </a:lnSpc>
              <a:buNone/>
            </a:pPr>
            <a:r>
              <a:rPr lang="en-US" sz="1500">
                <a:solidFill>
                  <a:schemeClr val="tx2"/>
                </a:solidFill>
              </a:rPr>
              <a:t>casey.manus@bayer.com </a:t>
            </a:r>
            <a:r>
              <a:rPr lang="en-US" sz="1500" dirty="0">
                <a:solidFill>
                  <a:schemeClr val="tx2"/>
                </a:solidFill>
              </a:rPr>
              <a:t>https://github.com/caseylmanus/workerpool</a:t>
            </a:r>
            <a:endParaRPr lang="en-US" sz="1500">
              <a:solidFill>
                <a:schemeClr val="tx2"/>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0578" y="602216"/>
            <a:ext cx="3733482" cy="1090538"/>
          </a:xfrm>
        </p:spPr>
        <p:txBody>
          <a:bodyPr>
            <a:normAutofit/>
          </a:bodyPr>
          <a:lstStyle/>
          <a:p>
            <a:pPr marL="0" lvl="0" indent="0">
              <a:buNone/>
            </a:pPr>
            <a:r>
              <a:rPr lang="en-US" sz="2700" dirty="0">
                <a:solidFill>
                  <a:schemeClr val="tx2"/>
                </a:solidFill>
              </a:rPr>
              <a:t>Introduction to Genetic Algorithms</a:t>
            </a:r>
          </a:p>
        </p:txBody>
      </p:sp>
      <p:pic>
        <p:nvPicPr>
          <p:cNvPr id="23" name="Graphic 22" descr="DNA">
            <a:extLst>
              <a:ext uri="{FF2B5EF4-FFF2-40B4-BE49-F238E27FC236}">
                <a16:creationId xmlns:a16="http://schemas.microsoft.com/office/drawing/2014/main" id="{0D3DA1D8-BAEB-A7B7-057D-7DD9F52629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5212" y="1345384"/>
            <a:ext cx="2715016" cy="2715016"/>
          </a:xfrm>
          <a:prstGeom prst="rect">
            <a:avLst/>
          </a:prstGeom>
        </p:spPr>
      </p:pic>
      <p:sp>
        <p:nvSpPr>
          <p:cNvPr id="3" name="Content Placeholder 2"/>
          <p:cNvSpPr>
            <a:spLocks noGrp="1"/>
          </p:cNvSpPr>
          <p:nvPr>
            <p:ph idx="1"/>
          </p:nvPr>
        </p:nvSpPr>
        <p:spPr>
          <a:xfrm>
            <a:off x="4567930" y="1816261"/>
            <a:ext cx="3733184" cy="2729467"/>
          </a:xfrm>
        </p:spPr>
        <p:txBody>
          <a:bodyPr anchor="ctr">
            <a:normAutofit/>
          </a:bodyPr>
          <a:lstStyle/>
          <a:p>
            <a:pPr marL="0" lvl="0" indent="0">
              <a:lnSpc>
                <a:spcPct val="90000"/>
              </a:lnSpc>
              <a:buNone/>
            </a:pPr>
            <a:r>
              <a:rPr lang="en-US" sz="1000" b="1" dirty="0" err="1">
                <a:solidFill>
                  <a:schemeClr val="tx2"/>
                </a:solidFill>
              </a:rPr>
              <a:t>Gophercon</a:t>
            </a:r>
            <a:r>
              <a:rPr lang="en-US" sz="1000" b="1" dirty="0">
                <a:solidFill>
                  <a:schemeClr val="tx2"/>
                </a:solidFill>
              </a:rPr>
              <a:t> 2023 Overview</a:t>
            </a:r>
            <a:endParaRPr lang="en-US" sz="1000" b="1" dirty="0">
              <a:solidFill>
                <a:schemeClr val="tx2"/>
              </a:solidFill>
              <a:ea typeface="Calibri"/>
              <a:cs typeface="Calibri"/>
            </a:endParaRPr>
          </a:p>
          <a:p>
            <a:pPr marL="0" lvl="0" indent="0">
              <a:lnSpc>
                <a:spcPct val="90000"/>
              </a:lnSpc>
              <a:buNone/>
            </a:pPr>
            <a:r>
              <a:rPr lang="en-US" sz="1000" dirty="0">
                <a:solidFill>
                  <a:schemeClr val="tx2"/>
                </a:solidFill>
              </a:rPr>
              <a:t>Genetic Algorithms (GAs) are a powerful tool used to find </a:t>
            </a:r>
            <a:r>
              <a:rPr lang="en-US" sz="1000" b="1" dirty="0">
                <a:solidFill>
                  <a:schemeClr val="tx2"/>
                </a:solidFill>
              </a:rPr>
              <a:t>approximate solutions to difficult-to-solve problems</a:t>
            </a:r>
            <a:r>
              <a:rPr lang="en-US" sz="1000" dirty="0">
                <a:solidFill>
                  <a:schemeClr val="tx2"/>
                </a:solidFill>
              </a:rPr>
              <a:t>. They achieve this by applying the principles of </a:t>
            </a:r>
            <a:r>
              <a:rPr lang="en-US" sz="1000" b="1" dirty="0">
                <a:solidFill>
                  <a:schemeClr val="tx2"/>
                </a:solidFill>
              </a:rPr>
              <a:t>evolutionary biology to computer science</a:t>
            </a:r>
            <a:r>
              <a:rPr lang="en-US" sz="1000" dirty="0">
                <a:solidFill>
                  <a:schemeClr val="tx2"/>
                </a:solidFill>
              </a:rPr>
              <a:t>, specifically by </a:t>
            </a:r>
            <a:r>
              <a:rPr lang="en-US" sz="1000" b="1" dirty="0">
                <a:solidFill>
                  <a:schemeClr val="tx2"/>
                </a:solidFill>
              </a:rPr>
              <a:t>mimicking the biological process of natural selection</a:t>
            </a:r>
            <a:r>
              <a:rPr lang="en-US" sz="1000" dirty="0">
                <a:solidFill>
                  <a:schemeClr val="tx2"/>
                </a:solidFill>
              </a:rPr>
              <a:t>.</a:t>
            </a:r>
            <a:endParaRPr lang="en-US" sz="1000" dirty="0">
              <a:solidFill>
                <a:schemeClr val="tx2"/>
              </a:solidFill>
              <a:ea typeface="Calibri"/>
              <a:cs typeface="Calibri"/>
            </a:endParaRPr>
          </a:p>
          <a:p>
            <a:pPr marL="0" lvl="0" indent="0">
              <a:lnSpc>
                <a:spcPct val="90000"/>
              </a:lnSpc>
              <a:buNone/>
            </a:pPr>
            <a:r>
              <a:rPr lang="en-US" sz="1000" dirty="0">
                <a:solidFill>
                  <a:schemeClr val="tx2"/>
                </a:solidFill>
              </a:rPr>
              <a:t>The core problem-solving process of a GA involves several key steps: </a:t>
            </a:r>
            <a:endParaRPr lang="en-US" sz="1000" dirty="0">
              <a:solidFill>
                <a:schemeClr val="tx2"/>
              </a:solidFill>
              <a:ea typeface="Calibri"/>
              <a:cs typeface="Calibri"/>
            </a:endParaRPr>
          </a:p>
          <a:p>
            <a:pPr>
              <a:lnSpc>
                <a:spcPct val="90000"/>
              </a:lnSpc>
            </a:pPr>
            <a:r>
              <a:rPr lang="en-US" sz="1000" b="1" dirty="0">
                <a:solidFill>
                  <a:schemeClr val="tx2"/>
                </a:solidFill>
              </a:rPr>
              <a:t>Define Genome</a:t>
            </a:r>
            <a:r>
              <a:rPr lang="en-US" sz="1000" dirty="0">
                <a:solidFill>
                  <a:schemeClr val="tx2"/>
                </a:solidFill>
              </a:rPr>
              <a:t>: This establishes the dataset that describes your problem, composed of individual genes. </a:t>
            </a:r>
            <a:endParaRPr lang="en-US" sz="1000" dirty="0">
              <a:solidFill>
                <a:schemeClr val="tx2"/>
              </a:solidFill>
              <a:ea typeface="Calibri"/>
              <a:cs typeface="Calibri"/>
            </a:endParaRPr>
          </a:p>
          <a:p>
            <a:pPr>
              <a:lnSpc>
                <a:spcPct val="90000"/>
              </a:lnSpc>
            </a:pPr>
            <a:r>
              <a:rPr lang="en-US" sz="1000" b="1" dirty="0">
                <a:solidFill>
                  <a:schemeClr val="tx2"/>
                </a:solidFill>
              </a:rPr>
              <a:t>Random Population</a:t>
            </a:r>
            <a:r>
              <a:rPr lang="en-US" sz="1000" dirty="0">
                <a:solidFill>
                  <a:schemeClr val="tx2"/>
                </a:solidFill>
              </a:rPr>
              <a:t>: The algorithm starts with a set of these genomes. </a:t>
            </a:r>
            <a:endParaRPr lang="en-US" sz="1000" dirty="0">
              <a:solidFill>
                <a:schemeClr val="tx2"/>
              </a:solidFill>
              <a:ea typeface="Calibri"/>
              <a:cs typeface="Calibri"/>
            </a:endParaRPr>
          </a:p>
          <a:p>
            <a:pPr>
              <a:lnSpc>
                <a:spcPct val="90000"/>
              </a:lnSpc>
            </a:pPr>
            <a:r>
              <a:rPr lang="en-US" sz="1000" b="1" dirty="0">
                <a:solidFill>
                  <a:schemeClr val="tx2"/>
                </a:solidFill>
              </a:rPr>
              <a:t>Determine Fitness</a:t>
            </a:r>
            <a:r>
              <a:rPr lang="en-US" sz="1000" dirty="0">
                <a:solidFill>
                  <a:schemeClr val="tx2"/>
                </a:solidFill>
              </a:rPr>
              <a:t>: A fitness function “grades” each genome to assess its suitability for continued evolution</a:t>
            </a:r>
            <a:endParaRPr lang="en-US" sz="1000" dirty="0">
              <a:solidFill>
                <a:schemeClr val="tx2"/>
              </a:solidFill>
              <a:ea typeface="Calibri"/>
              <a:cs typeface="Calibri"/>
            </a:endParaRPr>
          </a:p>
          <a:p>
            <a:pPr>
              <a:lnSpc>
                <a:spcPct val="90000"/>
              </a:lnSpc>
            </a:pPr>
            <a:r>
              <a:rPr lang="en-US" sz="1000" b="1" dirty="0">
                <a:solidFill>
                  <a:schemeClr val="tx2"/>
                </a:solidFill>
              </a:rPr>
              <a:t>Next Population / Generation</a:t>
            </a:r>
            <a:r>
              <a:rPr lang="en-US" sz="1000" dirty="0">
                <a:solidFill>
                  <a:schemeClr val="tx2"/>
                </a:solidFill>
              </a:rPr>
              <a:t>: Each cycle creates a new “generation” of solutions. </a:t>
            </a:r>
            <a:r>
              <a:rPr lang="en-US" sz="1000" b="1" dirty="0">
                <a:solidFill>
                  <a:schemeClr val="tx2"/>
                </a:solidFill>
              </a:rPr>
              <a:t>Selection</a:t>
            </a:r>
            <a:r>
              <a:rPr lang="en-US" sz="1000" dirty="0">
                <a:solidFill>
                  <a:schemeClr val="tx2"/>
                </a:solidFill>
              </a:rPr>
              <a:t>: Members are chosen from the current population to contribute to the next generation.</a:t>
            </a:r>
            <a:endParaRPr lang="en-US" sz="1000" dirty="0">
              <a:solidFill>
                <a:schemeClr val="tx2"/>
              </a:solidFill>
              <a:ea typeface="Calibri"/>
              <a:cs typeface="Calibri"/>
            </a:endParaRPr>
          </a:p>
        </p:txBody>
      </p:sp>
      <p:grpSp>
        <p:nvGrpSpPr>
          <p:cNvPr id="30" name="Group 29">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976" y="39747"/>
            <a:ext cx="4446455" cy="5103753"/>
            <a:chOff x="6095999" y="52996"/>
            <a:chExt cx="6093363" cy="6805005"/>
          </a:xfrm>
          <a:solidFill>
            <a:schemeClr val="accent5">
              <a:alpha val="10000"/>
            </a:schemeClr>
          </a:solidFill>
        </p:grpSpPr>
        <p:sp>
          <p:nvSpPr>
            <p:cNvPr id="31" name="Freeform: Shape 30">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603504" y="342900"/>
            <a:ext cx="7934706" cy="891540"/>
          </a:xfrm>
        </p:spPr>
        <p:txBody>
          <a:bodyPr>
            <a:normAutofit/>
          </a:bodyPr>
          <a:lstStyle/>
          <a:p>
            <a:pPr marL="0" lvl="0" indent="0">
              <a:buNone/>
            </a:pPr>
            <a:r>
              <a:rPr lang="en-US" sz="3000">
                <a:solidFill>
                  <a:schemeClr val="tx2"/>
                </a:solidFill>
              </a:rPr>
              <a:t>The Example Problem</a:t>
            </a:r>
          </a:p>
        </p:txBody>
      </p:sp>
      <p:grpSp>
        <p:nvGrpSpPr>
          <p:cNvPr id="29" name="Group 28">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660949" y="-3837"/>
            <a:ext cx="2488985" cy="1867698"/>
            <a:chOff x="-305" y="-1"/>
            <a:chExt cx="3832880" cy="2876136"/>
          </a:xfrm>
        </p:grpSpPr>
        <p:sp>
          <p:nvSpPr>
            <p:cNvPr id="30" name="Freeform: Shape 29">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3455915"/>
            <a:ext cx="1954321" cy="1689635"/>
            <a:chOff x="-305" y="-4155"/>
            <a:chExt cx="2514948" cy="2174333"/>
          </a:xfrm>
        </p:grpSpPr>
        <p:sp>
          <p:nvSpPr>
            <p:cNvPr id="36" name="Freeform: Shape 35">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9" name="Freeform: Shape 38">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51" name="Table 50">
            <a:extLst>
              <a:ext uri="{FF2B5EF4-FFF2-40B4-BE49-F238E27FC236}">
                <a16:creationId xmlns:a16="http://schemas.microsoft.com/office/drawing/2014/main" id="{D150468F-060C-A44A-4CAA-9013E2C18B97}"/>
              </a:ext>
            </a:extLst>
          </p:cNvPr>
          <p:cNvGraphicFramePr>
            <a:graphicFrameLocks noGrp="1"/>
          </p:cNvGraphicFramePr>
          <p:nvPr>
            <p:extLst>
              <p:ext uri="{D42A27DB-BD31-4B8C-83A1-F6EECF244321}">
                <p14:modId xmlns:p14="http://schemas.microsoft.com/office/powerpoint/2010/main" val="2953834257"/>
              </p:ext>
            </p:extLst>
          </p:nvPr>
        </p:nvGraphicFramePr>
        <p:xfrm>
          <a:off x="1538844" y="2770535"/>
          <a:ext cx="6368317" cy="731520"/>
        </p:xfrm>
        <a:graphic>
          <a:graphicData uri="http://schemas.openxmlformats.org/drawingml/2006/table">
            <a:tbl>
              <a:tblPr firstRow="1" bandRow="1">
                <a:tableStyleId>{5C22544A-7EE6-4342-B048-85BDC9FD1C3A}</a:tableStyleId>
              </a:tblPr>
              <a:tblGrid>
                <a:gridCol w="2142226">
                  <a:extLst>
                    <a:ext uri="{9D8B030D-6E8A-4147-A177-3AD203B41FA5}">
                      <a16:colId xmlns:a16="http://schemas.microsoft.com/office/drawing/2014/main" val="1396818213"/>
                    </a:ext>
                  </a:extLst>
                </a:gridCol>
                <a:gridCol w="2287212">
                  <a:extLst>
                    <a:ext uri="{9D8B030D-6E8A-4147-A177-3AD203B41FA5}">
                      <a16:colId xmlns:a16="http://schemas.microsoft.com/office/drawing/2014/main" val="1503059491"/>
                    </a:ext>
                  </a:extLst>
                </a:gridCol>
                <a:gridCol w="1938879">
                  <a:extLst>
                    <a:ext uri="{9D8B030D-6E8A-4147-A177-3AD203B41FA5}">
                      <a16:colId xmlns:a16="http://schemas.microsoft.com/office/drawing/2014/main" val="408316623"/>
                    </a:ext>
                  </a:extLst>
                </a:gridCol>
              </a:tblGrid>
              <a:tr h="370840">
                <a:tc>
                  <a:txBody>
                    <a:bodyPr/>
                    <a:lstStyle/>
                    <a:p>
                      <a:pPr lvl="0">
                        <a:buNone/>
                      </a:pPr>
                      <a:r>
                        <a:rPr lang="en-US" sz="1400" b="1" i="0" u="none" strike="noStrike" noProof="0">
                          <a:solidFill>
                            <a:schemeClr val="tx2"/>
                          </a:solidFill>
                          <a:latin typeface="Calibri"/>
                          <a:ea typeface="Calibri"/>
                          <a:cs typeface="Calibri"/>
                        </a:rPr>
                        <a:t>We want to train an LLM on all data from Wikipedia </a:t>
                      </a:r>
                    </a:p>
                  </a:txBody>
                  <a:tcPr>
                    <a:lnL w="0">
                      <a:noFill/>
                    </a:lnL>
                    <a:lnR w="0">
                      <a:noFill/>
                    </a:lnR>
                    <a:lnT w="0">
                      <a:noFill/>
                    </a:lnT>
                    <a:lnB w="0">
                      <a:noFill/>
                    </a:lnB>
                    <a:solidFill>
                      <a:schemeClr val="bg1"/>
                    </a:solidFill>
                  </a:tcPr>
                </a:tc>
                <a:tc>
                  <a:txBody>
                    <a:bodyPr/>
                    <a:lstStyle/>
                    <a:p>
                      <a:r>
                        <a:rPr lang="en-US" sz="1400">
                          <a:solidFill>
                            <a:schemeClr val="tx2"/>
                          </a:solidFill>
                        </a:rPr>
                        <a:t>Wikipedia has constrained output and rate limiting to prevent scraping</a:t>
                      </a:r>
                      <a:endParaRPr lang="en-US" sz="1400" dirty="0">
                        <a:solidFill>
                          <a:schemeClr val="tx2"/>
                        </a:solidFill>
                      </a:endParaRPr>
                    </a:p>
                  </a:txBody>
                  <a:tcPr>
                    <a:lnL w="0">
                      <a:noFill/>
                    </a:lnL>
                    <a:lnR w="0">
                      <a:noFill/>
                    </a:lnR>
                    <a:lnT w="0">
                      <a:noFill/>
                    </a:lnT>
                    <a:lnB w="0">
                      <a:noFill/>
                    </a:lnB>
                    <a:solidFill>
                      <a:schemeClr val="bg1"/>
                    </a:solidFill>
                  </a:tcPr>
                </a:tc>
                <a:tc>
                  <a:txBody>
                    <a:bodyPr/>
                    <a:lstStyle/>
                    <a:p>
                      <a:r>
                        <a:rPr lang="en-US" sz="1400" dirty="0">
                          <a:solidFill>
                            <a:schemeClr val="tx2"/>
                          </a:solidFill>
                        </a:rPr>
                        <a:t>We want to build a </a:t>
                      </a:r>
                      <a:r>
                        <a:rPr lang="en-US" sz="1400" dirty="0" err="1">
                          <a:solidFill>
                            <a:schemeClr val="tx2"/>
                          </a:solidFill>
                        </a:rPr>
                        <a:t>workerpool</a:t>
                      </a:r>
                      <a:r>
                        <a:rPr lang="en-US" sz="1400" dirty="0">
                          <a:solidFill>
                            <a:schemeClr val="tx2"/>
                          </a:solidFill>
                        </a:rPr>
                        <a:t> that adapts to upstream responses</a:t>
                      </a:r>
                    </a:p>
                  </a:txBody>
                  <a:tcPr>
                    <a:lnL w="0">
                      <a:noFill/>
                    </a:lnL>
                    <a:lnR w="0">
                      <a:noFill/>
                    </a:lnR>
                    <a:lnT w="0">
                      <a:noFill/>
                    </a:lnT>
                    <a:lnB w="0">
                      <a:noFill/>
                    </a:lnB>
                    <a:solidFill>
                      <a:schemeClr val="bg1"/>
                    </a:solidFill>
                  </a:tcPr>
                </a:tc>
                <a:extLst>
                  <a:ext uri="{0D108BD9-81ED-4DB2-BD59-A6C34878D82A}">
                    <a16:rowId xmlns:a16="http://schemas.microsoft.com/office/drawing/2014/main" val="3101454258"/>
                  </a:ext>
                </a:extLst>
              </a:tr>
            </a:tbl>
          </a:graphicData>
        </a:graphic>
      </p:graphicFrame>
      <p:pic>
        <p:nvPicPr>
          <p:cNvPr id="52" name="Graphic 51">
            <a:extLst>
              <a:ext uri="{FF2B5EF4-FFF2-40B4-BE49-F238E27FC236}">
                <a16:creationId xmlns:a16="http://schemas.microsoft.com/office/drawing/2014/main" id="{78A07754-5C0D-82B2-6D2B-758A14E0A01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54975" y="1858489"/>
            <a:ext cx="914400" cy="914400"/>
          </a:xfrm>
          <a:prstGeom prst="rect">
            <a:avLst/>
          </a:prstGeom>
        </p:spPr>
      </p:pic>
      <p:pic>
        <p:nvPicPr>
          <p:cNvPr id="53" name="Graphic 52">
            <a:extLst>
              <a:ext uri="{FF2B5EF4-FFF2-40B4-BE49-F238E27FC236}">
                <a16:creationId xmlns:a16="http://schemas.microsoft.com/office/drawing/2014/main" id="{B6E1EF5A-C099-27CF-A994-452A437513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0" y="1858489"/>
            <a:ext cx="914400" cy="914400"/>
          </a:xfrm>
          <a:prstGeom prst="rect">
            <a:avLst/>
          </a:prstGeom>
        </p:spPr>
      </p:pic>
      <p:pic>
        <p:nvPicPr>
          <p:cNvPr id="54" name="Graphic 53">
            <a:extLst>
              <a:ext uri="{FF2B5EF4-FFF2-40B4-BE49-F238E27FC236}">
                <a16:creationId xmlns:a16="http://schemas.microsoft.com/office/drawing/2014/main" id="{E0554391-027D-934D-B163-9C27EC604D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1423" y="1869622"/>
            <a:ext cx="91440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323" y="2988"/>
            <a:ext cx="7329573" cy="51435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title"/>
          </p:nvPr>
        </p:nvSpPr>
        <p:spPr>
          <a:xfrm>
            <a:off x="2275099" y="743445"/>
            <a:ext cx="4316022" cy="1378012"/>
          </a:xfrm>
        </p:spPr>
        <p:txBody>
          <a:bodyPr anchor="ctr">
            <a:normAutofit/>
          </a:bodyPr>
          <a:lstStyle/>
          <a:p>
            <a:pPr marL="0" lvl="0" indent="0">
              <a:buNone/>
            </a:pPr>
            <a:r>
              <a:rPr lang="en-US" sz="2700">
                <a:solidFill>
                  <a:schemeClr val="tx2"/>
                </a:solidFill>
              </a:rPr>
              <a:t>The Problem with Static Tuning</a:t>
            </a:r>
          </a:p>
        </p:txBody>
      </p:sp>
      <p:sp>
        <p:nvSpPr>
          <p:cNvPr id="3" name="Content Placeholder 2"/>
          <p:cNvSpPr>
            <a:spLocks noGrp="1"/>
          </p:cNvSpPr>
          <p:nvPr>
            <p:ph idx="1"/>
          </p:nvPr>
        </p:nvSpPr>
        <p:spPr>
          <a:xfrm>
            <a:off x="1839219" y="2026684"/>
            <a:ext cx="5952257" cy="2669264"/>
          </a:xfrm>
        </p:spPr>
        <p:txBody>
          <a:bodyPr anchor="t">
            <a:normAutofit/>
          </a:bodyPr>
          <a:lstStyle/>
          <a:p>
            <a:pPr marL="0" indent="0">
              <a:lnSpc>
                <a:spcPct val="90000"/>
              </a:lnSpc>
              <a:buNone/>
            </a:pPr>
            <a:r>
              <a:rPr lang="en-US" sz="1500">
                <a:solidFill>
                  <a:schemeClr val="tx2"/>
                </a:solidFill>
              </a:rPr>
              <a:t>Most concurrent architectures use hardcoded worker limits and sleep cycles. </a:t>
            </a:r>
            <a:endParaRPr lang="en-US">
              <a:solidFill>
                <a:schemeClr val="tx2"/>
              </a:solidFill>
            </a:endParaRPr>
          </a:p>
          <a:p>
            <a:pPr marL="0" indent="0">
              <a:lnSpc>
                <a:spcPct val="90000"/>
              </a:lnSpc>
              <a:buNone/>
            </a:pPr>
            <a:endParaRPr lang="en-US" sz="1500" dirty="0">
              <a:solidFill>
                <a:schemeClr val="tx2"/>
              </a:solidFill>
            </a:endParaRPr>
          </a:p>
          <a:p>
            <a:pPr marL="0" indent="0">
              <a:lnSpc>
                <a:spcPct val="90000"/>
              </a:lnSpc>
              <a:buNone/>
            </a:pPr>
            <a:r>
              <a:rPr lang="en-US" sz="1500">
                <a:solidFill>
                  <a:schemeClr val="tx2"/>
                </a:solidFill>
              </a:rPr>
              <a:t>- Fine-tuned for local machine networks. </a:t>
            </a:r>
            <a:endParaRPr lang="en-US">
              <a:solidFill>
                <a:schemeClr val="tx2"/>
              </a:solidFill>
              <a:ea typeface="Calibri"/>
              <a:cs typeface="Calibri"/>
            </a:endParaRPr>
          </a:p>
          <a:p>
            <a:pPr marL="0" indent="0">
              <a:lnSpc>
                <a:spcPct val="90000"/>
              </a:lnSpc>
              <a:buNone/>
            </a:pPr>
            <a:r>
              <a:rPr lang="en-US" sz="1500">
                <a:solidFill>
                  <a:schemeClr val="tx2"/>
                </a:solidFill>
              </a:rPr>
              <a:t>- Fractures instantly when exposed to changing upstream rate limits. </a:t>
            </a:r>
            <a:endParaRPr lang="en-US">
              <a:solidFill>
                <a:schemeClr val="tx2"/>
              </a:solidFill>
            </a:endParaRPr>
          </a:p>
          <a:p>
            <a:pPr marL="0" lvl="0" indent="0">
              <a:lnSpc>
                <a:spcPct val="90000"/>
              </a:lnSpc>
              <a:buNone/>
            </a:pPr>
            <a:r>
              <a:rPr lang="en-US" sz="1500">
                <a:solidFill>
                  <a:schemeClr val="tx2"/>
                </a:solidFill>
              </a:rPr>
              <a:t>- Leads to either </a:t>
            </a:r>
            <a:r>
              <a:rPr lang="en-US" sz="1500" b="1">
                <a:solidFill>
                  <a:schemeClr val="tx2"/>
                </a:solidFill>
              </a:rPr>
              <a:t>over-throttling</a:t>
            </a:r>
            <a:r>
              <a:rPr lang="en-US" sz="1500">
                <a:solidFill>
                  <a:schemeClr val="tx2"/>
                </a:solidFill>
              </a:rPr>
              <a:t> (wasting resources) or </a:t>
            </a:r>
            <a:r>
              <a:rPr lang="en-US" sz="1500" b="1">
                <a:solidFill>
                  <a:schemeClr val="tx2"/>
                </a:solidFill>
              </a:rPr>
              <a:t>under-throttling</a:t>
            </a:r>
            <a:r>
              <a:rPr lang="en-US" sz="1500" dirty="0">
                <a:solidFill>
                  <a:schemeClr val="tx2"/>
                </a:solidFill>
              </a:rPr>
              <a:t> </a:t>
            </a:r>
            <a:r>
              <a:rPr lang="en-US" sz="1500">
                <a:solidFill>
                  <a:schemeClr val="tx2"/>
                </a:solidFill>
              </a:rPr>
              <a:t>(getting banned).</a:t>
            </a:r>
            <a:endParaRPr lang="en-US">
              <a:solidFill>
                <a:schemeClr val="tx2"/>
              </a:solidFill>
              <a:ea typeface="Calibri"/>
              <a:cs typeface="Calibri"/>
            </a:endParaRPr>
          </a:p>
          <a:p>
            <a:pPr marL="0" indent="0">
              <a:lnSpc>
                <a:spcPct val="90000"/>
              </a:lnSpc>
              <a:buNone/>
            </a:pPr>
            <a:endParaRPr lang="en-US" sz="1500" dirty="0">
              <a:solidFill>
                <a:schemeClr val="tx2"/>
              </a:solidFill>
            </a:endParaRPr>
          </a:p>
          <a:p>
            <a:pPr marL="0" lvl="0" indent="0">
              <a:lnSpc>
                <a:spcPct val="90000"/>
              </a:lnSpc>
              <a:buNone/>
            </a:pPr>
            <a:r>
              <a:rPr lang="en-US" sz="1500">
                <a:solidFill>
                  <a:schemeClr val="tx2"/>
                </a:solidFill>
              </a:rPr>
              <a:t>I built an autonomous crawler that dynamically matches the environment’s pressure.</a:t>
            </a:r>
            <a:endParaRPr lang="en-US">
              <a:solidFill>
                <a:schemeClr val="tx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D75592-2ADD-13F6-0227-1D824CE58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CF2D0-E3A1-8BC3-FAE8-1A7D984F6768}"/>
              </a:ext>
            </a:extLst>
          </p:cNvPr>
          <p:cNvSpPr>
            <a:spLocks noGrp="1"/>
          </p:cNvSpPr>
          <p:nvPr>
            <p:ph type="title"/>
          </p:nvPr>
        </p:nvSpPr>
        <p:spPr>
          <a:xfrm>
            <a:off x="603504" y="342900"/>
            <a:ext cx="7934706" cy="891540"/>
          </a:xfrm>
        </p:spPr>
        <p:txBody>
          <a:bodyPr>
            <a:normAutofit fontScale="90000"/>
          </a:bodyPr>
          <a:lstStyle/>
          <a:p>
            <a:r>
              <a:rPr lang="en-US" sz="1900">
                <a:solidFill>
                  <a:schemeClr val="tx2"/>
                </a:solidFill>
              </a:rPr>
              <a:t>Transitioning Genetic Algorithms </a:t>
            </a:r>
            <a:br>
              <a:rPr lang="en-US" sz="1900" dirty="0">
                <a:solidFill>
                  <a:schemeClr val="tx2"/>
                </a:solidFill>
              </a:rPr>
            </a:br>
            <a:r>
              <a:rPr lang="en-US" sz="1900">
                <a:solidFill>
                  <a:schemeClr val="tx2"/>
                </a:solidFill>
              </a:rPr>
              <a:t>to </a:t>
            </a:r>
            <a:br>
              <a:rPr lang="en-US" sz="1900" dirty="0">
                <a:solidFill>
                  <a:schemeClr val="tx2"/>
                </a:solidFill>
              </a:rPr>
            </a:br>
            <a:r>
              <a:rPr lang="en-US" sz="1900">
                <a:solidFill>
                  <a:schemeClr val="tx2"/>
                </a:solidFill>
              </a:rPr>
              <a:t>Real-Time Control Theory</a:t>
            </a:r>
            <a:endParaRPr lang="en-US"/>
          </a:p>
        </p:txBody>
      </p:sp>
      <p:grpSp>
        <p:nvGrpSpPr>
          <p:cNvPr id="29" name="Group 28">
            <a:extLst>
              <a:ext uri="{FF2B5EF4-FFF2-40B4-BE49-F238E27FC236}">
                <a16:creationId xmlns:a16="http://schemas.microsoft.com/office/drawing/2014/main" id="{88BE45F2-7C7A-E7E3-B621-4EA1A133CD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660949" y="-3837"/>
            <a:ext cx="2488985" cy="1867698"/>
            <a:chOff x="-305" y="-1"/>
            <a:chExt cx="3832880" cy="2876136"/>
          </a:xfrm>
        </p:grpSpPr>
        <p:sp>
          <p:nvSpPr>
            <p:cNvPr id="30" name="Freeform: Shape 29">
              <a:extLst>
                <a:ext uri="{FF2B5EF4-FFF2-40B4-BE49-F238E27FC236}">
                  <a16:creationId xmlns:a16="http://schemas.microsoft.com/office/drawing/2014/main" id="{B5563D4B-F300-4D67-4F35-B9BE6BDD1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54F99AD-0399-84F2-67CC-3AE8051EC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718D8D43-83D2-64D5-7367-8CDE0D91F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20B880CE-EEC7-73D0-BCBE-D065B1A217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7D4C3E96-28B8-3EF9-2D05-E1BE85C035B9}"/>
              </a:ext>
            </a:extLst>
          </p:cNvPr>
          <p:cNvSpPr txBox="1"/>
          <p:nvPr/>
        </p:nvSpPr>
        <p:spPr>
          <a:xfrm>
            <a:off x="2286000" y="2989613"/>
            <a:ext cx="5321629"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400" b="0" i="0" u="none" strike="noStrike" baseline="0">
                <a:solidFill>
                  <a:srgbClr val="1F497D"/>
                </a:solidFill>
                <a:latin typeface="Calibri"/>
                <a:ea typeface="Segoe UI"/>
                <a:cs typeface="Segoe UI"/>
              </a:rPr>
              <a:t>Traditionally, fitness will increase with evolution given static environment and objective fitness functions.</a:t>
            </a:r>
            <a:r>
              <a:rPr lang="en-US" sz="1400" b="0" i="0">
                <a:solidFill>
                  <a:srgbClr val="000000"/>
                </a:solidFill>
                <a:latin typeface="Calibri"/>
                <a:ea typeface="Segoe UI"/>
                <a:cs typeface="Segoe UI"/>
              </a:rPr>
              <a:t>​</a:t>
            </a:r>
          </a:p>
          <a:p>
            <a:pPr algn="l" rtl="0"/>
            <a:r>
              <a:rPr lang="en-US" sz="1400" b="0" i="0">
                <a:solidFill>
                  <a:srgbClr val="000000"/>
                </a:solidFill>
                <a:latin typeface="Calibri"/>
                <a:ea typeface="Segoe UI"/>
                <a:cs typeface="Segoe UI"/>
              </a:rPr>
              <a:t>​</a:t>
            </a:r>
          </a:p>
          <a:p>
            <a:pPr algn="l" rtl="0"/>
            <a:r>
              <a:rPr lang="en-US" sz="1400" b="0" i="0" u="none" strike="noStrike" baseline="0">
                <a:solidFill>
                  <a:srgbClr val="1F497D"/>
                </a:solidFill>
                <a:latin typeface="Calibri"/>
                <a:ea typeface="Segoe UI"/>
                <a:cs typeface="Segoe UI"/>
              </a:rPr>
              <a:t>Environment Pressure and Dynamic Baselines means optimal fitness is a changing target.</a:t>
            </a:r>
          </a:p>
          <a:p>
            <a:pPr algn="ctr"/>
            <a:endParaRPr lang="en-US"/>
          </a:p>
        </p:txBody>
      </p:sp>
      <p:grpSp>
        <p:nvGrpSpPr>
          <p:cNvPr id="40" name="GA to Control Diagram"/>
          <p:cNvGrpSpPr/>
          <p:nvPr/>
        </p:nvGrpSpPr>
        <p:grpSpPr>
          <a:xfrm>
            <a:off x="2010266" y="1526048"/>
            <a:ext cx="5600000" cy="1180000"/>
            <a:chOff x="100000" y="300000"/>
            <a:chExt cx="5600000" cy="1180000"/>
          </a:xfrm>
        </p:grpSpPr>
        <p:cxnSp>
          <p:nvCxnSpPr>
            <p:cNvPr id="41" name="conn AB"/>
            <p:cNvCxnSpPr/>
            <p:nvPr/>
          </p:nvCxnSpPr>
          <p:spPr>
            <a:xfrm>
              <a:off x="450000" y="430000"/>
              <a:ext cx="1" cy="620000"/>
            </a:xfrm>
            <a:prstGeom prst="straightConnector1">
              <a:avLst/>
            </a:prstGeom>
            <a:ln w="22225" cap="rnd">
              <a:solidFill>
                <a:srgbClr val="A6A6A6"/>
              </a:solidFill>
            </a:ln>
          </p:spPr>
        </p:cxnSp>
        <p:cxnSp>
          <p:nvCxnSpPr>
            <p:cNvPr id="42" name="conn AC"/>
            <p:cNvCxnSpPr/>
            <p:nvPr/>
          </p:nvCxnSpPr>
          <p:spPr>
            <a:xfrm>
              <a:off x="450000" y="430000"/>
              <a:ext cx="600000" cy="310000"/>
            </a:xfrm>
            <a:prstGeom prst="straightConnector1">
              <a:avLst/>
            </a:prstGeom>
            <a:ln w="22225" cap="rnd">
              <a:solidFill>
                <a:srgbClr val="A6A6A6"/>
              </a:solidFill>
            </a:ln>
          </p:spPr>
        </p:cxnSp>
        <p:cxnSp>
          <p:nvCxnSpPr>
            <p:cNvPr id="43" name="conn BC"/>
            <p:cNvCxnSpPr/>
            <p:nvPr/>
          </p:nvCxnSpPr>
          <p:spPr>
            <a:xfrm flipV="1">
              <a:off x="450000" y="740000"/>
              <a:ext cx="600000" cy="310000"/>
            </a:xfrm>
            <a:prstGeom prst="straightConnector1">
              <a:avLst/>
            </a:prstGeom>
            <a:ln w="22225" cap="rnd">
              <a:solidFill>
                <a:srgbClr val="A6A6A6"/>
              </a:solidFill>
            </a:ln>
          </p:spPr>
        </p:cxnSp>
        <p:sp>
          <p:nvSpPr>
            <p:cNvPr id="44" name="node A"/>
            <p:cNvSpPr/>
            <p:nvPr/>
          </p:nvSpPr>
          <p:spPr>
            <a:xfrm>
              <a:off x="320000" y="300000"/>
              <a:ext cx="260000" cy="260000"/>
            </a:xfrm>
            <a:prstGeom prst="ellipse">
              <a:avLst/>
            </a:prstGeom>
            <a:solidFill>
              <a:srgbClr val="BFBFBF"/>
            </a:solidFill>
            <a:ln>
              <a:noFill/>
            </a:ln>
          </p:spPr>
          <p:txBody>
            <a:bodyPr/>
            <a:lstStyle/>
            <a:p>
              <a:endParaRPr lang="en-US"/>
            </a:p>
          </p:txBody>
        </p:sp>
        <p:sp>
          <p:nvSpPr>
            <p:cNvPr id="45" name="node B"/>
            <p:cNvSpPr/>
            <p:nvPr/>
          </p:nvSpPr>
          <p:spPr>
            <a:xfrm>
              <a:off x="320000" y="920000"/>
              <a:ext cx="260000" cy="260000"/>
            </a:xfrm>
            <a:prstGeom prst="ellipse">
              <a:avLst/>
            </a:prstGeom>
            <a:solidFill>
              <a:srgbClr val="4F81BD"/>
            </a:solidFill>
            <a:ln>
              <a:noFill/>
            </a:ln>
          </p:spPr>
          <p:txBody>
            <a:bodyPr/>
            <a:lstStyle/>
            <a:p>
              <a:endParaRPr lang="en-US"/>
            </a:p>
          </p:txBody>
        </p:sp>
        <p:sp>
          <p:nvSpPr>
            <p:cNvPr id="46" name="node C"/>
            <p:cNvSpPr/>
            <p:nvPr/>
          </p:nvSpPr>
          <p:spPr>
            <a:xfrm>
              <a:off x="920000" y="610000"/>
              <a:ext cx="260000" cy="260000"/>
            </a:xfrm>
            <a:prstGeom prst="ellipse">
              <a:avLst/>
            </a:prstGeom>
            <a:solidFill>
              <a:srgbClr val="4F81BD"/>
            </a:solidFill>
            <a:ln>
              <a:noFill/>
            </a:ln>
          </p:spPr>
          <p:txBody>
            <a:bodyPr/>
            <a:lstStyle/>
            <a:p>
              <a:endParaRPr lang="en-US"/>
            </a:p>
          </p:txBody>
        </p:sp>
        <p:sp>
          <p:nvSpPr>
            <p:cNvPr id="47" name="Transition Arrow"/>
            <p:cNvSpPr/>
            <p:nvPr/>
          </p:nvSpPr>
          <p:spPr>
            <a:xfrm>
              <a:off x="1620000" y="600000"/>
              <a:ext cx="1230000" cy="280000"/>
            </a:xfrm>
            <a:prstGeom prst="rightArrow">
              <a:avLst>
                <a:gd name="adj1" fmla="val 55000"/>
                <a:gd name="adj2" fmla="val 55000"/>
              </a:avLst>
            </a:prstGeom>
            <a:solidFill>
              <a:srgbClr val="F79646"/>
            </a:solidFill>
            <a:ln>
              <a:noFill/>
            </a:ln>
          </p:spPr>
          <p:txBody>
            <a:bodyPr/>
            <a:lstStyle/>
            <a:p>
              <a:endParaRPr lang="en-US"/>
            </a:p>
          </p:txBody>
        </p:sp>
        <p:cxnSp>
          <p:nvCxnSpPr>
            <p:cNvPr id="48" name="y axis"/>
            <p:cNvCxnSpPr/>
            <p:nvPr/>
          </p:nvCxnSpPr>
          <p:spPr>
            <a:xfrm>
              <a:off x="3200000" y="300000"/>
              <a:ext cx="1" cy="900000"/>
            </a:xfrm>
            <a:prstGeom prst="straightConnector1">
              <a:avLst/>
            </a:prstGeom>
            <a:ln w="12700" cap="rnd">
              <a:solidFill>
                <a:srgbClr val="C9C9C9"/>
              </a:solidFill>
            </a:ln>
          </p:spPr>
        </p:cxnSp>
        <p:cxnSp>
          <p:nvCxnSpPr>
            <p:cNvPr id="49" name="x axis"/>
            <p:cNvCxnSpPr/>
            <p:nvPr/>
          </p:nvCxnSpPr>
          <p:spPr>
            <a:xfrm>
              <a:off x="3200000" y="1200000"/>
              <a:ext cx="2450000" cy="1"/>
            </a:xfrm>
            <a:prstGeom prst="straightConnector1">
              <a:avLst/>
            </a:prstGeom>
            <a:ln w="12700" cap="rnd">
              <a:solidFill>
                <a:srgbClr val="C9C9C9"/>
              </a:solidFill>
            </a:ln>
          </p:spPr>
        </p:cxnSp>
        <p:cxnSp>
          <p:nvCxnSpPr>
            <p:cNvPr id="50" name="setpoint"/>
            <p:cNvCxnSpPr/>
            <p:nvPr/>
          </p:nvCxnSpPr>
          <p:spPr>
            <a:xfrm>
              <a:off x="3250000" y="520000"/>
              <a:ext cx="2350000" cy="1"/>
            </a:xfrm>
            <a:prstGeom prst="straightConnector1">
              <a:avLst/>
            </a:prstGeom>
            <a:ln w="15875" cap="rnd">
              <a:solidFill>
                <a:srgbClr val="F79646"/>
              </a:solidFill>
              <a:prstDash val="dash"/>
            </a:ln>
          </p:spPr>
        </p:cxnSp>
        <p:sp>
          <p:nvSpPr>
            <p:cNvPr id="51" name="Response Curve"/>
            <p:cNvSpPr/>
            <p:nvPr/>
          </p:nvSpPr>
          <p:spPr>
            <a:xfrm>
              <a:off x="3200000" y="300000"/>
              <a:ext cx="2450000" cy="900000"/>
            </a:xfrm>
            <a:custGeom>
              <a:avLst/>
              <a:gdLst/>
              <a:ahLst/>
              <a:cxnLst/>
              <a:rect l="l" t="t" r="r" b="b"/>
              <a:pathLst>
                <a:path w="2450000" h="900000">
                  <a:moveTo>
                    <a:pt x="50000" y="850000"/>
                  </a:moveTo>
                  <a:cubicBezTo>
                    <a:pt x="300000" y="850000"/>
                    <a:pt x="520000" y="150000"/>
                    <a:pt x="850000" y="120000"/>
                  </a:cubicBezTo>
                  <a:cubicBezTo>
                    <a:pt x="1060000" y="100000"/>
                    <a:pt x="1160000" y="300000"/>
                    <a:pt x="1360000" y="300000"/>
                  </a:cubicBezTo>
                  <a:cubicBezTo>
                    <a:pt x="1610000" y="300000"/>
                    <a:pt x="1760000" y="220000"/>
                    <a:pt x="2100000" y="220000"/>
                  </a:cubicBezTo>
                  <a:lnTo>
                    <a:pt x="2400000" y="220000"/>
                  </a:lnTo>
                </a:path>
              </a:pathLst>
            </a:custGeom>
            <a:noFill/>
            <a:ln w="28575" cap="rnd">
              <a:solidFill>
                <a:srgbClr val="4F81BD"/>
              </a:solidFill>
              <a:round/>
            </a:ln>
          </p:spPr>
          <p:txBody>
            <a:bodyPr/>
            <a:lstStyle/>
            <a:p>
              <a:endParaRPr lang="en-US"/>
            </a:p>
          </p:txBody>
        </p:sp>
        <p:sp>
          <p:nvSpPr>
            <p:cNvPr id="52" name="settle marker"/>
            <p:cNvSpPr/>
            <p:nvPr/>
          </p:nvSpPr>
          <p:spPr>
            <a:xfrm>
              <a:off x="5555000" y="475000"/>
              <a:ext cx="90000" cy="90000"/>
            </a:xfrm>
            <a:prstGeom prst="ellipse">
              <a:avLst/>
            </a:prstGeom>
            <a:solidFill>
              <a:srgbClr val="4F81BD"/>
            </a:solidFill>
            <a:ln>
              <a:noFill/>
            </a:ln>
          </p:spPr>
          <p:txBody>
            <a:bodyPr/>
            <a:lstStyle/>
            <a:p>
              <a:endParaRPr lang="en-US"/>
            </a:p>
          </p:txBody>
        </p:sp>
        <p:sp>
          <p:nvSpPr>
            <p:cNvPr id="53" name="caption left"/>
            <p:cNvSpPr txBox="1"/>
            <p:nvPr/>
          </p:nvSpPr>
          <p:spPr>
            <a:xfrm>
              <a:off x="100000" y="1210000"/>
              <a:ext cx="1300000" cy="240000"/>
            </a:xfrm>
            <a:prstGeom prst="rect">
              <a:avLst/>
            </a:prstGeom>
            <a:noFill/>
          </p:spPr>
          <p:txBody>
            <a:bodyPr wrap="square" lIns="0" tIns="0" rIns="0" bIns="0" rtlCol="0" anchor="t">
              <a:noAutofit/>
            </a:bodyPr>
            <a:lstStyle/>
            <a:p>
              <a:pPr algn="ctr"/>
              <a:r>
                <a:rPr lang="en-US" sz="1050" b="1">
                  <a:solidFill>
                    <a:srgbClr val="1F497D"/>
                  </a:solidFill>
                  <a:latin typeface="Calibri"/>
                </a:rPr>
                <a:t>Genetic Algorithms</a:t>
              </a:r>
            </a:p>
          </p:txBody>
        </p:sp>
        <p:sp>
          <p:nvSpPr>
            <p:cNvPr id="54" name="caption right"/>
            <p:cNvSpPr txBox="1"/>
            <p:nvPr/>
          </p:nvSpPr>
          <p:spPr>
            <a:xfrm>
              <a:off x="3150000" y="1240000"/>
              <a:ext cx="2550000" cy="240000"/>
            </a:xfrm>
            <a:prstGeom prst="rect">
              <a:avLst/>
            </a:prstGeom>
            <a:noFill/>
          </p:spPr>
          <p:txBody>
            <a:bodyPr wrap="square" lIns="0" tIns="0" rIns="0" bIns="0" rtlCol="0" anchor="t">
              <a:noAutofit/>
            </a:bodyPr>
            <a:lstStyle/>
            <a:p>
              <a:pPr algn="ctr"/>
              <a:r>
                <a:rPr lang="en-US" sz="1050" b="1">
                  <a:solidFill>
                    <a:srgbClr val="1F497D"/>
                  </a:solidFill>
                  <a:latin typeface="Calibri"/>
                </a:rPr>
                <a:t>Real-Time Control Theory</a:t>
              </a:r>
            </a:p>
          </p:txBody>
        </p:sp>
      </p:grpSp>
    </p:spTree>
    <p:extLst>
      <p:ext uri="{BB962C8B-B14F-4D97-AF65-F5344CB8AC3E}">
        <p14:creationId xmlns:p14="http://schemas.microsoft.com/office/powerpoint/2010/main" val="1537931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3504" y="602216"/>
            <a:ext cx="3733482" cy="1090538"/>
          </a:xfrm>
        </p:spPr>
        <p:txBody>
          <a:bodyPr>
            <a:normAutofit/>
          </a:bodyPr>
          <a:lstStyle/>
          <a:p>
            <a:pPr marL="0" lvl="0" indent="0">
              <a:buNone/>
            </a:pPr>
            <a:r>
              <a:rPr lang="en-US" sz="2700">
                <a:solidFill>
                  <a:schemeClr val="tx2"/>
                </a:solidFill>
              </a:rPr>
              <a:t>Understanding PID Controllers</a:t>
            </a:r>
          </a:p>
        </p:txBody>
      </p:sp>
      <p:sp>
        <p:nvSpPr>
          <p:cNvPr id="3" name="Content Placeholder 2"/>
          <p:cNvSpPr>
            <a:spLocks noGrp="1"/>
          </p:cNvSpPr>
          <p:nvPr>
            <p:ph idx="1"/>
          </p:nvPr>
        </p:nvSpPr>
        <p:spPr>
          <a:xfrm>
            <a:off x="603504" y="1693797"/>
            <a:ext cx="3733183" cy="2729467"/>
          </a:xfrm>
        </p:spPr>
        <p:txBody>
          <a:bodyPr anchor="ctr">
            <a:normAutofit/>
          </a:bodyPr>
          <a:lstStyle/>
          <a:p>
            <a:pPr marL="0" lvl="0" indent="0">
              <a:lnSpc>
                <a:spcPct val="90000"/>
              </a:lnSpc>
              <a:buNone/>
            </a:pPr>
            <a:r>
              <a:rPr lang="en-US" sz="1300">
                <a:solidFill>
                  <a:schemeClr val="tx2"/>
                </a:solidFill>
              </a:rPr>
              <a:t>A PID controller is a control loop feedback mechanism that automatically corrects errors and variances in mechanical systems.</a:t>
            </a:r>
          </a:p>
          <a:p>
            <a:pPr marL="0" indent="0">
              <a:lnSpc>
                <a:spcPct val="90000"/>
              </a:lnSpc>
              <a:buNone/>
            </a:pPr>
            <a:endParaRPr lang="en-US" sz="1300" dirty="0">
              <a:solidFill>
                <a:schemeClr val="tx2"/>
              </a:solidFill>
            </a:endParaRPr>
          </a:p>
          <a:p>
            <a:pPr marL="0" lvl="0" indent="0">
              <a:lnSpc>
                <a:spcPct val="90000"/>
              </a:lnSpc>
              <a:buNone/>
            </a:pPr>
            <a:r>
              <a:rPr lang="en-US" sz="1300">
                <a:solidFill>
                  <a:schemeClr val="tx2"/>
                </a:solidFill>
              </a:rPr>
              <a:t>It continuously calculates an </a:t>
            </a:r>
            <a:r>
              <a:rPr lang="en-US" sz="1300" b="1">
                <a:solidFill>
                  <a:schemeClr val="tx2"/>
                </a:solidFill>
              </a:rPr>
              <a:t>error value</a:t>
            </a:r>
            <a:r>
              <a:rPr lang="en-US" sz="1300">
                <a:solidFill>
                  <a:schemeClr val="tx2"/>
                </a:solidFill>
              </a:rPr>
              <a:t> as the difference between a desired setpoint and a measured process variable.</a:t>
            </a:r>
          </a:p>
          <a:p>
            <a:pPr marL="0" lvl="0" indent="0">
              <a:lnSpc>
                <a:spcPct val="90000"/>
              </a:lnSpc>
              <a:buNone/>
            </a:pPr>
            <a:endParaRPr lang="en-US" sz="1300" dirty="0">
              <a:solidFill>
                <a:schemeClr val="tx2"/>
              </a:solidFill>
              <a:ea typeface="Calibri"/>
              <a:cs typeface="Calibri"/>
            </a:endParaRPr>
          </a:p>
          <a:p>
            <a:pPr marL="0" lvl="0" indent="0">
              <a:lnSpc>
                <a:spcPct val="90000"/>
              </a:lnSpc>
              <a:buNone/>
            </a:pPr>
            <a:r>
              <a:rPr lang="en-US" sz="1300">
                <a:solidFill>
                  <a:schemeClr val="tx2"/>
                </a:solidFill>
              </a:rPr>
              <a:t>Common uses include automobile </a:t>
            </a:r>
            <a:r>
              <a:rPr lang="en-US" sz="1300" b="1">
                <a:solidFill>
                  <a:schemeClr val="tx2"/>
                </a:solidFill>
              </a:rPr>
              <a:t>cruise control</a:t>
            </a:r>
            <a:r>
              <a:rPr lang="en-US" sz="1300">
                <a:solidFill>
                  <a:schemeClr val="tx2"/>
                </a:solidFill>
              </a:rPr>
              <a:t>, drone </a:t>
            </a:r>
            <a:r>
              <a:rPr lang="en-US" sz="1300" b="1">
                <a:solidFill>
                  <a:schemeClr val="tx2"/>
                </a:solidFill>
              </a:rPr>
              <a:t>flight stabilization</a:t>
            </a:r>
            <a:r>
              <a:rPr lang="en-US" sz="1300">
                <a:solidFill>
                  <a:schemeClr val="tx2"/>
                </a:solidFill>
              </a:rPr>
              <a:t> and </a:t>
            </a:r>
            <a:r>
              <a:rPr lang="en-US" sz="1300" b="1">
                <a:solidFill>
                  <a:schemeClr val="tx2"/>
                </a:solidFill>
              </a:rPr>
              <a:t>thermostats</a:t>
            </a:r>
            <a:r>
              <a:rPr lang="en-US" sz="1300">
                <a:solidFill>
                  <a:schemeClr val="tx2"/>
                </a:solidFill>
              </a:rPr>
              <a:t>.</a:t>
            </a:r>
          </a:p>
        </p:txBody>
      </p:sp>
      <p:grpSp>
        <p:nvGrpSpPr>
          <p:cNvPr id="34" name="Group 3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77422" y="0"/>
            <a:ext cx="4366578" cy="5013950"/>
            <a:chOff x="6357228" y="0"/>
            <a:chExt cx="5822103" cy="6685267"/>
          </a:xfrm>
        </p:grpSpPr>
        <p:sp>
          <p:nvSpPr>
            <p:cNvPr id="35" name="Freeform: Shape 3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7F40EAE7-D1F2-8B61-BE76-7374A424FE8A}"/>
              </a:ext>
            </a:extLst>
          </p:cNvPr>
          <p:cNvSpPr txBox="1"/>
          <p:nvPr/>
        </p:nvSpPr>
        <p:spPr>
          <a:xfrm>
            <a:off x="6026727" y="1220932"/>
            <a:ext cx="2768436" cy="25699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0" i="0" u="none" strike="noStrike" baseline="0">
                <a:solidFill>
                  <a:srgbClr val="1F497D"/>
                </a:solidFill>
                <a:latin typeface="Calibri"/>
                <a:ea typeface="Segoe UI"/>
                <a:cs typeface="Segoe UI"/>
              </a:rPr>
              <a:t>The controller applies three terms to eliminate this error: </a:t>
            </a:r>
            <a:endParaRPr lang="en-US">
              <a:solidFill>
                <a:srgbClr val="000000"/>
              </a:solidFill>
              <a:latin typeface="Calibri"/>
              <a:ea typeface="Calibri"/>
              <a:cs typeface="Calibri"/>
            </a:endParaRPr>
          </a:p>
          <a:p>
            <a:r>
              <a:rPr lang="en-US" sz="1300" b="0" i="0" u="none" strike="noStrike" baseline="0">
                <a:solidFill>
                  <a:srgbClr val="1F497D"/>
                </a:solidFill>
                <a:latin typeface="Calibri"/>
                <a:ea typeface="Segoe UI"/>
                <a:cs typeface="Segoe UI"/>
              </a:rPr>
              <a:t>* </a:t>
            </a:r>
            <a:r>
              <a:rPr lang="en-US" sz="1300" b="1" i="0" u="none" strike="noStrike" baseline="0">
                <a:solidFill>
                  <a:srgbClr val="1F497D"/>
                </a:solidFill>
                <a:latin typeface="Calibri"/>
                <a:ea typeface="Segoe UI"/>
                <a:cs typeface="Segoe UI"/>
              </a:rPr>
              <a:t>Proportional (P)</a:t>
            </a:r>
            <a:r>
              <a:rPr lang="en-US" sz="1300" b="0" i="0" u="none" strike="noStrike" baseline="0">
                <a:solidFill>
                  <a:srgbClr val="1F497D"/>
                </a:solidFill>
                <a:latin typeface="Calibri"/>
                <a:ea typeface="Segoe UI"/>
                <a:cs typeface="Segoe UI"/>
              </a:rPr>
              <a:t>: Corrects for the </a:t>
            </a:r>
            <a:r>
              <a:rPr lang="en-US" sz="1300" b="1" i="0" u="none" strike="noStrike" baseline="0">
                <a:solidFill>
                  <a:srgbClr val="1F497D"/>
                </a:solidFill>
                <a:latin typeface="Calibri"/>
                <a:ea typeface="Segoe UI"/>
                <a:cs typeface="Segoe UI"/>
              </a:rPr>
              <a:t>present</a:t>
            </a:r>
            <a:r>
              <a:rPr lang="en-US" sz="1300" b="0" i="0" u="none" strike="noStrike" baseline="0">
                <a:solidFill>
                  <a:srgbClr val="1F497D"/>
                </a:solidFill>
                <a:latin typeface="Calibri"/>
                <a:ea typeface="Segoe UI"/>
                <a:cs typeface="Segoe UI"/>
              </a:rPr>
              <a:t> error. </a:t>
            </a:r>
            <a:endParaRPr lang="en-US">
              <a:solidFill>
                <a:srgbClr val="000000"/>
              </a:solidFill>
              <a:latin typeface="Calibri"/>
              <a:ea typeface="Calibri"/>
              <a:cs typeface="Calibri"/>
            </a:endParaRPr>
          </a:p>
          <a:p>
            <a:endParaRPr lang="en-US" sz="1300" dirty="0">
              <a:solidFill>
                <a:srgbClr val="1F497D"/>
              </a:solidFill>
              <a:latin typeface="Calibri"/>
              <a:ea typeface="Segoe UI"/>
              <a:cs typeface="Segoe UI"/>
            </a:endParaRPr>
          </a:p>
          <a:p>
            <a:r>
              <a:rPr lang="en-US" sz="1300" b="0" i="0" u="none" strike="noStrike" baseline="0">
                <a:solidFill>
                  <a:srgbClr val="1F497D"/>
                </a:solidFill>
                <a:latin typeface="Calibri"/>
                <a:ea typeface="Segoe UI"/>
                <a:cs typeface="Segoe UI"/>
              </a:rPr>
              <a:t>* </a:t>
            </a:r>
            <a:r>
              <a:rPr lang="en-US" sz="1300" b="1" i="0" u="none" strike="noStrike" baseline="0">
                <a:solidFill>
                  <a:srgbClr val="1F497D"/>
                </a:solidFill>
                <a:latin typeface="Calibri"/>
                <a:ea typeface="Segoe UI"/>
                <a:cs typeface="Segoe UI"/>
              </a:rPr>
              <a:t>Integral (I)</a:t>
            </a:r>
            <a:r>
              <a:rPr lang="en-US" sz="1300" b="0" i="0" u="none" strike="noStrike" baseline="0">
                <a:solidFill>
                  <a:srgbClr val="1F497D"/>
                </a:solidFill>
                <a:latin typeface="Calibri"/>
                <a:ea typeface="Segoe UI"/>
                <a:cs typeface="Segoe UI"/>
              </a:rPr>
              <a:t>: Corrects for the accumulation of </a:t>
            </a:r>
            <a:r>
              <a:rPr lang="en-US" sz="1300" b="1" i="0" u="none" strike="noStrike" baseline="0">
                <a:solidFill>
                  <a:srgbClr val="1F497D"/>
                </a:solidFill>
                <a:latin typeface="Calibri"/>
                <a:ea typeface="Segoe UI"/>
                <a:cs typeface="Segoe UI"/>
              </a:rPr>
              <a:t>past</a:t>
            </a:r>
            <a:r>
              <a:rPr lang="en-US" sz="1300" b="0" i="0" u="none" strike="noStrike" baseline="0">
                <a:solidFill>
                  <a:srgbClr val="1F497D"/>
                </a:solidFill>
                <a:latin typeface="Calibri"/>
                <a:ea typeface="Segoe UI"/>
                <a:cs typeface="Segoe UI"/>
              </a:rPr>
              <a:t> errors. </a:t>
            </a:r>
            <a:endParaRPr lang="en-US">
              <a:solidFill>
                <a:srgbClr val="000000"/>
              </a:solidFill>
              <a:latin typeface="Calibri"/>
              <a:ea typeface="Calibri"/>
              <a:cs typeface="Calibri"/>
            </a:endParaRPr>
          </a:p>
          <a:p>
            <a:endParaRPr lang="en-US" sz="1300" dirty="0">
              <a:solidFill>
                <a:srgbClr val="1F497D"/>
              </a:solidFill>
              <a:latin typeface="Calibri"/>
              <a:ea typeface="Segoe UI"/>
              <a:cs typeface="Segoe UI"/>
            </a:endParaRPr>
          </a:p>
          <a:p>
            <a:r>
              <a:rPr lang="en-US" sz="1300" b="0" i="0" u="none" strike="noStrike" baseline="0">
                <a:solidFill>
                  <a:srgbClr val="1F497D"/>
                </a:solidFill>
                <a:latin typeface="Calibri"/>
                <a:ea typeface="Segoe UI"/>
                <a:cs typeface="Segoe UI"/>
              </a:rPr>
              <a:t>* </a:t>
            </a:r>
            <a:r>
              <a:rPr lang="en-US" sz="1300" b="1" i="0" u="none" strike="noStrike" baseline="0">
                <a:solidFill>
                  <a:srgbClr val="1F497D"/>
                </a:solidFill>
                <a:latin typeface="Calibri"/>
                <a:ea typeface="Segoe UI"/>
                <a:cs typeface="Segoe UI"/>
              </a:rPr>
              <a:t>Derivative (D)</a:t>
            </a:r>
            <a:r>
              <a:rPr lang="en-US" sz="1300" b="0" i="0" u="none" strike="noStrike" baseline="0">
                <a:solidFill>
                  <a:srgbClr val="1F497D"/>
                </a:solidFill>
                <a:latin typeface="Calibri"/>
                <a:ea typeface="Segoe UI"/>
                <a:cs typeface="Segoe UI"/>
              </a:rPr>
              <a:t>: Predicts </a:t>
            </a:r>
            <a:r>
              <a:rPr lang="en-US" sz="1300" b="1" i="0" u="none" strike="noStrike" baseline="0">
                <a:solidFill>
                  <a:srgbClr val="1F497D"/>
                </a:solidFill>
                <a:latin typeface="Calibri"/>
                <a:ea typeface="Segoe UI"/>
                <a:cs typeface="Segoe UI"/>
              </a:rPr>
              <a:t>future</a:t>
            </a:r>
            <a:r>
              <a:rPr lang="en-US" sz="1300" b="0" i="0" u="none" strike="noStrike" baseline="0" dirty="0">
                <a:solidFill>
                  <a:srgbClr val="1F497D"/>
                </a:solidFill>
                <a:latin typeface="Calibri"/>
                <a:ea typeface="Segoe UI"/>
                <a:cs typeface="Segoe UI"/>
              </a:rPr>
              <a:t> </a:t>
            </a:r>
            <a:r>
              <a:rPr lang="en-US" sz="1300" b="0" i="0" u="none" strike="noStrike" baseline="0">
                <a:solidFill>
                  <a:srgbClr val="1F497D"/>
                </a:solidFill>
                <a:latin typeface="Calibri"/>
                <a:ea typeface="Segoe UI"/>
                <a:cs typeface="Segoe UI"/>
              </a:rPr>
              <a:t>errors based on the current rate of change.</a:t>
            </a:r>
            <a:endParaRPr lang="en-US">
              <a:ea typeface="Calibri"/>
              <a:cs typeface="Calibri"/>
            </a:endParaRPr>
          </a:p>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672" y="-6125"/>
            <a:ext cx="3625552" cy="1866112"/>
            <a:chOff x="6867015" y="-1"/>
            <a:chExt cx="5324985" cy="3251912"/>
          </a:xfrm>
          <a:solidFill>
            <a:schemeClr val="bg1">
              <a:alpha val="30000"/>
            </a:schemeClr>
          </a:solidFill>
        </p:grpSpPr>
        <p:sp>
          <p:nvSpPr>
            <p:cNvPr id="29" name="Freeform: Shape 28">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1202164" y="479961"/>
            <a:ext cx="6572333" cy="1378012"/>
          </a:xfrm>
        </p:spPr>
        <p:txBody>
          <a:bodyPr>
            <a:normAutofit/>
          </a:bodyPr>
          <a:lstStyle/>
          <a:p>
            <a:pPr marL="0" lvl="0" indent="0">
              <a:buNone/>
            </a:pPr>
            <a:r>
              <a:rPr lang="en-US" sz="2700">
                <a:solidFill>
                  <a:schemeClr val="tx2"/>
                </a:solidFill>
              </a:rPr>
              <a:t>The Three Pillars of Autonomic Control</a:t>
            </a:r>
          </a:p>
        </p:txBody>
      </p:sp>
      <p:sp>
        <p:nvSpPr>
          <p:cNvPr id="3" name="Content Placeholder 2"/>
          <p:cNvSpPr>
            <a:spLocks noGrp="1"/>
          </p:cNvSpPr>
          <p:nvPr>
            <p:ph idx="1"/>
          </p:nvPr>
        </p:nvSpPr>
        <p:spPr>
          <a:xfrm>
            <a:off x="2287809" y="1537180"/>
            <a:ext cx="4282290" cy="1823148"/>
          </a:xfrm>
        </p:spPr>
        <p:txBody>
          <a:bodyPr anchor="t">
            <a:normAutofit/>
          </a:bodyPr>
          <a:lstStyle/>
          <a:p>
            <a:pPr marL="0" lvl="0" indent="0">
              <a:lnSpc>
                <a:spcPct val="90000"/>
              </a:lnSpc>
              <a:buNone/>
            </a:pPr>
            <a:r>
              <a:rPr lang="en-US" sz="1300">
                <a:solidFill>
                  <a:schemeClr val="tx2"/>
                </a:solidFill>
              </a:rPr>
              <a:t>To achieve absolute resilience, we merged three distinct engineering layers:</a:t>
            </a:r>
          </a:p>
        </p:txBody>
      </p:sp>
      <p:grpSp>
        <p:nvGrpSpPr>
          <p:cNvPr id="34" name="Group 33">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793706" y="3109732"/>
            <a:ext cx="2356800" cy="2037604"/>
            <a:chOff x="-305" y="-4155"/>
            <a:chExt cx="2514948" cy="2174333"/>
          </a:xfrm>
          <a:solidFill>
            <a:schemeClr val="bg1">
              <a:alpha val="30000"/>
            </a:schemeClr>
          </a:solidFill>
        </p:grpSpPr>
        <p:sp>
          <p:nvSpPr>
            <p:cNvPr id="35" name="Freeform: Shape 34">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8" name="Freeform: Shape 37">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id="{EFD58721-34C2-BBE0-3C5C-7A09ADE20F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56303" y="2115434"/>
            <a:ext cx="914400" cy="914400"/>
          </a:xfrm>
          <a:prstGeom prst="rect">
            <a:avLst/>
          </a:prstGeom>
        </p:spPr>
      </p:pic>
      <p:pic>
        <p:nvPicPr>
          <p:cNvPr id="5" name="Graphic 4">
            <a:extLst>
              <a:ext uri="{FF2B5EF4-FFF2-40B4-BE49-F238E27FC236}">
                <a16:creationId xmlns:a16="http://schemas.microsoft.com/office/drawing/2014/main" id="{44287DA4-54CF-8C23-467A-7E2817ADC3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32095" y="2112252"/>
            <a:ext cx="914400" cy="914400"/>
          </a:xfrm>
          <a:prstGeom prst="rect">
            <a:avLst/>
          </a:prstGeom>
        </p:spPr>
      </p:pic>
      <p:pic>
        <p:nvPicPr>
          <p:cNvPr id="6" name="Graphic 5">
            <a:extLst>
              <a:ext uri="{FF2B5EF4-FFF2-40B4-BE49-F238E27FC236}">
                <a16:creationId xmlns:a16="http://schemas.microsoft.com/office/drawing/2014/main" id="{8405C421-0B60-BAC5-6868-3C86202A03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5061" y="2112253"/>
            <a:ext cx="914400" cy="914400"/>
          </a:xfrm>
          <a:prstGeom prst="rect">
            <a:avLst/>
          </a:prstGeom>
        </p:spPr>
      </p:pic>
      <p:sp>
        <p:nvSpPr>
          <p:cNvPr id="9" name="TextBox 8">
            <a:extLst>
              <a:ext uri="{FF2B5EF4-FFF2-40B4-BE49-F238E27FC236}">
                <a16:creationId xmlns:a16="http://schemas.microsoft.com/office/drawing/2014/main" id="{10A125C0-EADE-72C8-99DB-5EA24ECDB07D}"/>
              </a:ext>
            </a:extLst>
          </p:cNvPr>
          <p:cNvSpPr txBox="1"/>
          <p:nvPr/>
        </p:nvSpPr>
        <p:spPr>
          <a:xfrm>
            <a:off x="1380152" y="3030505"/>
            <a:ext cx="181558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0" u="none" strike="noStrike" baseline="0">
                <a:solidFill>
                  <a:schemeClr val="tx2"/>
                </a:solidFill>
                <a:latin typeface="Calibri"/>
                <a:ea typeface="Arial"/>
                <a:cs typeface="Arial"/>
              </a:rPr>
              <a:t>The Execution Layer:</a:t>
            </a:r>
            <a:endParaRPr lang="en-US">
              <a:solidFill>
                <a:schemeClr val="tx2"/>
              </a:solidFill>
              <a:latin typeface="Calibri"/>
              <a:ea typeface="Calibri"/>
              <a:cs typeface="Calibri"/>
            </a:endParaRPr>
          </a:p>
          <a:p>
            <a:r>
              <a:rPr lang="en-US" sz="1800" b="0" i="0" u="none" strike="noStrike" baseline="0">
                <a:solidFill>
                  <a:schemeClr val="tx2"/>
                </a:solidFill>
                <a:latin typeface="Calibri"/>
                <a:ea typeface="Arial"/>
                <a:cs typeface="Arial"/>
              </a:rPr>
              <a:t>A decoupled Go worker pool with token-based thread lifecycles.​</a:t>
            </a:r>
            <a:endParaRPr lang="en-US">
              <a:solidFill>
                <a:schemeClr val="tx2"/>
              </a:solidFill>
              <a:ea typeface="Calibri"/>
              <a:cs typeface="Calibri"/>
            </a:endParaRPr>
          </a:p>
          <a:p>
            <a:pPr algn="ctr"/>
            <a:endParaRPr lang="en-US" dirty="0">
              <a:solidFill>
                <a:schemeClr val="tx2"/>
              </a:solidFill>
              <a:ea typeface="Calibri"/>
              <a:cs typeface="Calibri"/>
            </a:endParaRPr>
          </a:p>
        </p:txBody>
      </p:sp>
      <p:sp>
        <p:nvSpPr>
          <p:cNvPr id="11" name="TextBox 10">
            <a:extLst>
              <a:ext uri="{FF2B5EF4-FFF2-40B4-BE49-F238E27FC236}">
                <a16:creationId xmlns:a16="http://schemas.microsoft.com/office/drawing/2014/main" id="{B1428752-3B76-3B5D-5174-3C844D6A9961}"/>
              </a:ext>
            </a:extLst>
          </p:cNvPr>
          <p:cNvSpPr txBox="1"/>
          <p:nvPr/>
        </p:nvSpPr>
        <p:spPr>
          <a:xfrm>
            <a:off x="3712808" y="3030504"/>
            <a:ext cx="212659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0" u="none" strike="noStrike" baseline="0">
                <a:solidFill>
                  <a:schemeClr val="tx2"/>
                </a:solidFill>
                <a:latin typeface="Calibri"/>
                <a:ea typeface="Arial"/>
                <a:cs typeface="Arial"/>
              </a:rPr>
              <a:t>The Reactive Layer (PID): </a:t>
            </a:r>
            <a:endParaRPr lang="en-US">
              <a:solidFill>
                <a:schemeClr val="tx2"/>
              </a:solidFill>
              <a:latin typeface="Calibri"/>
              <a:ea typeface="Calibri"/>
              <a:cs typeface="Calibri"/>
            </a:endParaRPr>
          </a:p>
          <a:p>
            <a:r>
              <a:rPr lang="en-US" sz="1800" b="0" i="0" u="none" strike="noStrike" baseline="0">
                <a:solidFill>
                  <a:schemeClr val="tx2"/>
                </a:solidFill>
                <a:latin typeface="Calibri"/>
                <a:ea typeface="Arial"/>
                <a:cs typeface="Arial"/>
              </a:rPr>
              <a:t>Microsecond backpressure reflexes to handle momentary network spikes.​</a:t>
            </a:r>
            <a:endParaRPr lang="en-US">
              <a:solidFill>
                <a:schemeClr val="tx2"/>
              </a:solidFill>
              <a:ea typeface="Calibri"/>
              <a:cs typeface="Calibri"/>
            </a:endParaRPr>
          </a:p>
          <a:p>
            <a:pPr algn="ctr"/>
            <a:endParaRPr lang="en-US"/>
          </a:p>
        </p:txBody>
      </p:sp>
      <p:sp>
        <p:nvSpPr>
          <p:cNvPr id="20" name="TextBox 19">
            <a:extLst>
              <a:ext uri="{FF2B5EF4-FFF2-40B4-BE49-F238E27FC236}">
                <a16:creationId xmlns:a16="http://schemas.microsoft.com/office/drawing/2014/main" id="{E5C570EB-5C40-AC87-5140-DB200B48F209}"/>
              </a:ext>
            </a:extLst>
          </p:cNvPr>
          <p:cNvSpPr txBox="1"/>
          <p:nvPr/>
        </p:nvSpPr>
        <p:spPr>
          <a:xfrm>
            <a:off x="6018245" y="3030505"/>
            <a:ext cx="235209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0" u="none" strike="noStrike" baseline="0">
                <a:solidFill>
                  <a:schemeClr val="tx2"/>
                </a:solidFill>
                <a:latin typeface="Calibri"/>
                <a:ea typeface="Arial"/>
                <a:cs typeface="Arial"/>
              </a:rPr>
              <a:t>The Strategic Layer (GA): </a:t>
            </a:r>
            <a:endParaRPr lang="en-US">
              <a:solidFill>
                <a:schemeClr val="tx2"/>
              </a:solidFill>
              <a:latin typeface="Calibri"/>
              <a:ea typeface="Calibri"/>
              <a:cs typeface="Calibri"/>
            </a:endParaRPr>
          </a:p>
          <a:p>
            <a:r>
              <a:rPr lang="en-US" sz="1800" b="0" i="0" u="none" strike="noStrike" baseline="0">
                <a:solidFill>
                  <a:schemeClr val="tx2"/>
                </a:solidFill>
                <a:latin typeface="Calibri"/>
                <a:ea typeface="Arial"/>
                <a:cs typeface="Arial"/>
              </a:rPr>
              <a:t>A macro genetic loop managing structural DNA and system strategy.</a:t>
            </a:r>
            <a:endParaRPr lang="en-US">
              <a:solidFill>
                <a:schemeClr val="tx2"/>
              </a:solidFill>
              <a:ea typeface="Calibri"/>
              <a:cs typeface="Calibri"/>
            </a:endParaRPr>
          </a:p>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323" y="2988"/>
            <a:ext cx="7329573" cy="51435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title"/>
          </p:nvPr>
        </p:nvSpPr>
        <p:spPr>
          <a:xfrm>
            <a:off x="2275099" y="743445"/>
            <a:ext cx="4316022" cy="1378012"/>
          </a:xfrm>
        </p:spPr>
        <p:txBody>
          <a:bodyPr anchor="ctr">
            <a:normAutofit/>
          </a:bodyPr>
          <a:lstStyle/>
          <a:p>
            <a:pPr marL="0" lvl="0" indent="0">
              <a:buNone/>
            </a:pPr>
            <a:r>
              <a:rPr lang="en-US" sz="2700">
                <a:solidFill>
                  <a:schemeClr val="tx2"/>
                </a:solidFill>
              </a:rPr>
              <a:t>System Topology Architecture</a:t>
            </a:r>
          </a:p>
        </p:txBody>
      </p:sp>
      <p:sp>
        <p:nvSpPr>
          <p:cNvPr id="3" name="Content Placeholder 2"/>
          <p:cNvSpPr>
            <a:spLocks noGrp="1"/>
          </p:cNvSpPr>
          <p:nvPr>
            <p:ph idx="1"/>
          </p:nvPr>
        </p:nvSpPr>
        <p:spPr>
          <a:xfrm>
            <a:off x="767965" y="1822400"/>
            <a:ext cx="7221433" cy="1823148"/>
          </a:xfrm>
        </p:spPr>
        <p:txBody>
          <a:bodyPr vert="horz" lIns="91440" tIns="45720" rIns="91440" bIns="45720" rtlCol="0" anchor="t">
            <a:noAutofit/>
          </a:bodyPr>
          <a:lstStyle/>
          <a:p>
            <a:pPr lvl="0" indent="0">
              <a:lnSpc>
                <a:spcPct val="90000"/>
              </a:lnSpc>
              <a:buNone/>
            </a:pPr>
            <a:r>
              <a:rPr lang="en-US" sz="1400" dirty="0">
                <a:solidFill>
                  <a:schemeClr val="tx2"/>
                </a:solidFill>
                <a:latin typeface="Courier"/>
              </a:rPr>
              <a:t>+-----------------------------------------------------------+
</a:t>
            </a:r>
            <a:r>
              <a:rPr lang="en-US" sz="1400">
                <a:solidFill>
                  <a:schemeClr val="tx2"/>
                </a:solidFill>
                <a:latin typeface="Courier"/>
              </a:rPr>
              <a:t>|                     Strategic Layer (GA)                  |</a:t>
            </a:r>
            <a:r>
              <a:rPr lang="en-US" sz="1400" dirty="0">
                <a:solidFill>
                  <a:schemeClr val="tx2"/>
                </a:solidFill>
                <a:latin typeface="Courier"/>
              </a:rPr>
              <a:t>
</a:t>
            </a:r>
            <a:r>
              <a:rPr lang="en-US" sz="1400">
                <a:solidFill>
                  <a:schemeClr val="tx2"/>
                </a:solidFill>
                <a:latin typeface="Courier"/>
              </a:rPr>
              <a:t>|          Evaluates Elite DNA &amp; Mutates System Constants   |</a:t>
            </a:r>
            <a:r>
              <a:rPr lang="en-US" sz="1400" dirty="0">
                <a:solidFill>
                  <a:schemeClr val="tx2"/>
                </a:solidFill>
                <a:latin typeface="Courier"/>
              </a:rPr>
              <a:t>
</a:t>
            </a:r>
            <a:r>
              <a:rPr lang="en-US" sz="1400">
                <a:solidFill>
                  <a:schemeClr val="tx2"/>
                </a:solidFill>
                <a:latin typeface="Courier"/>
              </a:rPr>
              <a:t>+-----------------------------+-----------------------------+</a:t>
            </a:r>
            <a:r>
              <a:rPr lang="en-US" sz="1400" dirty="0">
                <a:solidFill>
                  <a:schemeClr val="tx2"/>
                </a:solidFill>
                <a:latin typeface="Courier"/>
              </a:rPr>
              <a:t>
</a:t>
            </a:r>
            <a:r>
              <a:rPr lang="en-US" sz="1400">
                <a:solidFill>
                  <a:schemeClr val="tx2"/>
                </a:solidFill>
                <a:latin typeface="Courier"/>
              </a:rPr>
              <a:t>                              | Hot-Swap Variables</a:t>
            </a:r>
            <a:r>
              <a:rPr lang="en-US" sz="1400" dirty="0">
                <a:solidFill>
                  <a:schemeClr val="tx2"/>
                </a:solidFill>
                <a:latin typeface="Courier"/>
              </a:rPr>
              <a:t>
</a:t>
            </a:r>
            <a:r>
              <a:rPr lang="en-US" sz="1400">
                <a:solidFill>
                  <a:schemeClr val="tx2"/>
                </a:solidFill>
                <a:latin typeface="Courier"/>
              </a:rPr>
              <a:t>+-----------------------------v-----------------------------+</a:t>
            </a:r>
            <a:r>
              <a:rPr lang="en-US" sz="1400" dirty="0">
                <a:solidFill>
                  <a:schemeClr val="tx2"/>
                </a:solidFill>
                <a:latin typeface="Courier"/>
              </a:rPr>
              <a:t>
</a:t>
            </a:r>
            <a:r>
              <a:rPr lang="en-US" sz="1400">
                <a:solidFill>
                  <a:schemeClr val="tx2"/>
                </a:solidFill>
                <a:latin typeface="Courier"/>
              </a:rPr>
              <a:t>|                     Reactive Layer (PID)                  |</a:t>
            </a:r>
            <a:r>
              <a:rPr lang="en-US" sz="1400" dirty="0">
                <a:solidFill>
                  <a:schemeClr val="tx2"/>
                </a:solidFill>
                <a:latin typeface="Courier"/>
              </a:rPr>
              <a:t>
</a:t>
            </a:r>
            <a:r>
              <a:rPr lang="en-US" sz="1400">
                <a:solidFill>
                  <a:schemeClr val="tx2"/>
                </a:solidFill>
                <a:latin typeface="Courier"/>
              </a:rPr>
              <a:t>|         Computes Instant Backpressure Per Request         |</a:t>
            </a:r>
            <a:r>
              <a:rPr lang="en-US" sz="1400" dirty="0">
                <a:solidFill>
                  <a:schemeClr val="tx2"/>
                </a:solidFill>
                <a:latin typeface="Courier"/>
              </a:rPr>
              <a:t>
</a:t>
            </a:r>
            <a:r>
              <a:rPr lang="en-US" sz="1400">
                <a:solidFill>
                  <a:schemeClr val="tx2"/>
                </a:solidFill>
                <a:latin typeface="Courier"/>
              </a:rPr>
              <a:t>+-----------------------------+-----------------------------+</a:t>
            </a:r>
            <a:r>
              <a:rPr lang="en-US" sz="1400" dirty="0">
                <a:solidFill>
                  <a:schemeClr val="tx2"/>
                </a:solidFill>
                <a:latin typeface="Courier"/>
              </a:rPr>
              <a:t>
</a:t>
            </a:r>
            <a:r>
              <a:rPr lang="en-US" sz="1400">
                <a:solidFill>
                  <a:schemeClr val="tx2"/>
                </a:solidFill>
                <a:latin typeface="Courier"/>
              </a:rPr>
              <a:t>                              | Millisecond Pacing</a:t>
            </a:r>
            <a:r>
              <a:rPr lang="en-US" sz="1400" dirty="0">
                <a:solidFill>
                  <a:schemeClr val="tx2"/>
                </a:solidFill>
                <a:latin typeface="Courier"/>
              </a:rPr>
              <a:t>
</a:t>
            </a:r>
            <a:r>
              <a:rPr lang="en-US" sz="1400">
                <a:solidFill>
                  <a:schemeClr val="tx2"/>
                </a:solidFill>
                <a:latin typeface="Courier"/>
              </a:rPr>
              <a:t>+-----------------------------v-----------------------------+</a:t>
            </a:r>
            <a:r>
              <a:rPr lang="en-US" sz="1400" dirty="0">
                <a:solidFill>
                  <a:schemeClr val="tx2"/>
                </a:solidFill>
                <a:latin typeface="Courier"/>
              </a:rPr>
              <a:t>
</a:t>
            </a:r>
            <a:r>
              <a:rPr lang="en-US" sz="1400">
                <a:solidFill>
                  <a:schemeClr val="tx2"/>
                </a:solidFill>
                <a:latin typeface="Courier"/>
              </a:rPr>
              <a:t>|                     Execution Layer                       |</a:t>
            </a:r>
            <a:r>
              <a:rPr lang="en-US" sz="1400" dirty="0">
                <a:solidFill>
                  <a:schemeClr val="tx2"/>
                </a:solidFill>
                <a:latin typeface="Courier"/>
              </a:rPr>
              <a:t>
</a:t>
            </a:r>
            <a:r>
              <a:rPr lang="en-US" sz="1400">
                <a:solidFill>
                  <a:schemeClr val="tx2"/>
                </a:solidFill>
                <a:latin typeface="Courier"/>
              </a:rPr>
              <a:t>|      Decoupled Workers Fetching Text from Wikipedia       |</a:t>
            </a:r>
            <a:r>
              <a:rPr lang="en-US" sz="1400" dirty="0">
                <a:solidFill>
                  <a:schemeClr val="tx2"/>
                </a:solidFill>
                <a:latin typeface="Courier"/>
              </a:rPr>
              <a:t>
</a:t>
            </a:r>
            <a:r>
              <a:rPr lang="en-US" sz="1400">
                <a:solidFill>
                  <a:schemeClr val="tx2"/>
                </a:solidFill>
                <a:latin typeface="Courier"/>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8" name="Group 27">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381628"/>
            <a:ext cx="3913467" cy="4679746"/>
            <a:chOff x="-19221" y="251144"/>
            <a:chExt cx="5217958" cy="6239661"/>
          </a:xfrm>
        </p:grpSpPr>
        <p:sp>
          <p:nvSpPr>
            <p:cNvPr id="29" name="Freeform: Shape 28">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480060" y="932259"/>
            <a:ext cx="2891790" cy="3278981"/>
          </a:xfrm>
        </p:spPr>
        <p:txBody>
          <a:bodyPr>
            <a:normAutofit/>
          </a:bodyPr>
          <a:lstStyle/>
          <a:p>
            <a:pPr marL="0" lvl="0" indent="0">
              <a:buNone/>
            </a:pPr>
            <a:r>
              <a:rPr lang="en-US" sz="2700" dirty="0">
                <a:solidFill>
                  <a:schemeClr val="tx2"/>
                </a:solidFill>
              </a:rPr>
              <a:t>Thread Lifecycle Control Plane</a:t>
            </a:r>
          </a:p>
        </p:txBody>
      </p:sp>
      <p:sp>
        <p:nvSpPr>
          <p:cNvPr id="3" name="Content Placeholder 2"/>
          <p:cNvSpPr>
            <a:spLocks noGrp="1"/>
          </p:cNvSpPr>
          <p:nvPr>
            <p:ph idx="1"/>
          </p:nvPr>
        </p:nvSpPr>
        <p:spPr>
          <a:xfrm>
            <a:off x="4629150" y="603504"/>
            <a:ext cx="3915918" cy="3922776"/>
          </a:xfrm>
        </p:spPr>
        <p:txBody>
          <a:bodyPr anchor="ctr">
            <a:normAutofit/>
          </a:bodyPr>
          <a:lstStyle/>
          <a:p>
            <a:pPr marL="0" indent="0">
              <a:buNone/>
            </a:pPr>
            <a:r>
              <a:rPr lang="en-US" sz="1400">
                <a:solidFill>
                  <a:schemeClr val="tx2"/>
                </a:solidFill>
              </a:rPr>
              <a:t>To adjust scale smoothly without resource leaks, we use atomic Compare-and-Swap operations.</a:t>
            </a:r>
            <a:endParaRPr lang="en-US">
              <a:solidFill>
                <a:schemeClr val="tx2"/>
              </a:solidFill>
            </a:endParaRPr>
          </a:p>
          <a:p>
            <a:pPr marL="0" indent="0">
              <a:buNone/>
            </a:pPr>
            <a:endParaRPr lang="en-US" sz="1400" dirty="0">
              <a:solidFill>
                <a:schemeClr val="tx2"/>
              </a:solidFill>
            </a:endParaRPr>
          </a:p>
          <a:p>
            <a:pPr marL="0" indent="0">
              <a:buNone/>
            </a:pPr>
            <a:r>
              <a:rPr lang="en-US" sz="1400" dirty="0">
                <a:solidFill>
                  <a:schemeClr val="tx2"/>
                </a:solidFill>
              </a:rPr>
              <a:t> </a:t>
            </a:r>
            <a:r>
              <a:rPr lang="en-US" sz="1400">
                <a:solidFill>
                  <a:schemeClr val="tx2"/>
                </a:solidFill>
              </a:rPr>
              <a:t>Workers are assigned an immutable ID. If the target pool size shrinks below their ID, they drop out naturally.</a:t>
            </a:r>
            <a:endParaRPr lang="en-US">
              <a:solidFill>
                <a:schemeClr val="tx2"/>
              </a:solidFill>
            </a:endParaRPr>
          </a:p>
          <a:p>
            <a:pPr marL="0" indent="0">
              <a:buNone/>
            </a:pPr>
            <a:endParaRPr lang="en-US" sz="1400" dirty="0">
              <a:solidFill>
                <a:schemeClr val="tx2"/>
              </a:solidFill>
            </a:endParaRPr>
          </a:p>
          <a:p>
            <a:pPr marL="0" lvl="0" indent="0">
              <a:buNone/>
            </a:pPr>
            <a:r>
              <a:rPr lang="en-US" sz="1400">
                <a:solidFill>
                  <a:schemeClr val="tx2"/>
                </a:solidFill>
              </a:rPr>
              <a:t>No negative counts, no orphaned threads, and zero mutex contention during structural shifts.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D6F5BE4-0236-B12B-7B2F-C64ACC335A5D}"/>
              </a:ext>
            </a:extLst>
          </p:cNvPr>
          <p:cNvSpPr/>
          <p:nvPr/>
        </p:nvSpPr>
        <p:spPr>
          <a:xfrm>
            <a:off x="1847355" y="1453984"/>
            <a:ext cx="5449287" cy="2925782"/>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323" y="2988"/>
            <a:ext cx="7329573" cy="51435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title"/>
          </p:nvPr>
        </p:nvSpPr>
        <p:spPr>
          <a:xfrm>
            <a:off x="2275099" y="171945"/>
            <a:ext cx="4316022" cy="1378012"/>
          </a:xfrm>
        </p:spPr>
        <p:txBody>
          <a:bodyPr anchor="ctr">
            <a:normAutofit/>
          </a:bodyPr>
          <a:lstStyle/>
          <a:p>
            <a:pPr marL="0" lvl="0" indent="0">
              <a:buNone/>
            </a:pPr>
            <a:r>
              <a:rPr lang="en-US" sz="2700">
                <a:solidFill>
                  <a:schemeClr val="tx2"/>
                </a:solidFill>
              </a:rPr>
              <a:t>Control Plane Deployment Strategy</a:t>
            </a:r>
          </a:p>
        </p:txBody>
      </p:sp>
      <p:sp>
        <p:nvSpPr>
          <p:cNvPr id="3" name="Content Placeholder 2"/>
          <p:cNvSpPr>
            <a:spLocks noGrp="1"/>
          </p:cNvSpPr>
          <p:nvPr>
            <p:ph idx="1"/>
          </p:nvPr>
        </p:nvSpPr>
        <p:spPr>
          <a:xfrm>
            <a:off x="2002504" y="1659291"/>
            <a:ext cx="5139540" cy="1823148"/>
          </a:xfrm>
        </p:spPr>
        <p:txBody>
          <a:bodyPr vert="horz" lIns="91440" tIns="45720" rIns="91440" bIns="45720" rtlCol="0" anchor="t">
            <a:normAutofit fontScale="77500" lnSpcReduction="20000"/>
          </a:bodyPr>
          <a:lstStyle/>
          <a:p>
            <a:pPr lvl="0" indent="0">
              <a:lnSpc>
                <a:spcPct val="90000"/>
              </a:lnSpc>
              <a:buNone/>
            </a:pPr>
            <a:r>
              <a:rPr lang="en-US" sz="1200" dirty="0">
                <a:solidFill>
                  <a:schemeClr val="tx2"/>
                </a:solidFill>
                <a:latin typeface="Courier"/>
              </a:rPr>
              <a:t>// Inside our </a:t>
            </a:r>
            <a:r>
              <a:rPr lang="en-US" sz="1200" dirty="0" err="1">
                <a:solidFill>
                  <a:schemeClr val="tx2"/>
                </a:solidFill>
                <a:latin typeface="Courier"/>
              </a:rPr>
              <a:t>adjustWorkers</a:t>
            </a:r>
            <a:r>
              <a:rPr lang="en-US" sz="1200" dirty="0">
                <a:solidFill>
                  <a:schemeClr val="tx2"/>
                </a:solidFill>
                <a:latin typeface="Courier"/>
              </a:rPr>
              <a:t> loop
if current &lt; target {
    if atomic.CompareAndSwapInt32(&amp;</a:t>
            </a:r>
            <a:r>
              <a:rPr lang="en-US" sz="1200" dirty="0" err="1">
                <a:solidFill>
                  <a:schemeClr val="tx2"/>
                </a:solidFill>
                <a:latin typeface="Courier"/>
              </a:rPr>
              <a:t>activeWorkers</a:t>
            </a:r>
            <a:r>
              <a:rPr lang="en-US" sz="1200" dirty="0">
                <a:solidFill>
                  <a:schemeClr val="tx2"/>
                </a:solidFill>
                <a:latin typeface="Courier"/>
              </a:rPr>
              <a:t>, current, current+1) {
        id := atomic.AddInt32(&amp;</a:t>
            </a:r>
            <a:r>
              <a:rPr lang="en-US" sz="1200" dirty="0" err="1">
                <a:solidFill>
                  <a:schemeClr val="tx2"/>
                </a:solidFill>
                <a:latin typeface="Courier"/>
              </a:rPr>
              <a:t>workerIDSequence</a:t>
            </a:r>
            <a:r>
              <a:rPr lang="en-US" sz="1200" dirty="0">
                <a:solidFill>
                  <a:schemeClr val="tx2"/>
                </a:solidFill>
                <a:latin typeface="Courier"/>
              </a:rPr>
              <a:t>, 1) - 1
        go </a:t>
            </a:r>
            <a:r>
              <a:rPr lang="en-US" sz="1200" dirty="0" err="1">
                <a:solidFill>
                  <a:schemeClr val="tx2"/>
                </a:solidFill>
                <a:latin typeface="Courier"/>
              </a:rPr>
              <a:t>func</a:t>
            </a:r>
            <a:r>
              <a:rPr lang="en-US" sz="1200" dirty="0">
                <a:solidFill>
                  <a:schemeClr val="tx2"/>
                </a:solidFill>
                <a:latin typeface="Courier"/>
              </a:rPr>
              <a:t>(</a:t>
            </a:r>
            <a:r>
              <a:rPr lang="en-US" sz="1200" dirty="0" err="1">
                <a:solidFill>
                  <a:schemeClr val="tx2"/>
                </a:solidFill>
                <a:latin typeface="Courier"/>
              </a:rPr>
              <a:t>myID</a:t>
            </a:r>
            <a:r>
              <a:rPr lang="en-US" sz="1200" dirty="0">
                <a:solidFill>
                  <a:schemeClr val="tx2"/>
                </a:solidFill>
                <a:latin typeface="Courier"/>
              </a:rPr>
              <a:t> int32) {
            for {
                if </a:t>
            </a:r>
            <a:r>
              <a:rPr lang="en-US" sz="1200" dirty="0" err="1">
                <a:solidFill>
                  <a:schemeClr val="tx2"/>
                </a:solidFill>
                <a:latin typeface="Courier"/>
              </a:rPr>
              <a:t>myID</a:t>
            </a:r>
            <a:r>
              <a:rPr lang="en-US" sz="1200" dirty="0">
                <a:solidFill>
                  <a:schemeClr val="tx2"/>
                </a:solidFill>
                <a:latin typeface="Courier"/>
              </a:rPr>
              <a:t> &gt;= atomic.LoadInt32(&amp;</a:t>
            </a:r>
            <a:r>
              <a:rPr lang="en-US" sz="1200" dirty="0" err="1">
                <a:solidFill>
                  <a:schemeClr val="tx2"/>
                </a:solidFill>
                <a:latin typeface="Courier"/>
              </a:rPr>
              <a:t>activeWorkers</a:t>
            </a:r>
            <a:r>
              <a:rPr lang="en-US" sz="1200" dirty="0">
                <a:solidFill>
                  <a:schemeClr val="tx2"/>
                </a:solidFill>
                <a:latin typeface="Courier"/>
              </a:rPr>
              <a:t>) { return }
                // Process batch...
            }
        }(id)
    }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422" y="1945612"/>
            <a:ext cx="3733482" cy="1090538"/>
          </a:xfrm>
        </p:spPr>
        <p:txBody>
          <a:bodyPr>
            <a:normAutofit/>
          </a:bodyPr>
          <a:lstStyle/>
          <a:p>
            <a:pPr marL="0" lvl="0" indent="0">
              <a:buNone/>
            </a:pPr>
            <a:r>
              <a:rPr lang="en-US" sz="2700" dirty="0">
                <a:solidFill>
                  <a:schemeClr val="tx2"/>
                </a:solidFill>
              </a:rPr>
              <a:t>PID Backpressure Reflex</a:t>
            </a:r>
          </a:p>
        </p:txBody>
      </p:sp>
      <p:sp>
        <p:nvSpPr>
          <p:cNvPr id="3" name="Content Placeholder 2"/>
          <p:cNvSpPr>
            <a:spLocks noGrp="1"/>
          </p:cNvSpPr>
          <p:nvPr>
            <p:ph idx="1"/>
          </p:nvPr>
        </p:nvSpPr>
        <p:spPr>
          <a:xfrm>
            <a:off x="4679261" y="257625"/>
            <a:ext cx="3733184" cy="4392011"/>
          </a:xfrm>
        </p:spPr>
        <p:txBody>
          <a:bodyPr anchor="ctr">
            <a:normAutofit/>
          </a:bodyPr>
          <a:lstStyle/>
          <a:p>
            <a:pPr marL="0" indent="0">
              <a:buNone/>
            </a:pPr>
            <a:r>
              <a:rPr lang="en-US" sz="1400">
                <a:solidFill>
                  <a:schemeClr val="tx2"/>
                </a:solidFill>
              </a:rPr>
              <a:t>The Proportional-Integral-Derivative (PID) controller is modeled after mechanical governors. </a:t>
            </a:r>
            <a:endParaRPr lang="en-US">
              <a:solidFill>
                <a:schemeClr val="tx2"/>
              </a:solidFill>
            </a:endParaRPr>
          </a:p>
          <a:p>
            <a:pPr marL="0" indent="0">
              <a:buNone/>
            </a:pPr>
            <a:r>
              <a:rPr lang="en-US" sz="1400" dirty="0">
                <a:solidFill>
                  <a:schemeClr val="tx2"/>
                </a:solidFill>
              </a:rPr>
              <a:t>- It samples the actual HTTP latency of the last request. </a:t>
            </a:r>
            <a:endParaRPr lang="en-US" dirty="0">
              <a:solidFill>
                <a:schemeClr val="tx2"/>
              </a:solidFill>
            </a:endParaRPr>
          </a:p>
          <a:p>
            <a:pPr marL="0" indent="0">
              <a:buNone/>
            </a:pPr>
            <a:r>
              <a:rPr lang="en-US" sz="1400" dirty="0">
                <a:solidFill>
                  <a:schemeClr val="tx2"/>
                </a:solidFill>
              </a:rPr>
              <a:t>- Compares it against the genome’s current </a:t>
            </a:r>
            <a:r>
              <a:rPr lang="en-US" sz="1400" dirty="0" err="1">
                <a:solidFill>
                  <a:schemeClr val="tx2"/>
                </a:solidFill>
                <a:latin typeface="Courier"/>
              </a:rPr>
              <a:t>TargetLatency</a:t>
            </a:r>
            <a:r>
              <a:rPr lang="en-US" sz="1400" dirty="0">
                <a:solidFill>
                  <a:schemeClr val="tx2"/>
                </a:solidFill>
              </a:rPr>
              <a:t>. </a:t>
            </a:r>
            <a:endParaRPr lang="en-US" dirty="0">
              <a:solidFill>
                <a:schemeClr val="tx2"/>
              </a:solidFill>
            </a:endParaRPr>
          </a:p>
          <a:p>
            <a:pPr marL="0" lvl="0" indent="0">
              <a:buNone/>
            </a:pPr>
            <a:r>
              <a:rPr lang="en-US" sz="1400">
                <a:solidFill>
                  <a:schemeClr val="tx2"/>
                </a:solidFill>
              </a:rPr>
              <a:t>- Instantly injects a </a:t>
            </a:r>
            <a:r>
              <a:rPr lang="en-US" sz="1400" dirty="0">
                <a:solidFill>
                  <a:schemeClr val="tx2"/>
                </a:solidFill>
              </a:rPr>
              <a:t>microscopic sleep penalty if the server slows down.</a:t>
            </a:r>
            <a:endParaRPr lang="en-US">
              <a:solidFill>
                <a:schemeClr val="tx2"/>
              </a:solidFill>
              <a:ea typeface="Calibri"/>
              <a:cs typeface="Calibri"/>
            </a:endParaRPr>
          </a:p>
          <a:p>
            <a:pPr marL="0" indent="0">
              <a:buNone/>
            </a:pPr>
            <a:endParaRPr lang="en-US" sz="1400" dirty="0">
              <a:solidFill>
                <a:schemeClr val="tx2"/>
              </a:solidFill>
            </a:endParaRPr>
          </a:p>
          <a:p>
            <a:pPr marL="0" lvl="0" indent="0">
              <a:buNone/>
            </a:pPr>
            <a:r>
              <a:rPr lang="en-US" sz="1400">
                <a:solidFill>
                  <a:schemeClr val="tx2"/>
                </a:solidFill>
              </a:rPr>
              <a:t>This prevents the crawler from overwhelming the server before the next evaluation generation arrives.</a:t>
            </a:r>
            <a:endParaRPr lang="en-US">
              <a:solidFill>
                <a:schemeClr val="tx2"/>
              </a:solidFill>
            </a:endParaRPr>
          </a:p>
        </p:txBody>
      </p:sp>
      <p:grpSp>
        <p:nvGrpSpPr>
          <p:cNvPr id="30" name="Group 29">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976" y="39747"/>
            <a:ext cx="4446455" cy="5103753"/>
            <a:chOff x="6095999" y="52996"/>
            <a:chExt cx="6093363" cy="6805005"/>
          </a:xfrm>
          <a:solidFill>
            <a:schemeClr val="accent5">
              <a:alpha val="10000"/>
            </a:schemeClr>
          </a:solidFill>
        </p:grpSpPr>
        <p:sp>
          <p:nvSpPr>
            <p:cNvPr id="31" name="Freeform: Shape 30">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8" name="Group 27">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381628"/>
            <a:ext cx="3913467" cy="4679746"/>
            <a:chOff x="-19221" y="251144"/>
            <a:chExt cx="5217958" cy="6239661"/>
          </a:xfrm>
        </p:grpSpPr>
        <p:sp>
          <p:nvSpPr>
            <p:cNvPr id="29" name="Freeform: Shape 28">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480060" y="932260"/>
            <a:ext cx="2454729" cy="3221730"/>
          </a:xfrm>
        </p:spPr>
        <p:txBody>
          <a:bodyPr>
            <a:normAutofit/>
          </a:bodyPr>
          <a:lstStyle/>
          <a:p>
            <a:pPr marL="0" lvl="0" indent="0">
              <a:buNone/>
            </a:pPr>
            <a:r>
              <a:rPr lang="en-US" sz="2700" dirty="0">
                <a:solidFill>
                  <a:schemeClr val="tx2"/>
                </a:solidFill>
              </a:rPr>
              <a:t>Elitist Genetic Algorithm</a:t>
            </a:r>
          </a:p>
        </p:txBody>
      </p:sp>
      <p:sp>
        <p:nvSpPr>
          <p:cNvPr id="3" name="Content Placeholder 2"/>
          <p:cNvSpPr>
            <a:spLocks noGrp="1"/>
          </p:cNvSpPr>
          <p:nvPr>
            <p:ph idx="1"/>
          </p:nvPr>
        </p:nvSpPr>
        <p:spPr>
          <a:xfrm>
            <a:off x="4629150" y="603504"/>
            <a:ext cx="3915918" cy="3922776"/>
          </a:xfrm>
        </p:spPr>
        <p:txBody>
          <a:bodyPr anchor="ctr">
            <a:normAutofit/>
          </a:bodyPr>
          <a:lstStyle/>
          <a:p>
            <a:pPr marL="0" lvl="0" indent="0">
              <a:buNone/>
            </a:pPr>
            <a:r>
              <a:rPr lang="en-US" sz="1400">
                <a:solidFill>
                  <a:schemeClr val="tx2"/>
                </a:solidFill>
              </a:rPr>
              <a:t>Every 5 seconds, the system reviews its performance via an evaluation window:</a:t>
            </a:r>
          </a:p>
          <a:p>
            <a:pPr marL="0" lvl="0" indent="0">
              <a:buNone/>
            </a:pPr>
            <a:r>
              <a:rPr lang="en-US" sz="1400">
                <a:solidFill>
                  <a:schemeClr val="tx2"/>
                </a:solidFill>
              </a:rPr>
              <a:t>If a configuration yields exceptional throughput without triggering network failures, it is crowned the </a:t>
            </a:r>
            <a:r>
              <a:rPr lang="en-US" sz="1400" b="1">
                <a:solidFill>
                  <a:schemeClr val="tx2"/>
                </a:solidFill>
              </a:rPr>
              <a:t>Elite Strategy</a:t>
            </a:r>
            <a:r>
              <a:rPr lang="en-US" sz="1400">
                <a:solidFill>
                  <a:schemeClr val="tx2"/>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3504" y="769749"/>
            <a:ext cx="3733183" cy="3775979"/>
          </a:xfrm>
        </p:spPr>
        <p:txBody>
          <a:bodyPr anchor="ctr">
            <a:normAutofit/>
          </a:bodyPr>
          <a:lstStyle/>
          <a:p>
            <a:pPr marL="0" lvl="0" indent="0">
              <a:lnSpc>
                <a:spcPct val="90000"/>
              </a:lnSpc>
              <a:buNone/>
            </a:pPr>
            <a:r>
              <a:rPr lang="en-US" sz="1300">
                <a:solidFill>
                  <a:schemeClr val="tx2"/>
                </a:solidFill>
              </a:rPr>
              <a:t>The system does not rely entirely on random mutation. It implements hard deterministic survival overrides:</a:t>
            </a:r>
          </a:p>
          <a:p>
            <a:pPr lvl="0">
              <a:lnSpc>
                <a:spcPct val="90000"/>
              </a:lnSpc>
            </a:pPr>
            <a:r>
              <a:rPr lang="en-US" sz="1300" b="1">
                <a:solidFill>
                  <a:schemeClr val="tx2"/>
                </a:solidFill>
              </a:rPr>
              <a:t>Panic / Scale to Zero:</a:t>
            </a:r>
            <a:r>
              <a:rPr lang="en-US" sz="1300">
                <a:solidFill>
                  <a:schemeClr val="tx2"/>
                </a:solidFill>
              </a:rPr>
              <a:t> If failures climb past 50%, the pool instantly collapses to 1 worker fetching at a highly restricted delay.</a:t>
            </a:r>
          </a:p>
          <a:p>
            <a:pPr lvl="0">
              <a:lnSpc>
                <a:spcPct val="90000"/>
              </a:lnSpc>
            </a:pPr>
            <a:r>
              <a:rPr lang="en-US" sz="1300" b="1">
                <a:solidFill>
                  <a:schemeClr val="tx2"/>
                </a:solidFill>
              </a:rPr>
              <a:t>Starvation Protection:</a:t>
            </a:r>
            <a:r>
              <a:rPr lang="en-US" sz="1300">
                <a:solidFill>
                  <a:schemeClr val="tx2"/>
                </a:solidFill>
              </a:rPr>
              <a:t> If requests drop to 0, it expands the pool out of a freeze safely without ruining the genetic lineage coefficients.</a:t>
            </a:r>
          </a:p>
          <a:p>
            <a:pPr lvl="0">
              <a:lnSpc>
                <a:spcPct val="90000"/>
              </a:lnSpc>
            </a:pPr>
            <a:r>
              <a:rPr lang="en-US" sz="1300" b="1">
                <a:solidFill>
                  <a:schemeClr val="tx2"/>
                </a:solidFill>
              </a:rPr>
              <a:t>Recovery Mode:</a:t>
            </a:r>
            <a:r>
              <a:rPr lang="en-US" sz="1300">
                <a:solidFill>
                  <a:schemeClr val="tx2"/>
                </a:solidFill>
              </a:rPr>
              <a:t> Once stable, it uses the Elite configuration blueprint to step back up one worker at a time until normal operations resume.</a:t>
            </a:r>
          </a:p>
        </p:txBody>
      </p:sp>
      <p:grpSp>
        <p:nvGrpSpPr>
          <p:cNvPr id="30" name="Group 29">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77422" y="0"/>
            <a:ext cx="4366578" cy="5013950"/>
            <a:chOff x="6357228" y="0"/>
            <a:chExt cx="5822103" cy="6685267"/>
          </a:xfrm>
        </p:grpSpPr>
        <p:sp>
          <p:nvSpPr>
            <p:cNvPr id="31" name="Freeform: Shape 30">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2BA87A0C-DC9A-6E97-FD09-E3410E393FB1}"/>
              </a:ext>
            </a:extLst>
          </p:cNvPr>
          <p:cNvSpPr txBox="1"/>
          <p:nvPr/>
        </p:nvSpPr>
        <p:spPr>
          <a:xfrm>
            <a:off x="5084123" y="1799854"/>
            <a:ext cx="4572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0" i="0" u="none" strike="noStrike" baseline="0" dirty="0">
                <a:solidFill>
                  <a:srgbClr val="1F497D"/>
                </a:solidFill>
                <a:latin typeface="Calibri"/>
                <a:ea typeface="Segoe UI"/>
                <a:cs typeface="Segoe UI"/>
              </a:rPr>
              <a:t>Handling Environmental Disruption</a:t>
            </a:r>
            <a:endParaRPr lang="en-US" dirty="0">
              <a:ea typeface="Calibri"/>
              <a:cs typeface="Calibri"/>
            </a:endParaRPr>
          </a:p>
          <a:p>
            <a:pPr algn="ct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0800000" flipV="1">
            <a:off x="461554" y="1692751"/>
            <a:ext cx="2769326" cy="1546837"/>
          </a:xfrm>
        </p:spPr>
        <p:txBody>
          <a:bodyPr>
            <a:normAutofit/>
          </a:bodyPr>
          <a:lstStyle/>
          <a:p>
            <a:pPr marL="0" lvl="0" indent="0">
              <a:buNone/>
            </a:pPr>
            <a:r>
              <a:rPr lang="en-US" sz="2700" dirty="0">
                <a:solidFill>
                  <a:schemeClr val="tx2"/>
                </a:solidFill>
              </a:rPr>
              <a:t>The Flicker Problem</a:t>
            </a:r>
          </a:p>
        </p:txBody>
      </p:sp>
      <p:sp>
        <p:nvSpPr>
          <p:cNvPr id="37" name="Content Placeholder 2"/>
          <p:cNvSpPr>
            <a:spLocks noGrp="1"/>
          </p:cNvSpPr>
          <p:nvPr>
            <p:ph idx="1"/>
          </p:nvPr>
        </p:nvSpPr>
        <p:spPr>
          <a:xfrm>
            <a:off x="4567930" y="1816261"/>
            <a:ext cx="3733184" cy="2729467"/>
          </a:xfrm>
        </p:spPr>
        <p:txBody>
          <a:bodyPr anchor="ctr">
            <a:normAutofit/>
          </a:bodyPr>
          <a:lstStyle/>
          <a:p>
            <a:pPr lvl="0">
              <a:lnSpc>
                <a:spcPct val="90000"/>
              </a:lnSpc>
            </a:pPr>
            <a:r>
              <a:rPr lang="en-US" sz="1000" dirty="0">
                <a:solidFill>
                  <a:schemeClr val="tx2"/>
                </a:solidFill>
              </a:rPr>
              <a:t>The system spends 75% of its time experimenting with random mutations, leaving only 25% of the time to run in the optimal "Elite" state.</a:t>
            </a:r>
          </a:p>
          <a:p>
            <a:pPr lvl="0">
              <a:lnSpc>
                <a:spcPct val="90000"/>
              </a:lnSpc>
            </a:pPr>
            <a:r>
              <a:rPr lang="en-US" sz="1000" dirty="0">
                <a:solidFill>
                  <a:schemeClr val="tx2"/>
                </a:solidFill>
              </a:rPr>
              <a:t>The "Flickering" Loop: Because random mutations are highly likely to degrade performance, the system frequently discards suboptimal experimental results and reverts to the Elite state, causing the worker count to constantly fluctuate (e.g., swapping from 10 to 8, and back to 10 workers).</a:t>
            </a:r>
          </a:p>
          <a:p>
            <a:pPr lvl="0">
              <a:lnSpc>
                <a:spcPct val="90000"/>
              </a:lnSpc>
            </a:pPr>
            <a:r>
              <a:rPr lang="en-US" sz="1000" dirty="0">
                <a:solidFill>
                  <a:schemeClr val="tx2"/>
                </a:solidFill>
              </a:rPr>
              <a:t>Solutions:</a:t>
            </a:r>
          </a:p>
          <a:p>
            <a:pPr lvl="1">
              <a:lnSpc>
                <a:spcPct val="90000"/>
              </a:lnSpc>
            </a:pPr>
            <a:r>
              <a:rPr lang="en-US" sz="1000" dirty="0">
                <a:solidFill>
                  <a:schemeClr val="tx2"/>
                </a:solidFill>
              </a:rPr>
              <a:t>Epsilon-Greedy Strategy: Gradually decay the exploration probability (the 75%) over time as certainty around the optimal worker count increases.</a:t>
            </a:r>
          </a:p>
          <a:p>
            <a:pPr lvl="1">
              <a:lnSpc>
                <a:spcPct val="90000"/>
              </a:lnSpc>
            </a:pPr>
            <a:r>
              <a:rPr lang="en-US" sz="1000" dirty="0">
                <a:solidFill>
                  <a:schemeClr val="tx2"/>
                </a:solidFill>
              </a:rPr>
              <a:t>Expanded Elite Window: Substantially increase the duration of the "Elite" run state once a stable performance peak is identified.</a:t>
            </a:r>
          </a:p>
          <a:p>
            <a:pPr marL="0" lvl="0" indent="0">
              <a:lnSpc>
                <a:spcPct val="90000"/>
              </a:lnSpc>
              <a:buNone/>
            </a:pPr>
            <a:endParaRPr lang="en-US" sz="1000" dirty="0">
              <a:solidFill>
                <a:schemeClr val="tx2"/>
              </a:solidFill>
            </a:endParaRPr>
          </a:p>
        </p:txBody>
      </p:sp>
      <p:grpSp>
        <p:nvGrpSpPr>
          <p:cNvPr id="38" name="Group 37">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976" y="39747"/>
            <a:ext cx="4446455" cy="5103753"/>
            <a:chOff x="6095999" y="52996"/>
            <a:chExt cx="6093363" cy="6805005"/>
          </a:xfrm>
          <a:solidFill>
            <a:schemeClr val="accent5">
              <a:alpha val="10000"/>
            </a:schemeClr>
          </a:solidFill>
        </p:grpSpPr>
        <p:sp>
          <p:nvSpPr>
            <p:cNvPr id="31" name="Freeform: Shape 30">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1">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603504" y="342900"/>
            <a:ext cx="7934706" cy="891540"/>
          </a:xfrm>
        </p:spPr>
        <p:txBody>
          <a:bodyPr>
            <a:normAutofit/>
          </a:bodyPr>
          <a:lstStyle/>
          <a:p>
            <a:pPr marL="0" lvl="0" indent="0">
              <a:buNone/>
            </a:pPr>
            <a:r>
              <a:rPr lang="en-US" sz="3000">
                <a:solidFill>
                  <a:schemeClr val="tx2"/>
                </a:solidFill>
              </a:rPr>
              <a:t>Key Takeaways</a:t>
            </a:r>
          </a:p>
        </p:txBody>
      </p:sp>
      <p:grpSp>
        <p:nvGrpSpPr>
          <p:cNvPr id="29" name="Group 28">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946798" y="100695"/>
            <a:ext cx="2356800" cy="2037604"/>
            <a:chOff x="-305" y="-4155"/>
            <a:chExt cx="2514948" cy="2174333"/>
          </a:xfrm>
        </p:grpSpPr>
        <p:sp>
          <p:nvSpPr>
            <p:cNvPr id="30" name="Freeform: Shape 29">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3785928"/>
            <a:ext cx="1809166" cy="1357572"/>
            <a:chOff x="-305" y="-1"/>
            <a:chExt cx="3832880" cy="2876136"/>
          </a:xfrm>
        </p:grpSpPr>
        <p:sp>
          <p:nvSpPr>
            <p:cNvPr id="36" name="Freeform: Shape 35">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97" name="Content Placeholder 196">
            <a:extLst>
              <a:ext uri="{FF2B5EF4-FFF2-40B4-BE49-F238E27FC236}">
                <a16:creationId xmlns:a16="http://schemas.microsoft.com/office/drawing/2014/main" id="{B8135D98-844E-1D78-103D-FFB77752AC9E}"/>
              </a:ext>
            </a:extLst>
          </p:cNvPr>
          <p:cNvGraphicFramePr>
            <a:graphicFrameLocks noGrp="1"/>
          </p:cNvGraphicFramePr>
          <p:nvPr>
            <p:ph idx="1"/>
            <p:extLst>
              <p:ext uri="{D42A27DB-BD31-4B8C-83A1-F6EECF244321}">
                <p14:modId xmlns:p14="http://schemas.microsoft.com/office/powerpoint/2010/main" val="3843302795"/>
              </p:ext>
            </p:extLst>
          </p:nvPr>
        </p:nvGraphicFramePr>
        <p:xfrm>
          <a:off x="457200" y="2573234"/>
          <a:ext cx="8229600" cy="594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3148457127"/>
                    </a:ext>
                  </a:extLst>
                </a:gridCol>
                <a:gridCol w="2743200">
                  <a:extLst>
                    <a:ext uri="{9D8B030D-6E8A-4147-A177-3AD203B41FA5}">
                      <a16:colId xmlns:a16="http://schemas.microsoft.com/office/drawing/2014/main" val="2973878773"/>
                    </a:ext>
                  </a:extLst>
                </a:gridCol>
                <a:gridCol w="2743200">
                  <a:extLst>
                    <a:ext uri="{9D8B030D-6E8A-4147-A177-3AD203B41FA5}">
                      <a16:colId xmlns:a16="http://schemas.microsoft.com/office/drawing/2014/main" val="4085368712"/>
                    </a:ext>
                  </a:extLst>
                </a:gridCol>
              </a:tblGrid>
              <a:tr h="370840">
                <a:tc>
                  <a:txBody>
                    <a:bodyPr/>
                    <a:lstStyle/>
                    <a:p>
                      <a:pPr lvl="0" algn="ctr">
                        <a:buNone/>
                      </a:pPr>
                      <a:r>
                        <a:rPr lang="en-US" sz="1100" b="0" i="0" u="none" strike="noStrike" noProof="0">
                          <a:solidFill>
                            <a:schemeClr val="tx2"/>
                          </a:solidFill>
                          <a:latin typeface="Calibri"/>
                          <a:ea typeface="Calibri"/>
                          <a:cs typeface="Calibri"/>
                        </a:rPr>
                        <a:t>Combine Mechanisms: Use deterministic controls for emergencies, but heuristic mutations for peace times. </a:t>
                      </a:r>
                      <a:endParaRPr lang="en-US">
                        <a:solidFill>
                          <a:schemeClr val="tx2"/>
                        </a:solidFill>
                      </a:endParaRPr>
                    </a:p>
                  </a:txBody>
                  <a:tcPr>
                    <a:lnL w="0">
                      <a:noFill/>
                    </a:lnL>
                    <a:lnR w="0">
                      <a:noFill/>
                    </a:lnR>
                    <a:lnT w="0">
                      <a:noFill/>
                    </a:lnT>
                    <a:lnB w="0">
                      <a:noFill/>
                    </a:lnB>
                    <a:solidFill>
                      <a:schemeClr val="bg1"/>
                    </a:solidFill>
                  </a:tcPr>
                </a:tc>
                <a:tc>
                  <a:txBody>
                    <a:bodyPr/>
                    <a:lstStyle/>
                    <a:p>
                      <a:pPr lvl="0" algn="ctr">
                        <a:buNone/>
                      </a:pPr>
                      <a:r>
                        <a:rPr lang="en-US" sz="1100" b="0" i="0" u="none" strike="noStrike" noProof="0">
                          <a:solidFill>
                            <a:schemeClr val="tx2"/>
                          </a:solidFill>
                          <a:latin typeface="Calibri"/>
                          <a:ea typeface="Calibri"/>
                          <a:cs typeface="Calibri"/>
                        </a:rPr>
                        <a:t>Decouple Tracking: Keep queue replenishment separate from worker routines to avoid lock contention. </a:t>
                      </a:r>
                      <a:endParaRPr lang="en-US">
                        <a:solidFill>
                          <a:schemeClr val="tx2"/>
                        </a:solidFill>
                      </a:endParaRPr>
                    </a:p>
                  </a:txBody>
                  <a:tcPr>
                    <a:lnL w="0">
                      <a:noFill/>
                    </a:lnL>
                    <a:lnR w="0">
                      <a:noFill/>
                    </a:lnR>
                    <a:lnT w="0">
                      <a:noFill/>
                    </a:lnT>
                    <a:lnB w="0">
                      <a:noFill/>
                    </a:lnB>
                    <a:solidFill>
                      <a:schemeClr val="bg1"/>
                    </a:solidFill>
                  </a:tcPr>
                </a:tc>
                <a:tc>
                  <a:txBody>
                    <a:bodyPr/>
                    <a:lstStyle/>
                    <a:p>
                      <a:pPr lvl="0" algn="ctr">
                        <a:buNone/>
                      </a:pPr>
                      <a:r>
                        <a:rPr lang="en-US" sz="1100" b="0" i="0" u="none" strike="noStrike" noProof="0">
                          <a:solidFill>
                            <a:schemeClr val="tx2"/>
                          </a:solidFill>
                          <a:latin typeface="Calibri"/>
                          <a:ea typeface="Calibri"/>
                          <a:cs typeface="Calibri"/>
                        </a:rPr>
                        <a:t>Isolate State: Use lockless atomic variables for your core data planes to ensure metrics collection never slows down execution.</a:t>
                      </a:r>
                      <a:endParaRPr lang="en-US">
                        <a:solidFill>
                          <a:schemeClr val="tx2"/>
                        </a:solidFill>
                      </a:endParaRPr>
                    </a:p>
                  </a:txBody>
                  <a:tcPr>
                    <a:lnL w="0">
                      <a:noFill/>
                    </a:lnL>
                    <a:lnR w="0">
                      <a:noFill/>
                    </a:lnR>
                    <a:lnT w="0">
                      <a:noFill/>
                    </a:lnT>
                    <a:lnB w="0">
                      <a:noFill/>
                    </a:lnB>
                    <a:solidFill>
                      <a:schemeClr val="bg1"/>
                    </a:solidFill>
                  </a:tcPr>
                </a:tc>
                <a:extLst>
                  <a:ext uri="{0D108BD9-81ED-4DB2-BD59-A6C34878D82A}">
                    <a16:rowId xmlns:a16="http://schemas.microsoft.com/office/drawing/2014/main" val="146562866"/>
                  </a:ext>
                </a:extLst>
              </a:tr>
            </a:tbl>
          </a:graphicData>
        </a:graphic>
      </p:graphicFrame>
      <p:pic>
        <p:nvPicPr>
          <p:cNvPr id="199" name="Graphic 198">
            <a:extLst>
              <a:ext uri="{FF2B5EF4-FFF2-40B4-BE49-F238E27FC236}">
                <a16:creationId xmlns:a16="http://schemas.microsoft.com/office/drawing/2014/main" id="{67F12C1B-0CBF-DE69-E6FB-FE3E99B833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53787" y="1658092"/>
            <a:ext cx="914400" cy="914400"/>
          </a:xfrm>
          <a:prstGeom prst="rect">
            <a:avLst/>
          </a:prstGeom>
        </p:spPr>
      </p:pic>
      <p:pic>
        <p:nvPicPr>
          <p:cNvPr id="200" name="Graphic 199">
            <a:extLst>
              <a:ext uri="{FF2B5EF4-FFF2-40B4-BE49-F238E27FC236}">
                <a16:creationId xmlns:a16="http://schemas.microsoft.com/office/drawing/2014/main" id="{88013775-1C88-1AF5-F0D8-9FBD986256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0" y="1658092"/>
            <a:ext cx="914400" cy="914400"/>
          </a:xfrm>
          <a:prstGeom prst="rect">
            <a:avLst/>
          </a:prstGeom>
        </p:spPr>
      </p:pic>
      <p:pic>
        <p:nvPicPr>
          <p:cNvPr id="201" name="Graphic 200">
            <a:extLst>
              <a:ext uri="{FF2B5EF4-FFF2-40B4-BE49-F238E27FC236}">
                <a16:creationId xmlns:a16="http://schemas.microsoft.com/office/drawing/2014/main" id="{8997D7D4-673C-59BC-DE81-32BFE42323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49440" y="1661803"/>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1069</TotalTime>
  <Words>1101</Words>
  <Application>Microsoft Macintosh PowerPoint</Application>
  <PresentationFormat>On-screen Show (16:9)</PresentationFormat>
  <Paragraphs>87</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vt:lpstr>
      <vt:lpstr>Office Theme</vt:lpstr>
      <vt:lpstr>A Self-Optimizing Workerpool in Go</vt:lpstr>
      <vt:lpstr>PowerPoint Presentation</vt:lpstr>
      <vt:lpstr>Introduction to Genetic Algorithms</vt:lpstr>
      <vt:lpstr>The Example Problem</vt:lpstr>
      <vt:lpstr>The Problem with Static Tuning</vt:lpstr>
      <vt:lpstr>Transitioning Genetic Algorithms  to  Real-Time Control Theory</vt:lpstr>
      <vt:lpstr>Understanding PID Controllers</vt:lpstr>
      <vt:lpstr>The Three Pillars of Autonomic Control</vt:lpstr>
      <vt:lpstr>System Topology Architecture</vt:lpstr>
      <vt:lpstr>Thread Lifecycle Control Plane</vt:lpstr>
      <vt:lpstr>Control Plane Deployment Strategy</vt:lpstr>
      <vt:lpstr>PID Backpressure Reflex</vt:lpstr>
      <vt:lpstr>Elitist Genetic Algorithm</vt:lpstr>
      <vt:lpstr>PowerPoint Presentation</vt:lpstr>
      <vt:lpstr>The Flicker Problem</vt:lpstr>
      <vt:lpstr>Key Takeaways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Casey Manus</cp:lastModifiedBy>
  <cp:revision>265</cp:revision>
  <dcterms:created xsi:type="dcterms:W3CDTF">2026-07-21T14:08:50Z</dcterms:created>
  <dcterms:modified xsi:type="dcterms:W3CDTF">2026-07-24T13:42:49Z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850223-87a8-40c3-9eb2-432606efca2a_Enabled">
    <vt:lpwstr>true</vt:lpwstr>
  </property>
  <property fmtid="{D5CDD505-2E9C-101B-9397-08002B2CF9AE}" pid="3" name="MSIP_Label_7f850223-87a8-40c3-9eb2-432606efca2a_SetDate">
    <vt:lpwstr>2026-07-23T14:13:24Z</vt:lpwstr>
  </property>
  <property fmtid="{D5CDD505-2E9C-101B-9397-08002B2CF9AE}" pid="4" name="MSIP_Label_7f850223-87a8-40c3-9eb2-432606efca2a_Method">
    <vt:lpwstr>Privileged</vt:lpwstr>
  </property>
  <property fmtid="{D5CDD505-2E9C-101B-9397-08002B2CF9AE}" pid="5" name="MSIP_Label_7f850223-87a8-40c3-9eb2-432606efca2a_Name">
    <vt:lpwstr>7f850223-87a8-40c3-9eb2-432606efca2a</vt:lpwstr>
  </property>
  <property fmtid="{D5CDD505-2E9C-101B-9397-08002B2CF9AE}" pid="6" name="MSIP_Label_7f850223-87a8-40c3-9eb2-432606efca2a_SiteId">
    <vt:lpwstr>fcb2b37b-5da0-466b-9b83-0014b67a7c78</vt:lpwstr>
  </property>
  <property fmtid="{D5CDD505-2E9C-101B-9397-08002B2CF9AE}" pid="7" name="MSIP_Label_7f850223-87a8-40c3-9eb2-432606efca2a_ActionId">
    <vt:lpwstr>87cd2636-95a2-4aac-a876-c7753d650b30</vt:lpwstr>
  </property>
  <property fmtid="{D5CDD505-2E9C-101B-9397-08002B2CF9AE}" pid="8" name="MSIP_Label_7f850223-87a8-40c3-9eb2-432606efca2a_ContentBits">
    <vt:lpwstr>0</vt:lpwstr>
  </property>
  <property fmtid="{D5CDD505-2E9C-101B-9397-08002B2CF9AE}" pid="9" name="MSIP_Label_7f850223-87a8-40c3-9eb2-432606efca2a_Tag">
    <vt:lpwstr>10, 0, 1, 2</vt:lpwstr>
  </property>
</Properties>
</file>