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package/2006/relationships/metadata/extended-properties" Target="docProps/app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67" autoAdjust="0"/>
    <p:restoredTop sz="94741" autoAdjust="0"/>
  </p:normalViewPr>
  <p:slideViewPr>
    <p:cSldViewPr snapToGrid="0" snapToObjects="1">
      <p:cViewPr varScale="1">
        <p:scale>
          <a:sx n="195" d="100"/>
          <a:sy n="195" d="100"/>
        </p:scale>
        <p:origin x="3330" y="13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597985-15B7-EF82-A9AD-5DC0670A497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7545388" y="4744720"/>
            <a:ext cx="1592262" cy="3352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2200">
                <a:solidFill>
                  <a:srgbClr val="FF8939">
                    <a:alpha val="50000"/>
                  </a:srgbClr>
                </a:solidFill>
                <a:latin typeface="Aptos" panose="020B000402020202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2700" y="2988"/>
            <a:ext cx="7032474" cy="51435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77550" y="2988"/>
            <a:ext cx="7329573" cy="51435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27048" y="1156801"/>
            <a:ext cx="3890131" cy="1790939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lvl="0" indent="0" algn="ctr" defTabSz="914400">
              <a:lnSpc>
                <a:spcPct val="90000"/>
              </a:lnSpc>
            </a:pPr>
            <a:r>
              <a:rPr lang="en-US" sz="33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 Self-Optimizing Workerpool in Go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28" y="-3116"/>
            <a:ext cx="1886210" cy="1630749"/>
            <a:chOff x="-305" y="-4155"/>
            <a:chExt cx="2514948" cy="2174333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7264295" y="3512749"/>
            <a:ext cx="1886211" cy="1630750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27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9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1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2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marL="0" lvl="0" indent="0">
              <a:buNone/>
            </a:pPr>
            <a:r>
              <a:rPr lang="en-US" sz="1500">
                <a:solidFill>
                  <a:schemeClr val="tx2"/>
                </a:solidFill>
              </a:rPr>
              <a:t>Borrowing Concepts from Biology And Mechanical Engineering</a:t>
            </a:r>
          </a:p>
          <a:p>
            <a:pPr marL="0" lvl="0" indent="0">
              <a:buNone/>
            </a:pPr>
            <a:r>
              <a:rPr lang="en-US" sz="1500">
                <a:solidFill>
                  <a:schemeClr val="tx2"/>
                </a:solidFill>
              </a:rPr>
              <a:t>Gophercon 2026</a:t>
            </a:r>
          </a:p>
          <a:p>
            <a:pPr marL="0" lvl="0" indent="0">
              <a:buNone/>
            </a:pPr>
            <a:r>
              <a:rPr lang="en-US" sz="1500">
                <a:solidFill>
                  <a:schemeClr val="tx2"/>
                </a:solidFill>
              </a:rPr>
              <a:t>Casey Manus Principal Software Engineer - Bayer Crop Science caseylmanus@gmail.com casey.manus@bayer.com https://github.com/caseylmanus/workerpool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Introduction to Genetic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 lnSpcReduction="10000"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900" dirty="0" err="1">
                <a:solidFill>
                  <a:schemeClr val="tx2"/>
                </a:solidFill>
              </a:rPr>
              <a:t>Gophercon</a:t>
            </a:r>
            <a:r>
              <a:rPr lang="en-US" sz="900" dirty="0">
                <a:solidFill>
                  <a:schemeClr val="tx2"/>
                </a:solidFill>
              </a:rPr>
              <a:t> 2023 Overview</a:t>
            </a:r>
          </a:p>
          <a:p>
            <a:pPr marL="0" lvl="0" indent="0">
              <a:lnSpc>
                <a:spcPct val="90000"/>
              </a:lnSpc>
              <a:buNone/>
            </a:pPr>
            <a:r>
              <a:rPr lang="en-US" sz="900" dirty="0">
                <a:solidFill>
                  <a:schemeClr val="tx2"/>
                </a:solidFill>
              </a:rPr>
              <a:t>Genetic Algorithms (GAs) are a powerful tool used to find </a:t>
            </a:r>
            <a:r>
              <a:rPr lang="en-US" sz="900" b="1" dirty="0">
                <a:solidFill>
                  <a:schemeClr val="tx2"/>
                </a:solidFill>
              </a:rPr>
              <a:t>approximate solutions to difficult-to-solve problems</a:t>
            </a:r>
            <a:r>
              <a:rPr lang="en-US" sz="900" dirty="0">
                <a:solidFill>
                  <a:schemeClr val="tx2"/>
                </a:solidFill>
              </a:rPr>
              <a:t>. They achieve this by applying the principles of </a:t>
            </a:r>
            <a:r>
              <a:rPr lang="en-US" sz="900" b="1" dirty="0">
                <a:solidFill>
                  <a:schemeClr val="tx2"/>
                </a:solidFill>
              </a:rPr>
              <a:t>evolutionary biology to computer science</a:t>
            </a:r>
            <a:r>
              <a:rPr lang="en-US" sz="900" dirty="0">
                <a:solidFill>
                  <a:schemeClr val="tx2"/>
                </a:solidFill>
              </a:rPr>
              <a:t>, specifically by </a:t>
            </a:r>
            <a:r>
              <a:rPr lang="en-US" sz="900" b="1" dirty="0">
                <a:solidFill>
                  <a:schemeClr val="tx2"/>
                </a:solidFill>
              </a:rPr>
              <a:t>mimicking the biological process of natural selection</a:t>
            </a:r>
            <a:r>
              <a:rPr lang="en-US" sz="900" dirty="0">
                <a:solidFill>
                  <a:schemeClr val="tx2"/>
                </a:solidFill>
              </a:rPr>
              <a:t>.</a:t>
            </a:r>
          </a:p>
          <a:p>
            <a:pPr marL="0" lvl="0" indent="0">
              <a:lnSpc>
                <a:spcPct val="90000"/>
              </a:lnSpc>
              <a:buNone/>
            </a:pPr>
            <a:r>
              <a:rPr lang="en-US" sz="900" dirty="0">
                <a:solidFill>
                  <a:schemeClr val="tx2"/>
                </a:solidFill>
              </a:rPr>
              <a:t>The core problem-solving process of a GA involves several key steps: </a:t>
            </a:r>
          </a:p>
          <a:p>
            <a:pPr>
              <a:lnSpc>
                <a:spcPct val="90000"/>
              </a:lnSpc>
            </a:pPr>
            <a:r>
              <a:rPr lang="en-US" sz="900" b="1" dirty="0">
                <a:solidFill>
                  <a:schemeClr val="tx2"/>
                </a:solidFill>
              </a:rPr>
              <a:t>Define Genome</a:t>
            </a:r>
            <a:r>
              <a:rPr lang="en-US" sz="900" dirty="0">
                <a:solidFill>
                  <a:schemeClr val="tx2"/>
                </a:solidFill>
              </a:rPr>
              <a:t>: This establishes the dataset that describes your problem, composed of individual genes. </a:t>
            </a:r>
          </a:p>
          <a:p>
            <a:pPr>
              <a:lnSpc>
                <a:spcPct val="90000"/>
              </a:lnSpc>
            </a:pPr>
            <a:r>
              <a:rPr lang="en-US" sz="900" b="1" dirty="0">
                <a:solidFill>
                  <a:schemeClr val="tx2"/>
                </a:solidFill>
              </a:rPr>
              <a:t>Random Population</a:t>
            </a:r>
            <a:r>
              <a:rPr lang="en-US" sz="900" dirty="0">
                <a:solidFill>
                  <a:schemeClr val="tx2"/>
                </a:solidFill>
              </a:rPr>
              <a:t>: The algorithm starts with a set of these genomes. </a:t>
            </a:r>
          </a:p>
          <a:p>
            <a:pPr>
              <a:lnSpc>
                <a:spcPct val="90000"/>
              </a:lnSpc>
            </a:pPr>
            <a:r>
              <a:rPr lang="en-US" sz="900" b="1" dirty="0">
                <a:solidFill>
                  <a:schemeClr val="tx2"/>
                </a:solidFill>
              </a:rPr>
              <a:t>Determine Fitness</a:t>
            </a:r>
            <a:r>
              <a:rPr lang="en-US" sz="900" dirty="0">
                <a:solidFill>
                  <a:schemeClr val="tx2"/>
                </a:solidFill>
              </a:rPr>
              <a:t>: A fitness function “grades” each genome to assess its suitability for continued evolution</a:t>
            </a:r>
          </a:p>
          <a:p>
            <a:pPr>
              <a:lnSpc>
                <a:spcPct val="90000"/>
              </a:lnSpc>
            </a:pPr>
            <a:r>
              <a:rPr lang="en-US" sz="900" b="1" dirty="0">
                <a:solidFill>
                  <a:schemeClr val="tx2"/>
                </a:solidFill>
              </a:rPr>
              <a:t>Next Population / Generation</a:t>
            </a:r>
            <a:r>
              <a:rPr lang="en-US" sz="900" dirty="0">
                <a:solidFill>
                  <a:schemeClr val="tx2"/>
                </a:solidFill>
              </a:rPr>
              <a:t>: Each cycle creates a new “generation” of solutions. </a:t>
            </a:r>
            <a:r>
              <a:rPr lang="en-US" sz="900" b="1" dirty="0">
                <a:solidFill>
                  <a:schemeClr val="tx2"/>
                </a:solidFill>
              </a:rPr>
              <a:t>Selection</a:t>
            </a:r>
            <a:r>
              <a:rPr lang="en-US" sz="900" dirty="0">
                <a:solidFill>
                  <a:schemeClr val="tx2"/>
                </a:solidFill>
              </a:rPr>
              <a:t>: Members are chosen from the current population to contribute to the next generation.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The Example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lvl="0"/>
            <a:r>
              <a:rPr lang="en-US" sz="1500">
                <a:solidFill>
                  <a:schemeClr val="tx2"/>
                </a:solidFill>
              </a:rPr>
              <a:t>We want to train an LLM on all data from Wikipedia</a:t>
            </a:r>
          </a:p>
          <a:p>
            <a:pPr lvl="0"/>
            <a:r>
              <a:rPr lang="en-US" sz="1500">
                <a:solidFill>
                  <a:schemeClr val="tx2"/>
                </a:solidFill>
              </a:rPr>
              <a:t>Wikipedia has constrained output, and rate limiting to prevent scraping</a:t>
            </a:r>
          </a:p>
          <a:p>
            <a:pPr lvl="0"/>
            <a:r>
              <a:rPr lang="en-US" sz="1500">
                <a:solidFill>
                  <a:schemeClr val="tx2"/>
                </a:solidFill>
              </a:rPr>
              <a:t>We want to build a workerpool that adapts to upstream responses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The Problem with Static 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Most concurrent architectures use hardcoded worker limits and sleep cycles. - Fine-tuned for local machine networks. - Fractures instantly when exposed to changing upstream rate limits. - Leads to either </a:t>
            </a:r>
            <a:r>
              <a:rPr lang="en-US" sz="1500" b="1">
                <a:solidFill>
                  <a:schemeClr val="tx2"/>
                </a:solidFill>
              </a:rPr>
              <a:t>over-throttling</a:t>
            </a:r>
            <a:r>
              <a:rPr lang="en-US" sz="1500">
                <a:solidFill>
                  <a:schemeClr val="tx2"/>
                </a:solidFill>
              </a:rPr>
              <a:t> (wasting resources) or </a:t>
            </a:r>
            <a:r>
              <a:rPr lang="en-US" sz="1500" b="1">
                <a:solidFill>
                  <a:schemeClr val="tx2"/>
                </a:solidFill>
              </a:rPr>
              <a:t>under-throttling</a:t>
            </a:r>
            <a:r>
              <a:rPr lang="en-US" sz="1500">
                <a:solidFill>
                  <a:schemeClr val="tx2"/>
                </a:solidFill>
              </a:rPr>
              <a:t> (getting banned).</a:t>
            </a:r>
          </a:p>
          <a:p>
            <a:pPr marL="0" lvl="0" indent="0">
              <a:lnSpc>
                <a:spcPct val="9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I built an autonomous crawler that dynamically matches the environment’s pressure.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Transitioning Genetic Algorithms to Real-Time Control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lvl="0"/>
            <a:r>
              <a:rPr lang="en-US" sz="1500">
                <a:solidFill>
                  <a:schemeClr val="tx2"/>
                </a:solidFill>
              </a:rPr>
              <a:t>Traditionally Fitness will increase with evolution given static environment and objective fitness functions</a:t>
            </a:r>
          </a:p>
          <a:p>
            <a:pPr lvl="0"/>
            <a:r>
              <a:rPr lang="en-US" sz="1500">
                <a:solidFill>
                  <a:schemeClr val="tx2"/>
                </a:solidFill>
              </a:rPr>
              <a:t>Environment Pressure and Dynamic Baselines means optimal fitness is a changing target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21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2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3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Understanding PID Controllers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1100">
                <a:solidFill>
                  <a:schemeClr val="tx2"/>
                </a:solidFill>
              </a:rPr>
              <a:t>A PID controller is a control loop feedback mechanism that automatically corrects errors and variances in mechanical systems.</a:t>
            </a:r>
          </a:p>
          <a:p>
            <a:pPr marL="0" lvl="0" indent="0">
              <a:lnSpc>
                <a:spcPct val="90000"/>
              </a:lnSpc>
              <a:buNone/>
            </a:pPr>
            <a:r>
              <a:rPr lang="en-US" sz="1100">
                <a:solidFill>
                  <a:schemeClr val="tx2"/>
                </a:solidFill>
              </a:rPr>
              <a:t>It continuously calculates an </a:t>
            </a:r>
            <a:r>
              <a:rPr lang="en-US" sz="1100" b="1">
                <a:solidFill>
                  <a:schemeClr val="tx2"/>
                </a:solidFill>
              </a:rPr>
              <a:t>error value</a:t>
            </a:r>
            <a:r>
              <a:rPr lang="en-US" sz="1100">
                <a:solidFill>
                  <a:schemeClr val="tx2"/>
                </a:solidFill>
              </a:rPr>
              <a:t> as the difference between a desired setpoint and a measured process variable.</a:t>
            </a:r>
          </a:p>
          <a:p>
            <a:pPr marL="0" lvl="0" indent="0">
              <a:lnSpc>
                <a:spcPct val="90000"/>
              </a:lnSpc>
              <a:buNone/>
            </a:pPr>
            <a:r>
              <a:rPr lang="en-US" sz="1100">
                <a:solidFill>
                  <a:schemeClr val="tx2"/>
                </a:solidFill>
              </a:rPr>
              <a:t>The controller applies three terms to eliminate this error: * </a:t>
            </a:r>
            <a:r>
              <a:rPr lang="en-US" sz="1100" b="1">
                <a:solidFill>
                  <a:schemeClr val="tx2"/>
                </a:solidFill>
              </a:rPr>
              <a:t>Proportional (P)</a:t>
            </a:r>
            <a:r>
              <a:rPr lang="en-US" sz="1100">
                <a:solidFill>
                  <a:schemeClr val="tx2"/>
                </a:solidFill>
              </a:rPr>
              <a:t>: Corrects for the </a:t>
            </a:r>
            <a:r>
              <a:rPr lang="en-US" sz="1100" b="1">
                <a:solidFill>
                  <a:schemeClr val="tx2"/>
                </a:solidFill>
              </a:rPr>
              <a:t>present</a:t>
            </a:r>
            <a:r>
              <a:rPr lang="en-US" sz="1100">
                <a:solidFill>
                  <a:schemeClr val="tx2"/>
                </a:solidFill>
              </a:rPr>
              <a:t> error. * </a:t>
            </a:r>
            <a:r>
              <a:rPr lang="en-US" sz="1100" b="1">
                <a:solidFill>
                  <a:schemeClr val="tx2"/>
                </a:solidFill>
              </a:rPr>
              <a:t>Integral (I)</a:t>
            </a:r>
            <a:r>
              <a:rPr lang="en-US" sz="1100">
                <a:solidFill>
                  <a:schemeClr val="tx2"/>
                </a:solidFill>
              </a:rPr>
              <a:t>: Corrects for the accumulation of </a:t>
            </a:r>
            <a:r>
              <a:rPr lang="en-US" sz="1100" b="1">
                <a:solidFill>
                  <a:schemeClr val="tx2"/>
                </a:solidFill>
              </a:rPr>
              <a:t>past</a:t>
            </a:r>
            <a:r>
              <a:rPr lang="en-US" sz="1100">
                <a:solidFill>
                  <a:schemeClr val="tx2"/>
                </a:solidFill>
              </a:rPr>
              <a:t> errors. * </a:t>
            </a:r>
            <a:r>
              <a:rPr lang="en-US" sz="1100" b="1">
                <a:solidFill>
                  <a:schemeClr val="tx2"/>
                </a:solidFill>
              </a:rPr>
              <a:t>Derivative (D)</a:t>
            </a:r>
            <a:r>
              <a:rPr lang="en-US" sz="1100">
                <a:solidFill>
                  <a:schemeClr val="tx2"/>
                </a:solidFill>
              </a:rPr>
              <a:t>: Predicts </a:t>
            </a:r>
            <a:r>
              <a:rPr lang="en-US" sz="1100" b="1">
                <a:solidFill>
                  <a:schemeClr val="tx2"/>
                </a:solidFill>
              </a:rPr>
              <a:t>future</a:t>
            </a:r>
            <a:r>
              <a:rPr lang="en-US" sz="1100">
                <a:solidFill>
                  <a:schemeClr val="tx2"/>
                </a:solidFill>
              </a:rPr>
              <a:t> errors based on the current rate of change.</a:t>
            </a:r>
          </a:p>
          <a:p>
            <a:pPr marL="0" lvl="0" indent="0">
              <a:lnSpc>
                <a:spcPct val="90000"/>
              </a:lnSpc>
              <a:buNone/>
            </a:pPr>
            <a:r>
              <a:rPr lang="en-US" sz="1100">
                <a:solidFill>
                  <a:schemeClr val="tx2"/>
                </a:solidFill>
              </a:rPr>
              <a:t>Common uses include automobile </a:t>
            </a:r>
            <a:r>
              <a:rPr lang="en-US" sz="1100" b="1">
                <a:solidFill>
                  <a:schemeClr val="tx2"/>
                </a:solidFill>
              </a:rPr>
              <a:t>cruise control</a:t>
            </a:r>
            <a:r>
              <a:rPr lang="en-US" sz="1100">
                <a:solidFill>
                  <a:schemeClr val="tx2"/>
                </a:solidFill>
              </a:rPr>
              <a:t>, drone </a:t>
            </a:r>
            <a:r>
              <a:rPr lang="en-US" sz="1100" b="1">
                <a:solidFill>
                  <a:schemeClr val="tx2"/>
                </a:solidFill>
              </a:rPr>
              <a:t>flight stabilization</a:t>
            </a:r>
            <a:r>
              <a:rPr lang="en-US" sz="1100">
                <a:solidFill>
                  <a:schemeClr val="tx2"/>
                </a:solidFill>
              </a:rPr>
              <a:t> and </a:t>
            </a:r>
            <a:r>
              <a:rPr lang="en-US" sz="1100" b="1">
                <a:solidFill>
                  <a:schemeClr val="tx2"/>
                </a:solidFill>
              </a:rPr>
              <a:t>thermostats</a:t>
            </a:r>
            <a:r>
              <a:rPr lang="en-US" sz="1100">
                <a:solidFill>
                  <a:schemeClr val="tx2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The Three Pillars of Autonomic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1300">
                <a:solidFill>
                  <a:schemeClr val="tx2"/>
                </a:solidFill>
              </a:rPr>
              <a:t>To achieve absolute resilience, we merged three distinct engineering layers:</a:t>
            </a:r>
          </a:p>
          <a:p>
            <a:pPr marL="342900" lvl="0" indent="-342900">
              <a:lnSpc>
                <a:spcPct val="90000"/>
              </a:lnSpc>
              <a:buAutoNum type="arabicPeriod"/>
            </a:pPr>
            <a:r>
              <a:rPr lang="en-US" sz="1300" b="1">
                <a:solidFill>
                  <a:schemeClr val="tx2"/>
                </a:solidFill>
              </a:rPr>
              <a:t>The Execution Layer:</a:t>
            </a:r>
            <a:r>
              <a:rPr lang="en-US" sz="1300">
                <a:solidFill>
                  <a:schemeClr val="tx2"/>
                </a:solidFill>
              </a:rPr>
              <a:t> A decoupled Go worker pool with token-based thread lifecycles.</a:t>
            </a:r>
          </a:p>
          <a:p>
            <a:pPr marL="342900" lvl="0" indent="-342900">
              <a:lnSpc>
                <a:spcPct val="90000"/>
              </a:lnSpc>
              <a:buAutoNum type="arabicPeriod"/>
            </a:pPr>
            <a:r>
              <a:rPr lang="en-US" sz="1300" b="1">
                <a:solidFill>
                  <a:schemeClr val="tx2"/>
                </a:solidFill>
              </a:rPr>
              <a:t>The Reactive Layer (PID):</a:t>
            </a:r>
            <a:r>
              <a:rPr lang="en-US" sz="1300">
                <a:solidFill>
                  <a:schemeClr val="tx2"/>
                </a:solidFill>
              </a:rPr>
              <a:t> Microsecond backpressure reflexes to handle momentary network spikes.</a:t>
            </a:r>
          </a:p>
          <a:p>
            <a:pPr marL="342900" lvl="0" indent="-342900">
              <a:lnSpc>
                <a:spcPct val="90000"/>
              </a:lnSpc>
              <a:buAutoNum type="arabicPeriod"/>
            </a:pPr>
            <a:r>
              <a:rPr lang="en-US" sz="1300" b="1">
                <a:solidFill>
                  <a:schemeClr val="tx2"/>
                </a:solidFill>
              </a:rPr>
              <a:t>The Strategic Layer (GA):</a:t>
            </a:r>
            <a:r>
              <a:rPr lang="en-US" sz="1300">
                <a:solidFill>
                  <a:schemeClr val="tx2"/>
                </a:solidFill>
              </a:rPr>
              <a:t> A macro genetic loop managing structural DNA and system strategy.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System Topology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lvl="0" indent="0">
              <a:lnSpc>
                <a:spcPct val="90000"/>
              </a:lnSpc>
              <a:buNone/>
            </a:pPr>
            <a:r>
              <a:rPr lang="en-US" sz="700">
                <a:solidFill>
                  <a:schemeClr val="tx2"/>
                </a:solidFill>
                <a:latin typeface="Courier"/>
              </a:rPr>
              <a:t>+-----------------------------------------------------------+
|                     Strategic Layer (GA)                  |
|          Evaluates Elite DNA &amp; Mutates System Constants   |
+-----------------------------+-----------------------------+
                              | Hot-Swap Variables
+-----------------------------v-----------------------------+
|                     Reactive Layer (PID)                  |
|         Computes Instant Backpressure Per Request         |
+-----------------------------+-----------------------------+
                              | Millisecond Pacing
+-----------------------------v-----------------------------+
|                     Execution Layer                       |
|      Decoupled Workers Fetching Text from Wikipedia       |
+-----------------------------------------------------------+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Pillar 1: Thread Lifecycle Control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marL="0" lvl="0" indent="0">
              <a:buNone/>
            </a:pPr>
            <a:r>
              <a:rPr lang="en-US" sz="1500">
                <a:solidFill>
                  <a:schemeClr val="tx2"/>
                </a:solidFill>
              </a:rPr>
              <a:t>To adjust scale smoothly without resource leaks, we use atomic Compare-and-Swap operations. Workers are assigned an immutable ID. If the target pool size shrinks below their ID, they drop out naturally.</a:t>
            </a:r>
          </a:p>
          <a:p>
            <a:pPr marL="0" lvl="0" indent="0">
              <a:buNone/>
            </a:pPr>
            <a:r>
              <a:rPr lang="en-US" sz="1500">
                <a:solidFill>
                  <a:schemeClr val="tx2"/>
                </a:solidFill>
              </a:rPr>
              <a:t>No negative counts, no orphaned threads, and zero mutex contention during structural shifts.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Control Plane Deployment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lvl="0" indent="0">
              <a:lnSpc>
                <a:spcPct val="90000"/>
              </a:lnSpc>
              <a:buNone/>
            </a:pPr>
            <a:r>
              <a:rPr lang="en-US" sz="700">
                <a:solidFill>
                  <a:schemeClr val="tx2"/>
                </a:solidFill>
                <a:latin typeface="Courier"/>
              </a:rPr>
              <a:t>// Inside our adjustWorkers loop
if current &lt; target {
    if atomic.CompareAndSwapInt32(&amp;activeWorkers, current, current+1) {
        id := atomic.AddInt32(&amp;workerIDSequence, 1) - 1
        go func(myID int32) {
            for {
                if myID &gt;= atomic.LoadInt32(&amp;activeWorkers) { return }
                // Process batch...
            }
        }(id)
    }
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Pillar 2: The PID Backpressure Reflex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The Proportional-Integral-Derivative (PID) controller is modeled after mechanical governors. - It samples the actual HTTP latency of the last request. - Compares it against the genome’s current </a:t>
            </a:r>
            <a:r>
              <a:rPr lang="en-US" sz="1500">
                <a:solidFill>
                  <a:schemeClr val="tx2"/>
                </a:solidFill>
                <a:latin typeface="Courier"/>
              </a:rPr>
              <a:t>TargetLatency</a:t>
            </a:r>
            <a:r>
              <a:rPr lang="en-US" sz="1500">
                <a:solidFill>
                  <a:schemeClr val="tx2"/>
                </a:solidFill>
              </a:rPr>
              <a:t>. - Instantly injects a microscopic sleep penalty if the server slows down.</a:t>
            </a:r>
          </a:p>
          <a:p>
            <a:pPr marL="0" lvl="0" indent="0">
              <a:lnSpc>
                <a:spcPct val="9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This prevents the crawler from overwhelming the server before the next evaluation generation arrives.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Pillar 3: Elitist Genetic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marL="0" lvl="0" indent="0">
              <a:buNone/>
            </a:pPr>
            <a:r>
              <a:rPr lang="en-US" sz="1500">
                <a:solidFill>
                  <a:schemeClr val="tx2"/>
                </a:solidFill>
              </a:rPr>
              <a:t>Every 5 seconds, the system reviews its performance via an evaluation window:</a:t>
            </a:r>
          </a:p>
          <a:p>
            <a:pPr marL="0" lvl="0" indent="0">
              <a:buNone/>
            </a:pPr>
            <a:r>
              <a:rPr lang="en-US" sz="1500">
                <a:solidFill>
                  <a:schemeClr val="tx2"/>
                </a:solidFill>
              </a:rPr>
              <a:t>If a configuration yields exceptional throughput without triggering network failures, it is crowned the </a:t>
            </a:r>
            <a:r>
              <a:rPr lang="en-US" sz="1500" b="1">
                <a:solidFill>
                  <a:schemeClr val="tx2"/>
                </a:solidFill>
              </a:rPr>
              <a:t>Elite Strategy</a:t>
            </a:r>
            <a:r>
              <a:rPr lang="en-US" sz="1500">
                <a:solidFill>
                  <a:schemeClr val="tx2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Handling Environmental Disruption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1100">
                <a:solidFill>
                  <a:schemeClr val="tx2"/>
                </a:solidFill>
              </a:rPr>
              <a:t>The system does not rely entirely on random mutation. It implements hard deterministic survival overrides:</a:t>
            </a:r>
          </a:p>
          <a:p>
            <a:pPr lvl="0">
              <a:lnSpc>
                <a:spcPct val="90000"/>
              </a:lnSpc>
            </a:pPr>
            <a:r>
              <a:rPr lang="en-US" sz="1100" b="1">
                <a:solidFill>
                  <a:schemeClr val="tx2"/>
                </a:solidFill>
              </a:rPr>
              <a:t>Panic / Scale to Zero:</a:t>
            </a:r>
            <a:r>
              <a:rPr lang="en-US" sz="1100">
                <a:solidFill>
                  <a:schemeClr val="tx2"/>
                </a:solidFill>
              </a:rPr>
              <a:t> If failures climb past 50%, the pool instantly collapses to 1 worker fetching at a highly restricted delay.</a:t>
            </a:r>
          </a:p>
          <a:p>
            <a:pPr lvl="0">
              <a:lnSpc>
                <a:spcPct val="90000"/>
              </a:lnSpc>
            </a:pPr>
            <a:r>
              <a:rPr lang="en-US" sz="1100" b="1">
                <a:solidFill>
                  <a:schemeClr val="tx2"/>
                </a:solidFill>
              </a:rPr>
              <a:t>Starvation Protection:</a:t>
            </a:r>
            <a:r>
              <a:rPr lang="en-US" sz="1100">
                <a:solidFill>
                  <a:schemeClr val="tx2"/>
                </a:solidFill>
              </a:rPr>
              <a:t> If requests drop to 0, it expands the pool out of a freeze safely without ruining the genetic lineage coefficients.</a:t>
            </a:r>
          </a:p>
          <a:p>
            <a:pPr lvl="0">
              <a:lnSpc>
                <a:spcPct val="90000"/>
              </a:lnSpc>
            </a:pPr>
            <a:r>
              <a:rPr lang="en-US" sz="1100" b="1">
                <a:solidFill>
                  <a:schemeClr val="tx2"/>
                </a:solidFill>
              </a:rPr>
              <a:t>Recovery Mode:</a:t>
            </a:r>
            <a:r>
              <a:rPr lang="en-US" sz="1100">
                <a:solidFill>
                  <a:schemeClr val="tx2"/>
                </a:solidFill>
              </a:rPr>
              <a:t> Once stable, it uses the Elite configuration blueprint to step back up one worker at a time until normal operations resume.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>
                <a:solidFill>
                  <a:schemeClr val="tx2"/>
                </a:solidFill>
              </a:rPr>
              <a:t>The Telemetry Observability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marL="0" lvl="0" indent="0">
              <a:buNone/>
            </a:pPr>
            <a:r>
              <a:rPr lang="en-US" sz="1400">
                <a:solidFill>
                  <a:schemeClr val="tx2"/>
                </a:solidFill>
              </a:rPr>
              <a:t>To watch the engine track equilibrium, we bound our atomic metrics plane to a thread-safe UI loop.</a:t>
            </a:r>
          </a:p>
          <a:p>
            <a:pPr lvl="0"/>
            <a:r>
              <a:rPr lang="en-US" sz="1400">
                <a:solidFill>
                  <a:schemeClr val="tx2"/>
                </a:solidFill>
              </a:rPr>
              <a:t>Updates every 200ms using lockless reads.</a:t>
            </a:r>
          </a:p>
          <a:p>
            <a:pPr lvl="0"/>
            <a:r>
              <a:rPr lang="en-US" sz="1400">
                <a:solidFill>
                  <a:schemeClr val="tx2"/>
                </a:solidFill>
              </a:rPr>
              <a:t>Visualizes active worker pools, target latencies, and system states.</a:t>
            </a:r>
          </a:p>
          <a:p>
            <a:pPr lvl="0"/>
            <a:r>
              <a:rPr lang="en-US" sz="1400">
                <a:solidFill>
                  <a:schemeClr val="tx2"/>
                </a:solidFill>
              </a:rPr>
              <a:t>Shows the audience the exact moment the engine stabilizes against Wikipedia’s protective defenses.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BC99CB9-DDAD-44A2-8A1C-E3AF4E72D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61AEE4-4E38-4BAC-976D-E0DE523FC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BC676B-D19A-44DB-910A-0C0E6D433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8323" y="2988"/>
            <a:ext cx="7329573" cy="51435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99AA485-A13F-4455-814E-C116AD7E0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C90D55F-0AFB-45E5-8815-A4701774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476B6C1-4A41-48E6-8540-FC48FCD76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47F445-D2CA-4FEB-AB8E-7A47AB57C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2F1B3D8-301E-4A54-9284-EB14E9056B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E4B9C67-860A-4569-AC84-3ADE433D1C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175B763-A6E6-4AD1-9138-9B1164A7A8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75099" y="743445"/>
            <a:ext cx="4316022" cy="1378012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2700" dirty="0">
                <a:solidFill>
                  <a:schemeClr val="tx2"/>
                </a:solidFill>
              </a:rP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1965" y="2234502"/>
            <a:ext cx="4282291" cy="1823148"/>
          </a:xfrm>
        </p:spPr>
        <p:txBody>
          <a:bodyPr anchor="t">
            <a:normAutofit/>
          </a:bodyPr>
          <a:lstStyle/>
          <a:p>
            <a:pPr lvl="0">
              <a:lnSpc>
                <a:spcPct val="90000"/>
              </a:lnSpc>
            </a:pPr>
            <a:r>
              <a:rPr lang="en-US" sz="1300" b="1" dirty="0">
                <a:solidFill>
                  <a:schemeClr val="tx2"/>
                </a:solidFill>
              </a:rPr>
              <a:t>Combine Mechanisms:</a:t>
            </a:r>
            <a:r>
              <a:rPr lang="en-US" sz="1300" dirty="0">
                <a:solidFill>
                  <a:schemeClr val="tx2"/>
                </a:solidFill>
              </a:rPr>
              <a:t> Use deterministic controls for emergencies, but heuristic mutations for peace times.</a:t>
            </a:r>
          </a:p>
          <a:p>
            <a:pPr lvl="0">
              <a:lnSpc>
                <a:spcPct val="90000"/>
              </a:lnSpc>
            </a:pPr>
            <a:r>
              <a:rPr lang="en-US" sz="1300" b="1" dirty="0">
                <a:solidFill>
                  <a:schemeClr val="tx2"/>
                </a:solidFill>
              </a:rPr>
              <a:t>Decouple Tracking:</a:t>
            </a:r>
            <a:r>
              <a:rPr lang="en-US" sz="1300" dirty="0">
                <a:solidFill>
                  <a:schemeClr val="tx2"/>
                </a:solidFill>
              </a:rPr>
              <a:t> Keep queue replenishment separate from worker routines to avoid lock contention.</a:t>
            </a:r>
          </a:p>
          <a:p>
            <a:pPr lvl="0">
              <a:lnSpc>
                <a:spcPct val="90000"/>
              </a:lnSpc>
            </a:pPr>
            <a:r>
              <a:rPr lang="en-US" sz="1300" b="1" dirty="0">
                <a:solidFill>
                  <a:schemeClr val="tx2"/>
                </a:solidFill>
              </a:rPr>
              <a:t>Isolate State:</a:t>
            </a:r>
            <a:r>
              <a:rPr lang="en-US" sz="1300" dirty="0">
                <a:solidFill>
                  <a:schemeClr val="tx2"/>
                </a:solidFill>
              </a:rPr>
              <a:t> Use lockless atomic variables for your core data planes to ensure metrics collection never slows down execution.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1021</Words>
  <Application>Microsoft Office PowerPoint</Application>
  <PresentationFormat>On-screen Show (16:9)</PresentationFormat>
  <Paragraphs>59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Courier</vt:lpstr>
      <vt:lpstr>Office Theme</vt:lpstr>
      <vt:lpstr>A Self-Optimizing Workerpool in Go</vt:lpstr>
      <vt:lpstr>PowerPoint Presentation</vt:lpstr>
      <vt:lpstr>Introduction to Genetic Algorithms</vt:lpstr>
      <vt:lpstr>The Example Problem</vt:lpstr>
      <vt:lpstr>The Problem with Static Tuning</vt:lpstr>
      <vt:lpstr>Transitioning Genetic Algorithms to Real-Time Control Theory</vt:lpstr>
      <vt:lpstr>Understanding PID Controllers</vt:lpstr>
      <vt:lpstr>The Three Pillars of Autonomic Control</vt:lpstr>
      <vt:lpstr>System Topology Architecture</vt:lpstr>
      <vt:lpstr>Pillar 1: Thread Lifecycle Control Plane</vt:lpstr>
      <vt:lpstr>Control Plane Deployment Strategy</vt:lpstr>
      <vt:lpstr>Pillar 2: The PID Backpressure Reflex</vt:lpstr>
      <vt:lpstr>Pillar 3: Elitist Genetic Algorithm</vt:lpstr>
      <vt:lpstr>Handling Environmental Disruption</vt:lpstr>
      <vt:lpstr>The Telemetry Observability Dashboard</vt:lpstr>
      <vt:lpstr>Key Takeaways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Casey Manus</cp:lastModifiedBy>
  <cp:revision>5</cp:revision>
  <dcterms:created xsi:type="dcterms:W3CDTF">2026-07-21T14:08:50Z</dcterms:created>
  <dcterms:modified xsi:type="dcterms:W3CDTF">2026-07-21T15:53:12Z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c76c141-ac86-40e5-abf2-c6f60e474cee_Enabled">
    <vt:lpwstr>true</vt:lpwstr>
  </property>
  <property fmtid="{D5CDD505-2E9C-101B-9397-08002B2CF9AE}" pid="3" name="MSIP_Label_2c76c141-ac86-40e5-abf2-c6f60e474cee_SetDate">
    <vt:lpwstr>2026-07-21T14:11:45Z</vt:lpwstr>
  </property>
  <property fmtid="{D5CDD505-2E9C-101B-9397-08002B2CF9AE}" pid="4" name="MSIP_Label_2c76c141-ac86-40e5-abf2-c6f60e474cee_Method">
    <vt:lpwstr>Standard</vt:lpwstr>
  </property>
  <property fmtid="{D5CDD505-2E9C-101B-9397-08002B2CF9AE}" pid="5" name="MSIP_Label_2c76c141-ac86-40e5-abf2-c6f60e474cee_Name">
    <vt:lpwstr>2c76c141-ac86-40e5-abf2-c6f60e474cee</vt:lpwstr>
  </property>
  <property fmtid="{D5CDD505-2E9C-101B-9397-08002B2CF9AE}" pid="6" name="MSIP_Label_2c76c141-ac86-40e5-abf2-c6f60e474cee_SiteId">
    <vt:lpwstr>fcb2b37b-5da0-466b-9b83-0014b67a7c78</vt:lpwstr>
  </property>
  <property fmtid="{D5CDD505-2E9C-101B-9397-08002B2CF9AE}" pid="7" name="MSIP_Label_2c76c141-ac86-40e5-abf2-c6f60e474cee_ActionId">
    <vt:lpwstr>832c6cdc-7921-45b7-9351-3c2217aa3783</vt:lpwstr>
  </property>
  <property fmtid="{D5CDD505-2E9C-101B-9397-08002B2CF9AE}" pid="8" name="MSIP_Label_2c76c141-ac86-40e5-abf2-c6f60e474cee_ContentBits">
    <vt:lpwstr>2</vt:lpwstr>
  </property>
  <property fmtid="{D5CDD505-2E9C-101B-9397-08002B2CF9AE}" pid="9" name="MSIP_Label_2c76c141-ac86-40e5-abf2-c6f60e474cee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RESTRICTED</vt:lpwstr>
  </property>
</Properties>
</file>